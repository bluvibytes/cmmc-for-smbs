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527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640080" y="640080"/>
            <a:ext cx="6858000" cy="320040"/>
          </a:xfrm>
          <a:prstGeom prst="rect">
            <a:avLst/>
          </a:prstGeom>
          <a:noFill/>
          <a:ln/>
        </p:spPr>
        <p:txBody>
          <a:bodyPr wrap="square" lIns="0" tIns="0" rIns="0" bIns="0" rtlCol="0" anchor="ctr"/>
          <a:lstStyle/>
          <a:p>
            <a:pPr marL="0" indent="0">
              <a:buNone/>
            </a:pPr>
            <a:r>
              <a:rPr lang="en-US" sz="1100" b="1" kern="0" spc="600" dirty="0">
                <a:solidFill>
                  <a:srgbClr val="8844DD"/>
                </a:solidFill>
                <a:latin typeface="Calibri" pitchFamily="34" charset="0"/>
                <a:ea typeface="Calibri" pitchFamily="34" charset="-122"/>
                <a:cs typeface="Calibri" pitchFamily="34" charset="-120"/>
              </a:rPr>
              <a:t>CMMC COMPLIANCE  ·  EDUCATIONAL BUYER'S GUIDE</a:t>
            </a:r>
            <a:endParaRPr lang="en-US" sz="1100" dirty="0"/>
          </a:p>
        </p:txBody>
      </p:sp>
      <p:sp>
        <p:nvSpPr>
          <p:cNvPr id="3" name="Text 1"/>
          <p:cNvSpPr/>
          <p:nvPr/>
        </p:nvSpPr>
        <p:spPr>
          <a:xfrm>
            <a:off x="640080" y="1051560"/>
            <a:ext cx="6858000" cy="12344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CMMC for U.S. Defense Contractors</a:t>
            </a:r>
            <a:endParaRPr lang="en-US" sz="3200" dirty="0"/>
          </a:p>
        </p:txBody>
      </p:sp>
      <p:sp>
        <p:nvSpPr>
          <p:cNvPr id="4" name="Text 2"/>
          <p:cNvSpPr/>
          <p:nvPr/>
        </p:nvSpPr>
        <p:spPr>
          <a:xfrm>
            <a:off x="640080" y="2331720"/>
            <a:ext cx="6858000" cy="594360"/>
          </a:xfrm>
          <a:prstGeom prst="rect">
            <a:avLst/>
          </a:prstGeom>
          <a:noFill/>
          <a:ln/>
        </p:spPr>
        <p:txBody>
          <a:bodyPr wrap="square" lIns="0" tIns="0" rIns="0" bIns="0" rtlCol="0" anchor="ctr"/>
          <a:lstStyle/>
          <a:p>
            <a:pPr marL="0" indent="0">
              <a:buNone/>
            </a:pPr>
            <a:r>
              <a:rPr lang="en-US" sz="1500" i="1" dirty="0">
                <a:solidFill>
                  <a:srgbClr val="E2E8F0"/>
                </a:solidFill>
                <a:latin typeface="Calibri" pitchFamily="34" charset="0"/>
                <a:ea typeface="Calibri" pitchFamily="34" charset="-122"/>
                <a:cs typeface="Calibri" pitchFamily="34" charset="-120"/>
              </a:rPr>
              <a:t>What's required, what it costs, and how to avoid overpaying for what you don't need.</a:t>
            </a:r>
            <a:endParaRPr lang="en-US" sz="1500" dirty="0"/>
          </a:p>
        </p:txBody>
      </p:sp>
      <p:sp>
        <p:nvSpPr>
          <p:cNvPr id="5" name="Shape 3"/>
          <p:cNvSpPr/>
          <p:nvPr/>
        </p:nvSpPr>
        <p:spPr>
          <a:xfrm>
            <a:off x="640080" y="3063240"/>
            <a:ext cx="731520" cy="73152"/>
          </a:xfrm>
          <a:prstGeom prst="rect">
            <a:avLst/>
          </a:prstGeom>
          <a:solidFill>
            <a:srgbClr val="8844DD"/>
          </a:solidFill>
          <a:ln w="12700">
            <a:solidFill>
              <a:srgbClr val="8844DD"/>
            </a:solidFill>
            <a:prstDash val="solid"/>
          </a:ln>
        </p:spPr>
        <p:txBody>
          <a:bodyPr/>
          <a:lstStyle/>
          <a:p>
            <a:endParaRPr lang="en-US"/>
          </a:p>
        </p:txBody>
      </p:sp>
      <p:sp>
        <p:nvSpPr>
          <p:cNvPr id="6" name="Text 4"/>
          <p:cNvSpPr/>
          <p:nvPr/>
        </p:nvSpPr>
        <p:spPr>
          <a:xfrm>
            <a:off x="640080" y="3291840"/>
            <a:ext cx="6858000" cy="27432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Built for the 5- to 200-person defense contractor.</a:t>
            </a:r>
            <a:endParaRPr lang="en-US" sz="1250" dirty="0"/>
          </a:p>
        </p:txBody>
      </p:sp>
      <p:sp>
        <p:nvSpPr>
          <p:cNvPr id="7" name="Text 5"/>
          <p:cNvSpPr/>
          <p:nvPr/>
        </p:nvSpPr>
        <p:spPr>
          <a:xfrm>
            <a:off x="640080" y="3566160"/>
            <a:ext cx="6858000" cy="27432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Vendor-neutral. No pricing for any specific provider.</a:t>
            </a:r>
            <a:endParaRPr lang="en-US" sz="1250" dirty="0"/>
          </a:p>
        </p:txBody>
      </p:sp>
      <p:sp>
        <p:nvSpPr>
          <p:cNvPr id="8" name="Text 6"/>
          <p:cNvSpPr/>
          <p:nvPr/>
        </p:nvSpPr>
        <p:spPr>
          <a:xfrm>
            <a:off x="640080" y="3840480"/>
            <a:ext cx="6858000" cy="274320"/>
          </a:xfrm>
          <a:prstGeom prst="rect">
            <a:avLst/>
          </a:prstGeom>
          <a:noFill/>
          <a:ln/>
        </p:spPr>
        <p:txBody>
          <a:bodyPr wrap="square" lIns="0" tIns="0" rIns="0" bIns="0" rtlCol="0" anchor="ctr"/>
          <a:lstStyle/>
          <a:p>
            <a:pPr marL="0" indent="0">
              <a:buNone/>
            </a:pPr>
            <a:r>
              <a:rPr lang="en-US" sz="1250" dirty="0">
                <a:solidFill>
                  <a:srgbClr val="E2E8F0"/>
                </a:solidFill>
                <a:latin typeface="Calibri" pitchFamily="34" charset="0"/>
                <a:ea typeface="Calibri" pitchFamily="34" charset="-122"/>
                <a:cs typeface="Calibri" pitchFamily="34" charset="-120"/>
              </a:rPr>
              <a:t>Designed to help you ask better questions of every consultant who quotes you.</a:t>
            </a:r>
            <a:endParaRPr lang="en-US" sz="1250" dirty="0"/>
          </a:p>
        </p:txBody>
      </p:sp>
      <p:sp>
        <p:nvSpPr>
          <p:cNvPr id="9" name="Text 7"/>
          <p:cNvSpPr/>
          <p:nvPr/>
        </p:nvSpPr>
        <p:spPr>
          <a:xfrm>
            <a:off x="640080" y="4297680"/>
            <a:ext cx="3657600" cy="27432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May 2026</a:t>
            </a:r>
            <a:endParaRPr lang="en-US" sz="1150" dirty="0"/>
          </a:p>
        </p:txBody>
      </p:sp>
      <p:sp>
        <p:nvSpPr>
          <p:cNvPr id="10" name="Shape 8"/>
          <p:cNvSpPr/>
          <p:nvPr/>
        </p:nvSpPr>
        <p:spPr>
          <a:xfrm>
            <a:off x="7680960" y="640080"/>
            <a:ext cx="3931920" cy="5486400"/>
          </a:xfrm>
          <a:prstGeom prst="rect">
            <a:avLst/>
          </a:prstGeom>
          <a:solidFill>
            <a:srgbClr val="131A35"/>
          </a:solidFill>
          <a:ln w="9525">
            <a:solidFill>
              <a:srgbClr val="1E2D5A"/>
            </a:solidFill>
            <a:prstDash val="solid"/>
          </a:ln>
        </p:spPr>
        <p:txBody>
          <a:bodyPr/>
          <a:lstStyle/>
          <a:p>
            <a:endParaRPr lang="en-US"/>
          </a:p>
        </p:txBody>
      </p:sp>
      <p:sp>
        <p:nvSpPr>
          <p:cNvPr id="11" name="Text 9"/>
          <p:cNvSpPr/>
          <p:nvPr/>
        </p:nvSpPr>
        <p:spPr>
          <a:xfrm>
            <a:off x="7863840" y="822960"/>
            <a:ext cx="3657600" cy="274320"/>
          </a:xfrm>
          <a:prstGeom prst="rect">
            <a:avLst/>
          </a:prstGeom>
          <a:noFill/>
          <a:ln/>
        </p:spPr>
        <p:txBody>
          <a:bodyPr wrap="square" lIns="0" tIns="0" rIns="0" bIns="0"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WHAT'S IN THIS DECK</a:t>
            </a:r>
            <a:endParaRPr lang="en-US" sz="1100" dirty="0"/>
          </a:p>
        </p:txBody>
      </p:sp>
      <p:sp>
        <p:nvSpPr>
          <p:cNvPr id="12" name="Text 10"/>
          <p:cNvSpPr/>
          <p:nvPr/>
        </p:nvSpPr>
        <p:spPr>
          <a:xfrm>
            <a:off x="7863840" y="1188720"/>
            <a:ext cx="3657600" cy="480060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What CUI actually is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What L1 and L2 require</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Your existing DFARS obligation</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How SPRS scoring works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Why ATO ≠ CMMC</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Scoping &amp; asset categories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Enclave decision (incl. managed CSPs)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The right order to buy in</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Shared responsibility traps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Being the sub vs. the prime</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POA&amp;M &amp; the 180-day clock</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Honest industry cost ranges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Red flags in consultant quotes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Questions to ask a C3PAO</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Free &amp; low-cost resources</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The Nov 2025 → 2028 rollout</a:t>
            </a:r>
            <a:endParaRPr lang="en-US" sz="1050" dirty="0"/>
          </a:p>
          <a:p>
            <a:pPr marL="342900" indent="-342900">
              <a:spcAft>
                <a:spcPts val="200"/>
              </a:spcAft>
              <a:buSzPct val="100000"/>
              <a:buChar char="■"/>
            </a:pPr>
            <a:r>
              <a:rPr lang="en-US" sz="1050" dirty="0">
                <a:solidFill>
                  <a:srgbClr val="E2E8F0"/>
                </a:solidFill>
                <a:latin typeface="Calibri" pitchFamily="34" charset="0"/>
                <a:ea typeface="Calibri" pitchFamily="34" charset="-122"/>
                <a:cs typeface="Calibri" pitchFamily="34" charset="-120"/>
              </a:rPr>
              <a:t>Your first 90 days</a:t>
            </a:r>
            <a:endParaRPr lang="en-US" sz="1050" dirty="0"/>
          </a:p>
        </p:txBody>
      </p:sp>
      <p:sp>
        <p:nvSpPr>
          <p:cNvPr id="13" name="Shape 11"/>
          <p:cNvSpPr/>
          <p:nvPr/>
        </p:nvSpPr>
        <p:spPr>
          <a:xfrm>
            <a:off x="640080" y="5760720"/>
            <a:ext cx="5486400" cy="0"/>
          </a:xfrm>
          <a:prstGeom prst="line">
            <a:avLst/>
          </a:prstGeom>
          <a:noFill/>
          <a:ln w="12700">
            <a:solidFill>
              <a:srgbClr val="2233AA"/>
            </a:solidFill>
            <a:prstDash val="solid"/>
          </a:ln>
        </p:spPr>
        <p:txBody>
          <a:bodyPr/>
          <a:lstStyle/>
          <a:p>
            <a:endParaRPr lang="en-US"/>
          </a:p>
        </p:txBody>
      </p:sp>
      <p:sp>
        <p:nvSpPr>
          <p:cNvPr id="14" name="Text 12"/>
          <p:cNvSpPr/>
          <p:nvPr/>
        </p:nvSpPr>
        <p:spPr>
          <a:xfrm>
            <a:off x="640080" y="5897880"/>
            <a:ext cx="68580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Prepared by Sherri Babylon  ·  Fractional CISO  ·  BluVi LLC</a:t>
            </a:r>
            <a:endParaRPr lang="en-US" sz="1100" dirty="0"/>
          </a:p>
        </p:txBody>
      </p:sp>
      <p:sp>
        <p:nvSpPr>
          <p:cNvPr id="15" name="Text 13"/>
          <p:cNvSpPr/>
          <p:nvPr/>
        </p:nvSpPr>
        <p:spPr>
          <a:xfrm>
            <a:off x="640080" y="6144768"/>
            <a:ext cx="6858000" cy="256032"/>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CISSP  ·  CISM  ·  MBA  ·  PMP  ·  bluvi.ai</a:t>
            </a:r>
            <a:endParaRPr lang="en-US" sz="1050" dirty="0"/>
          </a:p>
        </p:txBody>
      </p:sp>
      <p:sp>
        <p:nvSpPr>
          <p:cNvPr id="16" name="Shape 14"/>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17" name="Text 15"/>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18" name="Text 16"/>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 / 23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CUI, Actually?</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Most contractors don't know whether they handle CUI. Before any CMMC conversation, answer this first.</a:t>
            </a:r>
            <a:endParaRPr lang="en-US" sz="1300" dirty="0"/>
          </a:p>
        </p:txBody>
      </p:sp>
      <p:sp>
        <p:nvSpPr>
          <p:cNvPr id="5" name="Shape 3"/>
          <p:cNvSpPr/>
          <p:nvPr/>
        </p:nvSpPr>
        <p:spPr>
          <a:xfrm>
            <a:off x="457200" y="1554480"/>
            <a:ext cx="11277295" cy="10058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73152" cy="1005840"/>
          </a:xfrm>
          <a:prstGeom prst="rect">
            <a:avLst/>
          </a:prstGeom>
          <a:solidFill>
            <a:srgbClr val="8844DD"/>
          </a:solidFill>
          <a:ln w="12700">
            <a:solidFill>
              <a:srgbClr val="8844DD"/>
            </a:solidFill>
            <a:prstDash val="solid"/>
          </a:ln>
        </p:spPr>
        <p:txBody>
          <a:bodyPr/>
          <a:lstStyle/>
          <a:p>
            <a:endParaRPr lang="en-US"/>
          </a:p>
        </p:txBody>
      </p:sp>
      <p:sp>
        <p:nvSpPr>
          <p:cNvPr id="7" name="Text 5"/>
          <p:cNvSpPr/>
          <p:nvPr/>
        </p:nvSpPr>
        <p:spPr>
          <a:xfrm>
            <a:off x="640080" y="1645920"/>
            <a:ext cx="9144000" cy="274320"/>
          </a:xfrm>
          <a:prstGeom prst="rect">
            <a:avLst/>
          </a:prstGeom>
          <a:noFill/>
          <a:ln/>
        </p:spPr>
        <p:txBody>
          <a:bodyPr wrap="square" lIns="0" tIns="0" rIns="0" bIns="0" rtlCol="0" anchor="ctr"/>
          <a:lstStyle/>
          <a:p>
            <a:pPr marL="0" indent="0">
              <a:buNone/>
            </a:pPr>
            <a:r>
              <a:rPr lang="en-US" sz="1000" b="1" kern="0" spc="300" dirty="0">
                <a:solidFill>
                  <a:srgbClr val="F59E0B"/>
                </a:solidFill>
                <a:latin typeface="Calibri" pitchFamily="34" charset="0"/>
                <a:ea typeface="Calibri" pitchFamily="34" charset="-122"/>
                <a:cs typeface="Calibri" pitchFamily="34" charset="-120"/>
              </a:rPr>
              <a:t>CONTROLLED UNCLASSIFIED INFORMATION</a:t>
            </a:r>
            <a:endParaRPr lang="en-US" sz="1000" dirty="0"/>
          </a:p>
        </p:txBody>
      </p:sp>
      <p:sp>
        <p:nvSpPr>
          <p:cNvPr id="8" name="Text 6"/>
          <p:cNvSpPr/>
          <p:nvPr/>
        </p:nvSpPr>
        <p:spPr>
          <a:xfrm>
            <a:off x="640080" y="1920240"/>
            <a:ext cx="10911535" cy="5943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Government-created or government-owned information that requires safeguarding, but is not classified. </a:t>
            </a:r>
            <a:r>
              <a:rPr lang="en-US" sz="1100" dirty="0">
                <a:solidFill>
                  <a:srgbClr val="E2E8F0"/>
                </a:solidFill>
                <a:latin typeface="Calibri" pitchFamily="34" charset="0"/>
                <a:ea typeface="Calibri" pitchFamily="34" charset="-122"/>
                <a:cs typeface="Calibri" pitchFamily="34" charset="-120"/>
              </a:rPr>
              <a:t>Defined by Executive Order 13556 and managed by the NARA CUI Registry. Currently 125+ categories across 20 organizational groupings (Defense, Export Control, Critical Infrastructure, Intelligence, Privacy, Financial, and more). On DoD contracts, CUI may be marked with the legacy markings FOUO, CTI, or current CUI Basic / CUI Specified banner markings.</a:t>
            </a:r>
            <a:endParaRPr lang="en-US" sz="1100" dirty="0"/>
          </a:p>
        </p:txBody>
      </p:sp>
      <p:sp>
        <p:nvSpPr>
          <p:cNvPr id="9" name="Shape 7"/>
          <p:cNvSpPr/>
          <p:nvPr/>
        </p:nvSpPr>
        <p:spPr>
          <a:xfrm>
            <a:off x="457200" y="2743200"/>
            <a:ext cx="5440680" cy="3200400"/>
          </a:xfrm>
          <a:prstGeom prst="rect">
            <a:avLst/>
          </a:prstGeom>
          <a:solidFill>
            <a:srgbClr val="131A35"/>
          </a:solidFill>
          <a:ln w="9525">
            <a:solidFill>
              <a:srgbClr val="1E2D5A"/>
            </a:solidFill>
            <a:prstDash val="solid"/>
          </a:ln>
        </p:spPr>
        <p:txBody>
          <a:bodyPr/>
          <a:lstStyle/>
          <a:p>
            <a:endParaRPr lang="en-US"/>
          </a:p>
        </p:txBody>
      </p:sp>
      <p:sp>
        <p:nvSpPr>
          <p:cNvPr id="10" name="Shape 8"/>
          <p:cNvSpPr/>
          <p:nvPr/>
        </p:nvSpPr>
        <p:spPr>
          <a:xfrm>
            <a:off x="640080" y="2926080"/>
            <a:ext cx="2578608" cy="256032"/>
          </a:xfrm>
          <a:prstGeom prst="rect">
            <a:avLst/>
          </a:prstGeom>
          <a:solidFill>
            <a:srgbClr val="1E2D5A"/>
          </a:solidFill>
          <a:ln w="9525">
            <a:solidFill>
              <a:srgbClr val="60A3F1"/>
            </a:solidFill>
            <a:prstDash val="solid"/>
          </a:ln>
        </p:spPr>
        <p:txBody>
          <a:bodyPr/>
          <a:lstStyle/>
          <a:p>
            <a:endParaRPr lang="en-US"/>
          </a:p>
        </p:txBody>
      </p:sp>
      <p:sp>
        <p:nvSpPr>
          <p:cNvPr id="11" name="Text 9"/>
          <p:cNvSpPr/>
          <p:nvPr/>
        </p:nvSpPr>
        <p:spPr>
          <a:xfrm>
            <a:off x="640080" y="2926080"/>
            <a:ext cx="2578608" cy="256032"/>
          </a:xfrm>
          <a:prstGeom prst="rect">
            <a:avLst/>
          </a:prstGeom>
          <a:noFill/>
          <a:ln/>
        </p:spPr>
        <p:txBody>
          <a:bodyPr wrap="square" lIns="0" tIns="0" rIns="0" bIns="0" rtlCol="0" anchor="ctr"/>
          <a:lstStyle/>
          <a:p>
            <a:pPr marL="0" indent="0" algn="ctr">
              <a:buNone/>
            </a:pPr>
            <a:r>
              <a:rPr lang="en-US" sz="900" b="1" kern="0" spc="200" dirty="0">
                <a:solidFill>
                  <a:srgbClr val="60A3F1"/>
                </a:solidFill>
                <a:latin typeface="Calibri" pitchFamily="34" charset="0"/>
                <a:ea typeface="Calibri" pitchFamily="34" charset="-122"/>
                <a:cs typeface="Calibri" pitchFamily="34" charset="-120"/>
              </a:rPr>
              <a:t>HOW TO TELL IF YOU HAVE IT</a:t>
            </a:r>
            <a:endParaRPr lang="en-US" sz="900" dirty="0"/>
          </a:p>
        </p:txBody>
      </p:sp>
      <p:sp>
        <p:nvSpPr>
          <p:cNvPr id="12" name="Text 10"/>
          <p:cNvSpPr/>
          <p:nvPr/>
        </p:nvSpPr>
        <p:spPr>
          <a:xfrm>
            <a:off x="685800" y="3337560"/>
            <a:ext cx="4983480" cy="2468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Check your contract first. </a:t>
            </a:r>
            <a:r>
              <a:rPr lang="en-US" sz="1050" dirty="0">
                <a:solidFill>
                  <a:srgbClr val="E2E8F0"/>
                </a:solidFill>
                <a:latin typeface="Calibri" pitchFamily="34" charset="0"/>
                <a:ea typeface="Calibri" pitchFamily="34" charset="-122"/>
                <a:cs typeface="Calibri" pitchFamily="34" charset="-120"/>
              </a:rPr>
              <a:t>Look for DFARS 252.204-7012 in the clauses list. If 7012 is there, your contract anticipates CUI.</a:t>
            </a:r>
            <a:endParaRPr lang="en-US" sz="10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Look at the data you receive. </a:t>
            </a:r>
            <a:r>
              <a:rPr lang="en-US" sz="1050" dirty="0">
                <a:solidFill>
                  <a:srgbClr val="E2E8F0"/>
                </a:solidFill>
                <a:latin typeface="Calibri" pitchFamily="34" charset="0"/>
                <a:ea typeface="Calibri" pitchFamily="34" charset="-122"/>
                <a:cs typeface="Calibri" pitchFamily="34" charset="-120"/>
              </a:rPr>
              <a:t>Drawings, technical packages, source code, firmware, performance specs, test results, classified-adjacent operational details. These are almost always CUI even when unmarked.</a:t>
            </a:r>
            <a:endParaRPr lang="en-US" sz="105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050" dirty="0"/>
          </a:p>
          <a:p>
            <a:pPr marL="0" indent="0">
              <a:buNone/>
            </a:pPr>
            <a:r>
              <a:rPr lang="en-US" sz="1050" b="1" dirty="0">
                <a:solidFill>
                  <a:srgbClr val="FFFFFF"/>
                </a:solidFill>
                <a:latin typeface="Calibri" pitchFamily="34" charset="0"/>
                <a:ea typeface="Calibri" pitchFamily="34" charset="-122"/>
                <a:cs typeface="Calibri" pitchFamily="34" charset="-120"/>
              </a:rPr>
              <a:t>Ask your contracting officer. </a:t>
            </a:r>
            <a:r>
              <a:rPr lang="en-US" sz="1050" dirty="0">
                <a:solidFill>
                  <a:srgbClr val="E2E8F0"/>
                </a:solidFill>
                <a:latin typeface="Calibri" pitchFamily="34" charset="0"/>
                <a:ea typeface="Calibri" pitchFamily="34" charset="-122"/>
                <a:cs typeface="Calibri" pitchFamily="34" charset="-120"/>
              </a:rPr>
              <a:t>They are required to identify CUI in the contract. If markings are absent, request written guidance. Silence isn't permission to assume there's no CUI.</a:t>
            </a:r>
            <a:endParaRPr lang="en-US" sz="1050" dirty="0"/>
          </a:p>
        </p:txBody>
      </p:sp>
      <p:sp>
        <p:nvSpPr>
          <p:cNvPr id="13" name="Shape 11"/>
          <p:cNvSpPr/>
          <p:nvPr/>
        </p:nvSpPr>
        <p:spPr>
          <a:xfrm>
            <a:off x="6309360" y="2743200"/>
            <a:ext cx="5440680" cy="3200400"/>
          </a:xfrm>
          <a:prstGeom prst="rect">
            <a:avLst/>
          </a:prstGeom>
          <a:solidFill>
            <a:srgbClr val="131A35"/>
          </a:solidFill>
          <a:ln w="9525">
            <a:solidFill>
              <a:srgbClr val="1E2D5A"/>
            </a:solidFill>
            <a:prstDash val="solid"/>
          </a:ln>
        </p:spPr>
        <p:txBody>
          <a:bodyPr/>
          <a:lstStyle/>
          <a:p>
            <a:endParaRPr lang="en-US"/>
          </a:p>
        </p:txBody>
      </p:sp>
      <p:sp>
        <p:nvSpPr>
          <p:cNvPr id="14" name="Shape 12"/>
          <p:cNvSpPr/>
          <p:nvPr/>
        </p:nvSpPr>
        <p:spPr>
          <a:xfrm>
            <a:off x="6492240" y="2926080"/>
            <a:ext cx="3012948" cy="256032"/>
          </a:xfrm>
          <a:prstGeom prst="rect">
            <a:avLst/>
          </a:prstGeom>
          <a:solidFill>
            <a:srgbClr val="1E2D5A"/>
          </a:solidFill>
          <a:ln w="9525">
            <a:solidFill>
              <a:srgbClr val="F59E0B"/>
            </a:solidFill>
            <a:prstDash val="solid"/>
          </a:ln>
        </p:spPr>
        <p:txBody>
          <a:bodyPr/>
          <a:lstStyle/>
          <a:p>
            <a:endParaRPr lang="en-US"/>
          </a:p>
        </p:txBody>
      </p:sp>
      <p:sp>
        <p:nvSpPr>
          <p:cNvPr id="15" name="Text 13"/>
          <p:cNvSpPr/>
          <p:nvPr/>
        </p:nvSpPr>
        <p:spPr>
          <a:xfrm>
            <a:off x="6492240" y="2926080"/>
            <a:ext cx="3012948"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COMMON DOD CUI YOU MIGHT HANDLE</a:t>
            </a:r>
            <a:endParaRPr lang="en-US" sz="900" dirty="0"/>
          </a:p>
        </p:txBody>
      </p:sp>
      <p:sp>
        <p:nvSpPr>
          <p:cNvPr id="16" name="Text 14"/>
          <p:cNvSpPr/>
          <p:nvPr/>
        </p:nvSpPr>
        <p:spPr>
          <a:xfrm>
            <a:off x="6537960" y="3337560"/>
            <a:ext cx="155448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CTI</a:t>
            </a:r>
            <a:endParaRPr lang="en-US" sz="1000" dirty="0"/>
          </a:p>
        </p:txBody>
      </p:sp>
      <p:sp>
        <p:nvSpPr>
          <p:cNvPr id="17" name="Text 15"/>
          <p:cNvSpPr/>
          <p:nvPr/>
        </p:nvSpPr>
        <p:spPr>
          <a:xfrm>
            <a:off x="8138160" y="3337560"/>
            <a:ext cx="3383280" cy="4572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Controlled Technical Information: drawings, specs, source code, manuals, test data.</a:t>
            </a:r>
            <a:endParaRPr lang="en-US" sz="1000" dirty="0"/>
          </a:p>
        </p:txBody>
      </p:sp>
      <p:sp>
        <p:nvSpPr>
          <p:cNvPr id="18" name="Text 16"/>
          <p:cNvSpPr/>
          <p:nvPr/>
        </p:nvSpPr>
        <p:spPr>
          <a:xfrm>
            <a:off x="6537960" y="3840480"/>
            <a:ext cx="155448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ITAR / EAR</a:t>
            </a:r>
            <a:endParaRPr lang="en-US" sz="1000" dirty="0"/>
          </a:p>
        </p:txBody>
      </p:sp>
      <p:sp>
        <p:nvSpPr>
          <p:cNvPr id="19" name="Text 17"/>
          <p:cNvSpPr/>
          <p:nvPr/>
        </p:nvSpPr>
        <p:spPr>
          <a:xfrm>
            <a:off x="8138160" y="3840480"/>
            <a:ext cx="3383280" cy="4572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Export-controlled technical data on defense articles or dual-use technology.</a:t>
            </a:r>
            <a:endParaRPr lang="en-US" sz="1000" dirty="0"/>
          </a:p>
        </p:txBody>
      </p:sp>
      <p:sp>
        <p:nvSpPr>
          <p:cNvPr id="20" name="Text 18"/>
          <p:cNvSpPr/>
          <p:nvPr/>
        </p:nvSpPr>
        <p:spPr>
          <a:xfrm>
            <a:off x="6537960" y="4343400"/>
            <a:ext cx="155448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CDI / CUI//SP-PRIV</a:t>
            </a:r>
            <a:endParaRPr lang="en-US" sz="1000" dirty="0"/>
          </a:p>
        </p:txBody>
      </p:sp>
      <p:sp>
        <p:nvSpPr>
          <p:cNvPr id="21" name="Text 19"/>
          <p:cNvSpPr/>
          <p:nvPr/>
        </p:nvSpPr>
        <p:spPr>
          <a:xfrm>
            <a:off x="8138160" y="4343400"/>
            <a:ext cx="3383280" cy="4572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Covered Defense Information referenced in DFARS 7012.</a:t>
            </a:r>
            <a:endParaRPr lang="en-US" sz="1000" dirty="0"/>
          </a:p>
        </p:txBody>
      </p:sp>
      <p:sp>
        <p:nvSpPr>
          <p:cNvPr id="22" name="Text 20"/>
          <p:cNvSpPr/>
          <p:nvPr/>
        </p:nvSpPr>
        <p:spPr>
          <a:xfrm>
            <a:off x="6537960" y="4846320"/>
            <a:ext cx="155448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PII / PHI</a:t>
            </a:r>
            <a:endParaRPr lang="en-US" sz="1000" dirty="0"/>
          </a:p>
        </p:txBody>
      </p:sp>
      <p:sp>
        <p:nvSpPr>
          <p:cNvPr id="23" name="Text 21"/>
          <p:cNvSpPr/>
          <p:nvPr/>
        </p:nvSpPr>
        <p:spPr>
          <a:xfrm>
            <a:off x="8138160" y="4846320"/>
            <a:ext cx="3383280" cy="4572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On government contracts touching personnel, medical, or benefits data.</a:t>
            </a:r>
            <a:endParaRPr lang="en-US" sz="1000" dirty="0"/>
          </a:p>
        </p:txBody>
      </p:sp>
      <p:sp>
        <p:nvSpPr>
          <p:cNvPr id="24" name="Text 22"/>
          <p:cNvSpPr/>
          <p:nvPr/>
        </p:nvSpPr>
        <p:spPr>
          <a:xfrm>
            <a:off x="6537960" y="5349240"/>
            <a:ext cx="155448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DoD CUI Specified</a:t>
            </a:r>
            <a:endParaRPr lang="en-US" sz="1000" dirty="0"/>
          </a:p>
        </p:txBody>
      </p:sp>
      <p:sp>
        <p:nvSpPr>
          <p:cNvPr id="25" name="Text 23"/>
          <p:cNvSpPr/>
          <p:nvPr/>
        </p:nvSpPr>
        <p:spPr>
          <a:xfrm>
            <a:off x="8138160" y="5349240"/>
            <a:ext cx="3383280" cy="4572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Higher-handling categories with named control authorities.</a:t>
            </a:r>
            <a:endParaRPr lang="en-US" sz="1000" dirty="0"/>
          </a:p>
        </p:txBody>
      </p:sp>
      <p:sp>
        <p:nvSpPr>
          <p:cNvPr id="26" name="Shape 24"/>
          <p:cNvSpPr/>
          <p:nvPr/>
        </p:nvSpPr>
        <p:spPr>
          <a:xfrm>
            <a:off x="457200" y="5943600"/>
            <a:ext cx="11277295" cy="457200"/>
          </a:xfrm>
          <a:prstGeom prst="rect">
            <a:avLst/>
          </a:prstGeom>
          <a:solidFill>
            <a:srgbClr val="131A35"/>
          </a:solidFill>
          <a:ln w="9525">
            <a:solidFill>
              <a:srgbClr val="1E2D5A"/>
            </a:solidFill>
            <a:prstDash val="solid"/>
          </a:ln>
        </p:spPr>
        <p:txBody>
          <a:bodyPr/>
          <a:lstStyle/>
          <a:p>
            <a:endParaRPr lang="en-US"/>
          </a:p>
        </p:txBody>
      </p:sp>
      <p:sp>
        <p:nvSpPr>
          <p:cNvPr id="27" name="Shape 25"/>
          <p:cNvSpPr/>
          <p:nvPr/>
        </p:nvSpPr>
        <p:spPr>
          <a:xfrm>
            <a:off x="457200" y="5943600"/>
            <a:ext cx="73152" cy="457200"/>
          </a:xfrm>
          <a:prstGeom prst="rect">
            <a:avLst/>
          </a:prstGeom>
          <a:solidFill>
            <a:srgbClr val="EF4444"/>
          </a:solidFill>
          <a:ln w="12700">
            <a:solidFill>
              <a:srgbClr val="EF4444"/>
            </a:solidFill>
            <a:prstDash val="solid"/>
          </a:ln>
        </p:spPr>
        <p:txBody>
          <a:bodyPr/>
          <a:lstStyle/>
          <a:p>
            <a:endParaRPr lang="en-US"/>
          </a:p>
        </p:txBody>
      </p:sp>
      <p:sp>
        <p:nvSpPr>
          <p:cNvPr id="28" name="Text 26"/>
          <p:cNvSpPr/>
          <p:nvPr/>
        </p:nvSpPr>
        <p:spPr>
          <a:xfrm>
            <a:off x="685800" y="601675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HEADS UP</a:t>
            </a:r>
            <a:endParaRPr lang="en-US" sz="1000" dirty="0"/>
          </a:p>
        </p:txBody>
      </p:sp>
      <p:sp>
        <p:nvSpPr>
          <p:cNvPr id="29" name="Text 27"/>
          <p:cNvSpPr/>
          <p:nvPr/>
        </p:nvSpPr>
        <p:spPr>
          <a:xfrm>
            <a:off x="685800" y="6245352"/>
            <a:ext cx="10911535" cy="109728"/>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CUI is commonly unmarked or overmarked on real contracts. "Nobody told me" is not a defense. The contractor is responsible for identifying CUI and protecting it.</a:t>
            </a:r>
            <a:endParaRPr lang="en-US" sz="1050" dirty="0"/>
          </a:p>
        </p:txBody>
      </p:sp>
      <p:sp>
        <p:nvSpPr>
          <p:cNvPr id="30" name="Shape 28"/>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1" name="Text 2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2" name="Text 30"/>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 / 23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CMMC Level 1 Actually Requires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15 basic safeguards from FAR 52.204-21. Annual self-assessment, no third-party auditor required.</a:t>
            </a:r>
            <a:endParaRPr lang="en-US" sz="1300" dirty="0"/>
          </a:p>
        </p:txBody>
      </p:sp>
      <p:sp>
        <p:nvSpPr>
          <p:cNvPr id="5" name="Shape 3"/>
          <p:cNvSpPr/>
          <p:nvPr/>
        </p:nvSpPr>
        <p:spPr>
          <a:xfrm>
            <a:off x="457200" y="1554480"/>
            <a:ext cx="5097780" cy="256032"/>
          </a:xfrm>
          <a:prstGeom prst="rect">
            <a:avLst/>
          </a:prstGeom>
          <a:solidFill>
            <a:srgbClr val="1E2D5A"/>
          </a:solidFill>
          <a:ln w="9525">
            <a:solidFill>
              <a:srgbClr val="F59E0B"/>
            </a:solidFill>
            <a:prstDash val="solid"/>
          </a:ln>
        </p:spPr>
        <p:txBody>
          <a:bodyPr/>
          <a:lstStyle/>
          <a:p>
            <a:endParaRPr lang="en-US"/>
          </a:p>
        </p:txBody>
      </p:sp>
      <p:sp>
        <p:nvSpPr>
          <p:cNvPr id="6" name="Text 4"/>
          <p:cNvSpPr/>
          <p:nvPr/>
        </p:nvSpPr>
        <p:spPr>
          <a:xfrm>
            <a:off x="457200" y="1554480"/>
            <a:ext cx="5097780"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THE FAR 52.204-21 SAFEGUARDS (15 PRACTICES, 6 FAMILIES)</a:t>
            </a:r>
            <a:endParaRPr lang="en-US" sz="900" dirty="0"/>
          </a:p>
        </p:txBody>
      </p:sp>
      <p:sp>
        <p:nvSpPr>
          <p:cNvPr id="7" name="Shape 5"/>
          <p:cNvSpPr/>
          <p:nvPr/>
        </p:nvSpPr>
        <p:spPr>
          <a:xfrm>
            <a:off x="457200" y="1965960"/>
            <a:ext cx="1874520" cy="502920"/>
          </a:xfrm>
          <a:prstGeom prst="rect">
            <a:avLst/>
          </a:prstGeom>
          <a:solidFill>
            <a:srgbClr val="131A35"/>
          </a:solidFill>
          <a:ln w="9525">
            <a:solidFill>
              <a:srgbClr val="1E2D5A"/>
            </a:solidFill>
            <a:prstDash val="solid"/>
          </a:ln>
        </p:spPr>
        <p:txBody>
          <a:bodyPr/>
          <a:lstStyle/>
          <a:p>
            <a:endParaRPr lang="en-US"/>
          </a:p>
        </p:txBody>
      </p:sp>
      <p:sp>
        <p:nvSpPr>
          <p:cNvPr id="8" name="Text 6"/>
          <p:cNvSpPr/>
          <p:nvPr/>
        </p:nvSpPr>
        <p:spPr>
          <a:xfrm>
            <a:off x="548640" y="196596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Access Control</a:t>
            </a:r>
            <a:endParaRPr lang="en-US" sz="1050" dirty="0"/>
          </a:p>
        </p:txBody>
      </p:sp>
      <p:sp>
        <p:nvSpPr>
          <p:cNvPr id="9" name="Shape 7"/>
          <p:cNvSpPr/>
          <p:nvPr/>
        </p:nvSpPr>
        <p:spPr>
          <a:xfrm>
            <a:off x="2423160" y="1965960"/>
            <a:ext cx="1874520" cy="502920"/>
          </a:xfrm>
          <a:prstGeom prst="rect">
            <a:avLst/>
          </a:prstGeom>
          <a:solidFill>
            <a:srgbClr val="131A35"/>
          </a:solidFill>
          <a:ln w="9525">
            <a:solidFill>
              <a:srgbClr val="1E2D5A"/>
            </a:solidFill>
            <a:prstDash val="solid"/>
          </a:ln>
        </p:spPr>
        <p:txBody>
          <a:bodyPr/>
          <a:lstStyle/>
          <a:p>
            <a:endParaRPr lang="en-US"/>
          </a:p>
        </p:txBody>
      </p:sp>
      <p:sp>
        <p:nvSpPr>
          <p:cNvPr id="10" name="Text 8"/>
          <p:cNvSpPr/>
          <p:nvPr/>
        </p:nvSpPr>
        <p:spPr>
          <a:xfrm>
            <a:off x="2514600" y="196596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Identification &amp; Authentication</a:t>
            </a:r>
            <a:endParaRPr lang="en-US" sz="1050" dirty="0"/>
          </a:p>
        </p:txBody>
      </p:sp>
      <p:sp>
        <p:nvSpPr>
          <p:cNvPr id="11" name="Shape 9"/>
          <p:cNvSpPr/>
          <p:nvPr/>
        </p:nvSpPr>
        <p:spPr>
          <a:xfrm>
            <a:off x="4389120" y="1965960"/>
            <a:ext cx="1874520" cy="502920"/>
          </a:xfrm>
          <a:prstGeom prst="rect">
            <a:avLst/>
          </a:prstGeom>
          <a:solidFill>
            <a:srgbClr val="131A35"/>
          </a:solidFill>
          <a:ln w="9525">
            <a:solidFill>
              <a:srgbClr val="1E2D5A"/>
            </a:solidFill>
            <a:prstDash val="solid"/>
          </a:ln>
        </p:spPr>
        <p:txBody>
          <a:bodyPr/>
          <a:lstStyle/>
          <a:p>
            <a:endParaRPr lang="en-US"/>
          </a:p>
        </p:txBody>
      </p:sp>
      <p:sp>
        <p:nvSpPr>
          <p:cNvPr id="12" name="Text 10"/>
          <p:cNvSpPr/>
          <p:nvPr/>
        </p:nvSpPr>
        <p:spPr>
          <a:xfrm>
            <a:off x="4480560" y="196596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Media Protection</a:t>
            </a:r>
            <a:endParaRPr lang="en-US" sz="1050" dirty="0"/>
          </a:p>
        </p:txBody>
      </p:sp>
      <p:sp>
        <p:nvSpPr>
          <p:cNvPr id="13" name="Shape 11"/>
          <p:cNvSpPr/>
          <p:nvPr/>
        </p:nvSpPr>
        <p:spPr>
          <a:xfrm>
            <a:off x="457200" y="2560320"/>
            <a:ext cx="1874520" cy="502920"/>
          </a:xfrm>
          <a:prstGeom prst="rect">
            <a:avLst/>
          </a:prstGeom>
          <a:solidFill>
            <a:srgbClr val="131A35"/>
          </a:solidFill>
          <a:ln w="9525">
            <a:solidFill>
              <a:srgbClr val="1E2D5A"/>
            </a:solidFill>
            <a:prstDash val="solid"/>
          </a:ln>
        </p:spPr>
        <p:txBody>
          <a:bodyPr/>
          <a:lstStyle/>
          <a:p>
            <a:endParaRPr lang="en-US"/>
          </a:p>
        </p:txBody>
      </p:sp>
      <p:sp>
        <p:nvSpPr>
          <p:cNvPr id="14" name="Text 12"/>
          <p:cNvSpPr/>
          <p:nvPr/>
        </p:nvSpPr>
        <p:spPr>
          <a:xfrm>
            <a:off x="548640" y="256032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Physical Protection</a:t>
            </a:r>
            <a:endParaRPr lang="en-US" sz="1050" dirty="0"/>
          </a:p>
        </p:txBody>
      </p:sp>
      <p:sp>
        <p:nvSpPr>
          <p:cNvPr id="15" name="Shape 13"/>
          <p:cNvSpPr/>
          <p:nvPr/>
        </p:nvSpPr>
        <p:spPr>
          <a:xfrm>
            <a:off x="2423160" y="2560320"/>
            <a:ext cx="1874520" cy="502920"/>
          </a:xfrm>
          <a:prstGeom prst="rect">
            <a:avLst/>
          </a:prstGeom>
          <a:solidFill>
            <a:srgbClr val="131A35"/>
          </a:solidFill>
          <a:ln w="9525">
            <a:solidFill>
              <a:srgbClr val="1E2D5A"/>
            </a:solidFill>
            <a:prstDash val="solid"/>
          </a:ln>
        </p:spPr>
        <p:txBody>
          <a:bodyPr/>
          <a:lstStyle/>
          <a:p>
            <a:endParaRPr lang="en-US"/>
          </a:p>
        </p:txBody>
      </p:sp>
      <p:sp>
        <p:nvSpPr>
          <p:cNvPr id="16" name="Text 14"/>
          <p:cNvSpPr/>
          <p:nvPr/>
        </p:nvSpPr>
        <p:spPr>
          <a:xfrm>
            <a:off x="2514600" y="256032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System &amp; Communications Protection</a:t>
            </a:r>
            <a:endParaRPr lang="en-US" sz="1050" dirty="0"/>
          </a:p>
        </p:txBody>
      </p:sp>
      <p:sp>
        <p:nvSpPr>
          <p:cNvPr id="17" name="Shape 15"/>
          <p:cNvSpPr/>
          <p:nvPr/>
        </p:nvSpPr>
        <p:spPr>
          <a:xfrm>
            <a:off x="4389120" y="2560320"/>
            <a:ext cx="1874520" cy="502920"/>
          </a:xfrm>
          <a:prstGeom prst="rect">
            <a:avLst/>
          </a:prstGeom>
          <a:solidFill>
            <a:srgbClr val="131A35"/>
          </a:solidFill>
          <a:ln w="9525">
            <a:solidFill>
              <a:srgbClr val="1E2D5A"/>
            </a:solidFill>
            <a:prstDash val="solid"/>
          </a:ln>
        </p:spPr>
        <p:txBody>
          <a:bodyPr/>
          <a:lstStyle/>
          <a:p>
            <a:endParaRPr lang="en-US"/>
          </a:p>
        </p:txBody>
      </p:sp>
      <p:sp>
        <p:nvSpPr>
          <p:cNvPr id="18" name="Text 16"/>
          <p:cNvSpPr/>
          <p:nvPr/>
        </p:nvSpPr>
        <p:spPr>
          <a:xfrm>
            <a:off x="4480560" y="2560320"/>
            <a:ext cx="1691640" cy="50292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System &amp; Information Integrity</a:t>
            </a:r>
            <a:endParaRPr lang="en-US" sz="1050" dirty="0"/>
          </a:p>
        </p:txBody>
      </p:sp>
      <p:sp>
        <p:nvSpPr>
          <p:cNvPr id="19" name="Text 17"/>
          <p:cNvSpPr/>
          <p:nvPr/>
        </p:nvSpPr>
        <p:spPr>
          <a:xfrm>
            <a:off x="457200" y="3108960"/>
            <a:ext cx="5852160" cy="45720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Basic cyber hygiene only: limit access, sanitize media, authenticate users, control boundaries, manage flaws.</a:t>
            </a:r>
            <a:endParaRPr lang="en-US" sz="1000" dirty="0"/>
          </a:p>
        </p:txBody>
      </p:sp>
      <p:sp>
        <p:nvSpPr>
          <p:cNvPr id="20" name="Text 18"/>
          <p:cNvSpPr/>
          <p:nvPr/>
        </p:nvSpPr>
        <p:spPr>
          <a:xfrm>
            <a:off x="457200" y="3657600"/>
            <a:ext cx="2011680" cy="868680"/>
          </a:xfrm>
          <a:prstGeom prst="rect">
            <a:avLst/>
          </a:prstGeom>
          <a:noFill/>
          <a:ln/>
        </p:spPr>
        <p:txBody>
          <a:bodyPr wrap="square" lIns="0" tIns="0" rIns="0" bIns="0" rtlCol="0" anchor="ctr"/>
          <a:lstStyle/>
          <a:p>
            <a:pPr marL="0" indent="0">
              <a:buNone/>
            </a:pPr>
            <a:r>
              <a:rPr lang="en-US" sz="5600" b="1" dirty="0">
                <a:solidFill>
                  <a:srgbClr val="60A3F1"/>
                </a:solidFill>
                <a:latin typeface="Calibri" pitchFamily="34" charset="0"/>
                <a:ea typeface="Calibri" pitchFamily="34" charset="-122"/>
                <a:cs typeface="Calibri" pitchFamily="34" charset="-120"/>
              </a:rPr>
              <a:t>15</a:t>
            </a:r>
            <a:endParaRPr lang="en-US" sz="5600" dirty="0"/>
          </a:p>
        </p:txBody>
      </p:sp>
      <p:sp>
        <p:nvSpPr>
          <p:cNvPr id="21" name="Text 19"/>
          <p:cNvSpPr/>
          <p:nvPr/>
        </p:nvSpPr>
        <p:spPr>
          <a:xfrm>
            <a:off x="457200" y="4572000"/>
            <a:ext cx="201168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CONTROLS</a:t>
            </a:r>
            <a:endParaRPr lang="en-US" sz="1000" dirty="0"/>
          </a:p>
        </p:txBody>
      </p:sp>
      <p:sp>
        <p:nvSpPr>
          <p:cNvPr id="22" name="Text 20"/>
          <p:cNvSpPr/>
          <p:nvPr/>
        </p:nvSpPr>
        <p:spPr>
          <a:xfrm>
            <a:off x="457200" y="4846320"/>
            <a:ext cx="201168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FAR 52.204-21 basic safeguards</a:t>
            </a:r>
            <a:endParaRPr lang="en-US" sz="1000" dirty="0"/>
          </a:p>
        </p:txBody>
      </p:sp>
      <p:sp>
        <p:nvSpPr>
          <p:cNvPr id="23" name="Text 21"/>
          <p:cNvSpPr/>
          <p:nvPr/>
        </p:nvSpPr>
        <p:spPr>
          <a:xfrm>
            <a:off x="2606040" y="3657600"/>
            <a:ext cx="2011680" cy="868680"/>
          </a:xfrm>
          <a:prstGeom prst="rect">
            <a:avLst/>
          </a:prstGeom>
          <a:noFill/>
          <a:ln/>
        </p:spPr>
        <p:txBody>
          <a:bodyPr wrap="square" lIns="0" tIns="0" rIns="0" bIns="0" rtlCol="0" anchor="ctr"/>
          <a:lstStyle/>
          <a:p>
            <a:pPr marL="0" indent="0">
              <a:buNone/>
            </a:pPr>
            <a:r>
              <a:rPr lang="en-US" sz="3200" b="1" dirty="0">
                <a:solidFill>
                  <a:srgbClr val="10B981"/>
                </a:solidFill>
                <a:latin typeface="Calibri" pitchFamily="34" charset="0"/>
                <a:ea typeface="Calibri" pitchFamily="34" charset="-122"/>
                <a:cs typeface="Calibri" pitchFamily="34" charset="-120"/>
              </a:rPr>
              <a:t>ANNUAL</a:t>
            </a:r>
            <a:endParaRPr lang="en-US" sz="3200" dirty="0"/>
          </a:p>
        </p:txBody>
      </p:sp>
      <p:sp>
        <p:nvSpPr>
          <p:cNvPr id="24" name="Text 22"/>
          <p:cNvSpPr/>
          <p:nvPr/>
        </p:nvSpPr>
        <p:spPr>
          <a:xfrm>
            <a:off x="2606040" y="4572000"/>
            <a:ext cx="201168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CADENCE</a:t>
            </a:r>
            <a:endParaRPr lang="en-US" sz="1000" dirty="0"/>
          </a:p>
        </p:txBody>
      </p:sp>
      <p:sp>
        <p:nvSpPr>
          <p:cNvPr id="25" name="Text 23"/>
          <p:cNvSpPr/>
          <p:nvPr/>
        </p:nvSpPr>
        <p:spPr>
          <a:xfrm>
            <a:off x="2606040" y="4846320"/>
            <a:ext cx="201168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Self-assessment, submitted to SPRS</a:t>
            </a:r>
            <a:endParaRPr lang="en-US" sz="1000" dirty="0"/>
          </a:p>
        </p:txBody>
      </p:sp>
      <p:sp>
        <p:nvSpPr>
          <p:cNvPr id="26" name="Text 24"/>
          <p:cNvSpPr/>
          <p:nvPr/>
        </p:nvSpPr>
        <p:spPr>
          <a:xfrm>
            <a:off x="4754880" y="3657600"/>
            <a:ext cx="2011680" cy="868680"/>
          </a:xfrm>
          <a:prstGeom prst="rect">
            <a:avLst/>
          </a:prstGeom>
          <a:noFill/>
          <a:ln/>
        </p:spPr>
        <p:txBody>
          <a:bodyPr wrap="square" lIns="0" tIns="0" rIns="0" bIns="0" rtlCol="0" anchor="ctr"/>
          <a:lstStyle/>
          <a:p>
            <a:pPr marL="0" indent="0">
              <a:buNone/>
            </a:pPr>
            <a:r>
              <a:rPr lang="en-US" sz="5600" b="1" dirty="0">
                <a:solidFill>
                  <a:srgbClr val="F59E0B"/>
                </a:solidFill>
                <a:latin typeface="Calibri" pitchFamily="34" charset="0"/>
                <a:ea typeface="Calibri" pitchFamily="34" charset="-122"/>
                <a:cs typeface="Calibri" pitchFamily="34" charset="-120"/>
              </a:rPr>
              <a:t>$0</a:t>
            </a:r>
            <a:endParaRPr lang="en-US" sz="5600" dirty="0"/>
          </a:p>
        </p:txBody>
      </p:sp>
      <p:sp>
        <p:nvSpPr>
          <p:cNvPr id="27" name="Text 25"/>
          <p:cNvSpPr/>
          <p:nvPr/>
        </p:nvSpPr>
        <p:spPr>
          <a:xfrm>
            <a:off x="4754880" y="4572000"/>
            <a:ext cx="201168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AUDITOR FEE</a:t>
            </a:r>
            <a:endParaRPr lang="en-US" sz="1000" dirty="0"/>
          </a:p>
        </p:txBody>
      </p:sp>
      <p:sp>
        <p:nvSpPr>
          <p:cNvPr id="28" name="Text 26"/>
          <p:cNvSpPr/>
          <p:nvPr/>
        </p:nvSpPr>
        <p:spPr>
          <a:xfrm>
            <a:off x="4754880" y="4846320"/>
            <a:ext cx="201168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Self-attested, no third party</a:t>
            </a:r>
            <a:endParaRPr lang="en-US" sz="1000" dirty="0"/>
          </a:p>
        </p:txBody>
      </p:sp>
      <p:sp>
        <p:nvSpPr>
          <p:cNvPr id="29" name="Shape 27"/>
          <p:cNvSpPr/>
          <p:nvPr/>
        </p:nvSpPr>
        <p:spPr>
          <a:xfrm>
            <a:off x="6766560" y="1554480"/>
            <a:ext cx="3534156" cy="256032"/>
          </a:xfrm>
          <a:prstGeom prst="rect">
            <a:avLst/>
          </a:prstGeom>
          <a:solidFill>
            <a:srgbClr val="1E2D5A"/>
          </a:solidFill>
          <a:ln w="9525">
            <a:solidFill>
              <a:srgbClr val="F59E0B"/>
            </a:solidFill>
            <a:prstDash val="solid"/>
          </a:ln>
        </p:spPr>
        <p:txBody>
          <a:bodyPr/>
          <a:lstStyle/>
          <a:p>
            <a:endParaRPr lang="en-US"/>
          </a:p>
        </p:txBody>
      </p:sp>
      <p:sp>
        <p:nvSpPr>
          <p:cNvPr id="30" name="Text 28"/>
          <p:cNvSpPr/>
          <p:nvPr/>
        </p:nvSpPr>
        <p:spPr>
          <a:xfrm>
            <a:off x="6766560" y="1554480"/>
            <a:ext cx="3534156"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WHAT LEVEL 1 MEANS FOR YOUR CONTRACTS</a:t>
            </a:r>
            <a:endParaRPr lang="en-US" sz="900" dirty="0"/>
          </a:p>
        </p:txBody>
      </p:sp>
      <p:sp>
        <p:nvSpPr>
          <p:cNvPr id="31" name="Text 29"/>
          <p:cNvSpPr/>
          <p:nvPr/>
        </p:nvSpPr>
        <p:spPr>
          <a:xfrm>
            <a:off x="6766560" y="1965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Annual self-assessment only</a:t>
            </a:r>
            <a:endParaRPr lang="en-US" sz="1200" dirty="0"/>
          </a:p>
        </p:txBody>
      </p:sp>
      <p:sp>
        <p:nvSpPr>
          <p:cNvPr id="32" name="Text 30"/>
          <p:cNvSpPr/>
          <p:nvPr/>
        </p:nvSpPr>
        <p:spPr>
          <a:xfrm>
            <a:off x="6766560" y="2258568"/>
            <a:ext cx="4937760" cy="59436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No third-party auditor. The contractor performs the assessment, submits the score to SPRS, and a senior official affirms results annually.</a:t>
            </a:r>
            <a:endParaRPr lang="en-US" sz="1000" dirty="0"/>
          </a:p>
        </p:txBody>
      </p:sp>
      <p:sp>
        <p:nvSpPr>
          <p:cNvPr id="33" name="Text 31"/>
          <p:cNvSpPr/>
          <p:nvPr/>
        </p:nvSpPr>
        <p:spPr>
          <a:xfrm>
            <a:off x="6766560" y="292608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Pass/fail. No POA&amp;Ms allowed</a:t>
            </a:r>
            <a:endParaRPr lang="en-US" sz="1200" dirty="0"/>
          </a:p>
        </p:txBody>
      </p:sp>
      <p:sp>
        <p:nvSpPr>
          <p:cNvPr id="34" name="Text 32"/>
          <p:cNvSpPr/>
          <p:nvPr/>
        </p:nvSpPr>
        <p:spPr>
          <a:xfrm>
            <a:off x="6766560" y="3218688"/>
            <a:ext cx="4937760" cy="59436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All 15 practices must be met at assessment. Unlike Level 2, no allowance for open remediation.</a:t>
            </a:r>
            <a:endParaRPr lang="en-US" sz="1000" dirty="0"/>
          </a:p>
        </p:txBody>
      </p:sp>
      <p:sp>
        <p:nvSpPr>
          <p:cNvPr id="35" name="Text 33"/>
          <p:cNvSpPr/>
          <p:nvPr/>
        </p:nvSpPr>
        <p:spPr>
          <a:xfrm>
            <a:off x="6766560" y="388620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FCI contracts only</a:t>
            </a:r>
            <a:endParaRPr lang="en-US" sz="1200" dirty="0"/>
          </a:p>
        </p:txBody>
      </p:sp>
      <p:sp>
        <p:nvSpPr>
          <p:cNvPr id="36" name="Text 34"/>
          <p:cNvSpPr/>
          <p:nvPr/>
        </p:nvSpPr>
        <p:spPr>
          <a:xfrm>
            <a:off x="6766560" y="4178808"/>
            <a:ext cx="4937760" cy="59436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Applies only to Federal Contract Information. If your contract involves CUI, Level 2 applies. Not Level 1.</a:t>
            </a:r>
            <a:endParaRPr lang="en-US" sz="1000" dirty="0"/>
          </a:p>
        </p:txBody>
      </p:sp>
      <p:sp>
        <p:nvSpPr>
          <p:cNvPr id="37" name="Text 35"/>
          <p:cNvSpPr/>
          <p:nvPr/>
        </p:nvSpPr>
        <p:spPr>
          <a:xfrm>
            <a:off x="6766560" y="484632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SPRS score is on record</a:t>
            </a:r>
            <a:endParaRPr lang="en-US" sz="1200" dirty="0"/>
          </a:p>
        </p:txBody>
      </p:sp>
      <p:sp>
        <p:nvSpPr>
          <p:cNvPr id="38" name="Text 36"/>
          <p:cNvSpPr/>
          <p:nvPr/>
        </p:nvSpPr>
        <p:spPr>
          <a:xfrm>
            <a:off x="6766560" y="5138928"/>
            <a:ext cx="4937760" cy="59436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Submissions are visible to DoD contracting officers. Inaccurate attestations create False Claims Act exposure.</a:t>
            </a:r>
            <a:endParaRPr lang="en-US" sz="1000" dirty="0"/>
          </a:p>
        </p:txBody>
      </p:sp>
      <p:sp>
        <p:nvSpPr>
          <p:cNvPr id="39" name="Shape 37"/>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40" name="Text 38"/>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1" name="Text 39"/>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3 / 23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NIST SP 800-171 Actually Requires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110 security requirements across 14 control families (Rev. 2). The full framework for protecting CUI.</a:t>
            </a:r>
            <a:endParaRPr lang="en-US" sz="1300" dirty="0"/>
          </a:p>
        </p:txBody>
      </p:sp>
      <p:sp>
        <p:nvSpPr>
          <p:cNvPr id="5" name="Shape 3"/>
          <p:cNvSpPr/>
          <p:nvPr/>
        </p:nvSpPr>
        <p:spPr>
          <a:xfrm>
            <a:off x="457200" y="1554480"/>
            <a:ext cx="2318004" cy="256032"/>
          </a:xfrm>
          <a:prstGeom prst="rect">
            <a:avLst/>
          </a:prstGeom>
          <a:solidFill>
            <a:srgbClr val="1E2D5A"/>
          </a:solidFill>
          <a:ln w="9525">
            <a:solidFill>
              <a:srgbClr val="F59E0B"/>
            </a:solidFill>
            <a:prstDash val="solid"/>
          </a:ln>
        </p:spPr>
        <p:txBody>
          <a:bodyPr/>
          <a:lstStyle/>
          <a:p>
            <a:endParaRPr lang="en-US"/>
          </a:p>
        </p:txBody>
      </p:sp>
      <p:sp>
        <p:nvSpPr>
          <p:cNvPr id="6" name="Text 4"/>
          <p:cNvSpPr/>
          <p:nvPr/>
        </p:nvSpPr>
        <p:spPr>
          <a:xfrm>
            <a:off x="457200" y="1554480"/>
            <a:ext cx="2318004"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THE 14 CONTROL FAMILIES</a:t>
            </a:r>
            <a:endParaRPr lang="en-US" sz="900" dirty="0"/>
          </a:p>
        </p:txBody>
      </p:sp>
      <p:sp>
        <p:nvSpPr>
          <p:cNvPr id="7" name="Shape 5"/>
          <p:cNvSpPr/>
          <p:nvPr/>
        </p:nvSpPr>
        <p:spPr>
          <a:xfrm>
            <a:off x="457200" y="1965960"/>
            <a:ext cx="2880360" cy="365760"/>
          </a:xfrm>
          <a:prstGeom prst="rect">
            <a:avLst/>
          </a:prstGeom>
          <a:solidFill>
            <a:srgbClr val="131A35"/>
          </a:solidFill>
          <a:ln w="9525">
            <a:solidFill>
              <a:srgbClr val="1E2D5A"/>
            </a:solidFill>
            <a:prstDash val="solid"/>
          </a:ln>
        </p:spPr>
        <p:txBody>
          <a:bodyPr/>
          <a:lstStyle/>
          <a:p>
            <a:endParaRPr lang="en-US"/>
          </a:p>
        </p:txBody>
      </p:sp>
      <p:sp>
        <p:nvSpPr>
          <p:cNvPr id="8" name="Shape 6"/>
          <p:cNvSpPr/>
          <p:nvPr/>
        </p:nvSpPr>
        <p:spPr>
          <a:xfrm>
            <a:off x="457200" y="1965960"/>
            <a:ext cx="54864" cy="365760"/>
          </a:xfrm>
          <a:prstGeom prst="rect">
            <a:avLst/>
          </a:prstGeom>
          <a:solidFill>
            <a:srgbClr val="8844DD"/>
          </a:solidFill>
          <a:ln w="12700">
            <a:solidFill>
              <a:srgbClr val="8844DD"/>
            </a:solidFill>
            <a:prstDash val="solid"/>
          </a:ln>
        </p:spPr>
        <p:txBody>
          <a:bodyPr/>
          <a:lstStyle/>
          <a:p>
            <a:endParaRPr lang="en-US"/>
          </a:p>
        </p:txBody>
      </p:sp>
      <p:sp>
        <p:nvSpPr>
          <p:cNvPr id="9" name="Text 7"/>
          <p:cNvSpPr/>
          <p:nvPr/>
        </p:nvSpPr>
        <p:spPr>
          <a:xfrm>
            <a:off x="621792" y="1965960"/>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Access Control (AC)</a:t>
            </a:r>
            <a:endParaRPr lang="en-US" sz="1050" dirty="0"/>
          </a:p>
        </p:txBody>
      </p:sp>
      <p:sp>
        <p:nvSpPr>
          <p:cNvPr id="10" name="Shape 8"/>
          <p:cNvSpPr/>
          <p:nvPr/>
        </p:nvSpPr>
        <p:spPr>
          <a:xfrm>
            <a:off x="3410712" y="1965960"/>
            <a:ext cx="2880360" cy="365760"/>
          </a:xfrm>
          <a:prstGeom prst="rect">
            <a:avLst/>
          </a:prstGeom>
          <a:solidFill>
            <a:srgbClr val="131A35"/>
          </a:solidFill>
          <a:ln w="9525">
            <a:solidFill>
              <a:srgbClr val="1E2D5A"/>
            </a:solidFill>
            <a:prstDash val="solid"/>
          </a:ln>
        </p:spPr>
        <p:txBody>
          <a:bodyPr/>
          <a:lstStyle/>
          <a:p>
            <a:endParaRPr lang="en-US"/>
          </a:p>
        </p:txBody>
      </p:sp>
      <p:sp>
        <p:nvSpPr>
          <p:cNvPr id="11" name="Shape 9"/>
          <p:cNvSpPr/>
          <p:nvPr/>
        </p:nvSpPr>
        <p:spPr>
          <a:xfrm>
            <a:off x="3410712" y="1965960"/>
            <a:ext cx="54864" cy="365760"/>
          </a:xfrm>
          <a:prstGeom prst="rect">
            <a:avLst/>
          </a:prstGeom>
          <a:solidFill>
            <a:srgbClr val="8844DD"/>
          </a:solidFill>
          <a:ln w="12700">
            <a:solidFill>
              <a:srgbClr val="8844DD"/>
            </a:solidFill>
            <a:prstDash val="solid"/>
          </a:ln>
        </p:spPr>
        <p:txBody>
          <a:bodyPr/>
          <a:lstStyle/>
          <a:p>
            <a:endParaRPr lang="en-US"/>
          </a:p>
        </p:txBody>
      </p:sp>
      <p:sp>
        <p:nvSpPr>
          <p:cNvPr id="12" name="Text 10"/>
          <p:cNvSpPr/>
          <p:nvPr/>
        </p:nvSpPr>
        <p:spPr>
          <a:xfrm>
            <a:off x="3575304" y="1965960"/>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Awareness &amp; Training (AT)</a:t>
            </a:r>
            <a:endParaRPr lang="en-US" sz="1050" dirty="0"/>
          </a:p>
        </p:txBody>
      </p:sp>
      <p:sp>
        <p:nvSpPr>
          <p:cNvPr id="13" name="Shape 11"/>
          <p:cNvSpPr/>
          <p:nvPr/>
        </p:nvSpPr>
        <p:spPr>
          <a:xfrm>
            <a:off x="457200" y="2404872"/>
            <a:ext cx="2880360" cy="365760"/>
          </a:xfrm>
          <a:prstGeom prst="rect">
            <a:avLst/>
          </a:prstGeom>
          <a:solidFill>
            <a:srgbClr val="131A35"/>
          </a:solidFill>
          <a:ln w="9525">
            <a:solidFill>
              <a:srgbClr val="1E2D5A"/>
            </a:solidFill>
            <a:prstDash val="solid"/>
          </a:ln>
        </p:spPr>
        <p:txBody>
          <a:bodyPr/>
          <a:lstStyle/>
          <a:p>
            <a:endParaRPr lang="en-US"/>
          </a:p>
        </p:txBody>
      </p:sp>
      <p:sp>
        <p:nvSpPr>
          <p:cNvPr id="14" name="Shape 12"/>
          <p:cNvSpPr/>
          <p:nvPr/>
        </p:nvSpPr>
        <p:spPr>
          <a:xfrm>
            <a:off x="457200" y="2404872"/>
            <a:ext cx="54864" cy="365760"/>
          </a:xfrm>
          <a:prstGeom prst="rect">
            <a:avLst/>
          </a:prstGeom>
          <a:solidFill>
            <a:srgbClr val="8844DD"/>
          </a:solidFill>
          <a:ln w="12700">
            <a:solidFill>
              <a:srgbClr val="8844DD"/>
            </a:solidFill>
            <a:prstDash val="solid"/>
          </a:ln>
        </p:spPr>
        <p:txBody>
          <a:bodyPr/>
          <a:lstStyle/>
          <a:p>
            <a:endParaRPr lang="en-US"/>
          </a:p>
        </p:txBody>
      </p:sp>
      <p:sp>
        <p:nvSpPr>
          <p:cNvPr id="15" name="Text 13"/>
          <p:cNvSpPr/>
          <p:nvPr/>
        </p:nvSpPr>
        <p:spPr>
          <a:xfrm>
            <a:off x="621792" y="2404872"/>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Audit &amp; Accountability (AU)</a:t>
            </a:r>
            <a:endParaRPr lang="en-US" sz="1050" dirty="0"/>
          </a:p>
        </p:txBody>
      </p:sp>
      <p:sp>
        <p:nvSpPr>
          <p:cNvPr id="16" name="Shape 14"/>
          <p:cNvSpPr/>
          <p:nvPr/>
        </p:nvSpPr>
        <p:spPr>
          <a:xfrm>
            <a:off x="3410712" y="2404872"/>
            <a:ext cx="2880360" cy="365760"/>
          </a:xfrm>
          <a:prstGeom prst="rect">
            <a:avLst/>
          </a:prstGeom>
          <a:solidFill>
            <a:srgbClr val="131A35"/>
          </a:solidFill>
          <a:ln w="9525">
            <a:solidFill>
              <a:srgbClr val="1E2D5A"/>
            </a:solidFill>
            <a:prstDash val="solid"/>
          </a:ln>
        </p:spPr>
        <p:txBody>
          <a:bodyPr/>
          <a:lstStyle/>
          <a:p>
            <a:endParaRPr lang="en-US"/>
          </a:p>
        </p:txBody>
      </p:sp>
      <p:sp>
        <p:nvSpPr>
          <p:cNvPr id="17" name="Shape 15"/>
          <p:cNvSpPr/>
          <p:nvPr/>
        </p:nvSpPr>
        <p:spPr>
          <a:xfrm>
            <a:off x="3410712" y="2404872"/>
            <a:ext cx="54864" cy="365760"/>
          </a:xfrm>
          <a:prstGeom prst="rect">
            <a:avLst/>
          </a:prstGeom>
          <a:solidFill>
            <a:srgbClr val="8844DD"/>
          </a:solidFill>
          <a:ln w="12700">
            <a:solidFill>
              <a:srgbClr val="8844DD"/>
            </a:solidFill>
            <a:prstDash val="solid"/>
          </a:ln>
        </p:spPr>
        <p:txBody>
          <a:bodyPr/>
          <a:lstStyle/>
          <a:p>
            <a:endParaRPr lang="en-US"/>
          </a:p>
        </p:txBody>
      </p:sp>
      <p:sp>
        <p:nvSpPr>
          <p:cNvPr id="18" name="Text 16"/>
          <p:cNvSpPr/>
          <p:nvPr/>
        </p:nvSpPr>
        <p:spPr>
          <a:xfrm>
            <a:off x="3575304" y="2404872"/>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Configuration Management (CM)</a:t>
            </a:r>
            <a:endParaRPr lang="en-US" sz="1050" dirty="0"/>
          </a:p>
        </p:txBody>
      </p:sp>
      <p:sp>
        <p:nvSpPr>
          <p:cNvPr id="19" name="Shape 17"/>
          <p:cNvSpPr/>
          <p:nvPr/>
        </p:nvSpPr>
        <p:spPr>
          <a:xfrm>
            <a:off x="457200" y="2843784"/>
            <a:ext cx="2880360" cy="365760"/>
          </a:xfrm>
          <a:prstGeom prst="rect">
            <a:avLst/>
          </a:prstGeom>
          <a:solidFill>
            <a:srgbClr val="131A35"/>
          </a:solidFill>
          <a:ln w="9525">
            <a:solidFill>
              <a:srgbClr val="1E2D5A"/>
            </a:solidFill>
            <a:prstDash val="solid"/>
          </a:ln>
        </p:spPr>
        <p:txBody>
          <a:bodyPr/>
          <a:lstStyle/>
          <a:p>
            <a:endParaRPr lang="en-US"/>
          </a:p>
        </p:txBody>
      </p:sp>
      <p:sp>
        <p:nvSpPr>
          <p:cNvPr id="20" name="Shape 18"/>
          <p:cNvSpPr/>
          <p:nvPr/>
        </p:nvSpPr>
        <p:spPr>
          <a:xfrm>
            <a:off x="457200" y="2843784"/>
            <a:ext cx="54864" cy="365760"/>
          </a:xfrm>
          <a:prstGeom prst="rect">
            <a:avLst/>
          </a:prstGeom>
          <a:solidFill>
            <a:srgbClr val="8844DD"/>
          </a:solidFill>
          <a:ln w="12700">
            <a:solidFill>
              <a:srgbClr val="8844DD"/>
            </a:solidFill>
            <a:prstDash val="solid"/>
          </a:ln>
        </p:spPr>
        <p:txBody>
          <a:bodyPr/>
          <a:lstStyle/>
          <a:p>
            <a:endParaRPr lang="en-US"/>
          </a:p>
        </p:txBody>
      </p:sp>
      <p:sp>
        <p:nvSpPr>
          <p:cNvPr id="21" name="Text 19"/>
          <p:cNvSpPr/>
          <p:nvPr/>
        </p:nvSpPr>
        <p:spPr>
          <a:xfrm>
            <a:off x="621792" y="2843784"/>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Identification &amp; Authentication (IA)</a:t>
            </a:r>
            <a:endParaRPr lang="en-US" sz="1050" dirty="0"/>
          </a:p>
        </p:txBody>
      </p:sp>
      <p:sp>
        <p:nvSpPr>
          <p:cNvPr id="22" name="Shape 20"/>
          <p:cNvSpPr/>
          <p:nvPr/>
        </p:nvSpPr>
        <p:spPr>
          <a:xfrm>
            <a:off x="3410712" y="2843784"/>
            <a:ext cx="2880360" cy="365760"/>
          </a:xfrm>
          <a:prstGeom prst="rect">
            <a:avLst/>
          </a:prstGeom>
          <a:solidFill>
            <a:srgbClr val="131A35"/>
          </a:solidFill>
          <a:ln w="9525">
            <a:solidFill>
              <a:srgbClr val="1E2D5A"/>
            </a:solidFill>
            <a:prstDash val="solid"/>
          </a:ln>
        </p:spPr>
        <p:txBody>
          <a:bodyPr/>
          <a:lstStyle/>
          <a:p>
            <a:endParaRPr lang="en-US"/>
          </a:p>
        </p:txBody>
      </p:sp>
      <p:sp>
        <p:nvSpPr>
          <p:cNvPr id="23" name="Shape 21"/>
          <p:cNvSpPr/>
          <p:nvPr/>
        </p:nvSpPr>
        <p:spPr>
          <a:xfrm>
            <a:off x="3410712" y="2843784"/>
            <a:ext cx="54864" cy="365760"/>
          </a:xfrm>
          <a:prstGeom prst="rect">
            <a:avLst/>
          </a:prstGeom>
          <a:solidFill>
            <a:srgbClr val="8844DD"/>
          </a:solidFill>
          <a:ln w="12700">
            <a:solidFill>
              <a:srgbClr val="8844DD"/>
            </a:solidFill>
            <a:prstDash val="solid"/>
          </a:ln>
        </p:spPr>
        <p:txBody>
          <a:bodyPr/>
          <a:lstStyle/>
          <a:p>
            <a:endParaRPr lang="en-US"/>
          </a:p>
        </p:txBody>
      </p:sp>
      <p:sp>
        <p:nvSpPr>
          <p:cNvPr id="24" name="Text 22"/>
          <p:cNvSpPr/>
          <p:nvPr/>
        </p:nvSpPr>
        <p:spPr>
          <a:xfrm>
            <a:off x="3575304" y="2843784"/>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Incident Response (IR)</a:t>
            </a:r>
            <a:endParaRPr lang="en-US" sz="1050" dirty="0"/>
          </a:p>
        </p:txBody>
      </p:sp>
      <p:sp>
        <p:nvSpPr>
          <p:cNvPr id="25" name="Shape 23"/>
          <p:cNvSpPr/>
          <p:nvPr/>
        </p:nvSpPr>
        <p:spPr>
          <a:xfrm>
            <a:off x="457200" y="3282696"/>
            <a:ext cx="2880360" cy="365760"/>
          </a:xfrm>
          <a:prstGeom prst="rect">
            <a:avLst/>
          </a:prstGeom>
          <a:solidFill>
            <a:srgbClr val="131A35"/>
          </a:solidFill>
          <a:ln w="9525">
            <a:solidFill>
              <a:srgbClr val="1E2D5A"/>
            </a:solidFill>
            <a:prstDash val="solid"/>
          </a:ln>
        </p:spPr>
        <p:txBody>
          <a:bodyPr/>
          <a:lstStyle/>
          <a:p>
            <a:endParaRPr lang="en-US"/>
          </a:p>
        </p:txBody>
      </p:sp>
      <p:sp>
        <p:nvSpPr>
          <p:cNvPr id="26" name="Shape 24"/>
          <p:cNvSpPr/>
          <p:nvPr/>
        </p:nvSpPr>
        <p:spPr>
          <a:xfrm>
            <a:off x="457200" y="3282696"/>
            <a:ext cx="54864" cy="365760"/>
          </a:xfrm>
          <a:prstGeom prst="rect">
            <a:avLst/>
          </a:prstGeom>
          <a:solidFill>
            <a:srgbClr val="8844DD"/>
          </a:solidFill>
          <a:ln w="12700">
            <a:solidFill>
              <a:srgbClr val="8844DD"/>
            </a:solidFill>
            <a:prstDash val="solid"/>
          </a:ln>
        </p:spPr>
        <p:txBody>
          <a:bodyPr/>
          <a:lstStyle/>
          <a:p>
            <a:endParaRPr lang="en-US"/>
          </a:p>
        </p:txBody>
      </p:sp>
      <p:sp>
        <p:nvSpPr>
          <p:cNvPr id="27" name="Text 25"/>
          <p:cNvSpPr/>
          <p:nvPr/>
        </p:nvSpPr>
        <p:spPr>
          <a:xfrm>
            <a:off x="621792" y="3282696"/>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Maintenance (MA)</a:t>
            </a:r>
            <a:endParaRPr lang="en-US" sz="1050" dirty="0"/>
          </a:p>
        </p:txBody>
      </p:sp>
      <p:sp>
        <p:nvSpPr>
          <p:cNvPr id="28" name="Shape 26"/>
          <p:cNvSpPr/>
          <p:nvPr/>
        </p:nvSpPr>
        <p:spPr>
          <a:xfrm>
            <a:off x="3410712" y="3282696"/>
            <a:ext cx="2880360" cy="365760"/>
          </a:xfrm>
          <a:prstGeom prst="rect">
            <a:avLst/>
          </a:prstGeom>
          <a:solidFill>
            <a:srgbClr val="131A35"/>
          </a:solidFill>
          <a:ln w="9525">
            <a:solidFill>
              <a:srgbClr val="1E2D5A"/>
            </a:solidFill>
            <a:prstDash val="solid"/>
          </a:ln>
        </p:spPr>
        <p:txBody>
          <a:bodyPr/>
          <a:lstStyle/>
          <a:p>
            <a:endParaRPr lang="en-US"/>
          </a:p>
        </p:txBody>
      </p:sp>
      <p:sp>
        <p:nvSpPr>
          <p:cNvPr id="29" name="Shape 27"/>
          <p:cNvSpPr/>
          <p:nvPr/>
        </p:nvSpPr>
        <p:spPr>
          <a:xfrm>
            <a:off x="3410712" y="3282696"/>
            <a:ext cx="54864" cy="365760"/>
          </a:xfrm>
          <a:prstGeom prst="rect">
            <a:avLst/>
          </a:prstGeom>
          <a:solidFill>
            <a:srgbClr val="8844DD"/>
          </a:solidFill>
          <a:ln w="12700">
            <a:solidFill>
              <a:srgbClr val="8844DD"/>
            </a:solidFill>
            <a:prstDash val="solid"/>
          </a:ln>
        </p:spPr>
        <p:txBody>
          <a:bodyPr/>
          <a:lstStyle/>
          <a:p>
            <a:endParaRPr lang="en-US"/>
          </a:p>
        </p:txBody>
      </p:sp>
      <p:sp>
        <p:nvSpPr>
          <p:cNvPr id="30" name="Text 28"/>
          <p:cNvSpPr/>
          <p:nvPr/>
        </p:nvSpPr>
        <p:spPr>
          <a:xfrm>
            <a:off x="3575304" y="3282696"/>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Media Protection (MP)</a:t>
            </a:r>
            <a:endParaRPr lang="en-US" sz="1050" dirty="0"/>
          </a:p>
        </p:txBody>
      </p:sp>
      <p:sp>
        <p:nvSpPr>
          <p:cNvPr id="31" name="Shape 29"/>
          <p:cNvSpPr/>
          <p:nvPr/>
        </p:nvSpPr>
        <p:spPr>
          <a:xfrm>
            <a:off x="457200" y="3721608"/>
            <a:ext cx="2880360" cy="365760"/>
          </a:xfrm>
          <a:prstGeom prst="rect">
            <a:avLst/>
          </a:prstGeom>
          <a:solidFill>
            <a:srgbClr val="131A35"/>
          </a:solidFill>
          <a:ln w="9525">
            <a:solidFill>
              <a:srgbClr val="1E2D5A"/>
            </a:solidFill>
            <a:prstDash val="solid"/>
          </a:ln>
        </p:spPr>
        <p:txBody>
          <a:bodyPr/>
          <a:lstStyle/>
          <a:p>
            <a:endParaRPr lang="en-US"/>
          </a:p>
        </p:txBody>
      </p:sp>
      <p:sp>
        <p:nvSpPr>
          <p:cNvPr id="32" name="Shape 30"/>
          <p:cNvSpPr/>
          <p:nvPr/>
        </p:nvSpPr>
        <p:spPr>
          <a:xfrm>
            <a:off x="457200" y="3721608"/>
            <a:ext cx="54864" cy="365760"/>
          </a:xfrm>
          <a:prstGeom prst="rect">
            <a:avLst/>
          </a:prstGeom>
          <a:solidFill>
            <a:srgbClr val="8844DD"/>
          </a:solidFill>
          <a:ln w="12700">
            <a:solidFill>
              <a:srgbClr val="8844DD"/>
            </a:solidFill>
            <a:prstDash val="solid"/>
          </a:ln>
        </p:spPr>
        <p:txBody>
          <a:bodyPr/>
          <a:lstStyle/>
          <a:p>
            <a:endParaRPr lang="en-US"/>
          </a:p>
        </p:txBody>
      </p:sp>
      <p:sp>
        <p:nvSpPr>
          <p:cNvPr id="33" name="Text 31"/>
          <p:cNvSpPr/>
          <p:nvPr/>
        </p:nvSpPr>
        <p:spPr>
          <a:xfrm>
            <a:off x="621792" y="3721608"/>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Personnel Security (PS)</a:t>
            </a:r>
            <a:endParaRPr lang="en-US" sz="1050" dirty="0"/>
          </a:p>
        </p:txBody>
      </p:sp>
      <p:sp>
        <p:nvSpPr>
          <p:cNvPr id="34" name="Shape 32"/>
          <p:cNvSpPr/>
          <p:nvPr/>
        </p:nvSpPr>
        <p:spPr>
          <a:xfrm>
            <a:off x="3410712" y="3721608"/>
            <a:ext cx="2880360" cy="365760"/>
          </a:xfrm>
          <a:prstGeom prst="rect">
            <a:avLst/>
          </a:prstGeom>
          <a:solidFill>
            <a:srgbClr val="131A35"/>
          </a:solidFill>
          <a:ln w="9525">
            <a:solidFill>
              <a:srgbClr val="1E2D5A"/>
            </a:solidFill>
            <a:prstDash val="solid"/>
          </a:ln>
        </p:spPr>
        <p:txBody>
          <a:bodyPr/>
          <a:lstStyle/>
          <a:p>
            <a:endParaRPr lang="en-US"/>
          </a:p>
        </p:txBody>
      </p:sp>
      <p:sp>
        <p:nvSpPr>
          <p:cNvPr id="35" name="Shape 33"/>
          <p:cNvSpPr/>
          <p:nvPr/>
        </p:nvSpPr>
        <p:spPr>
          <a:xfrm>
            <a:off x="3410712" y="3721608"/>
            <a:ext cx="54864" cy="365760"/>
          </a:xfrm>
          <a:prstGeom prst="rect">
            <a:avLst/>
          </a:prstGeom>
          <a:solidFill>
            <a:srgbClr val="8844DD"/>
          </a:solidFill>
          <a:ln w="12700">
            <a:solidFill>
              <a:srgbClr val="8844DD"/>
            </a:solidFill>
            <a:prstDash val="solid"/>
          </a:ln>
        </p:spPr>
        <p:txBody>
          <a:bodyPr/>
          <a:lstStyle/>
          <a:p>
            <a:endParaRPr lang="en-US"/>
          </a:p>
        </p:txBody>
      </p:sp>
      <p:sp>
        <p:nvSpPr>
          <p:cNvPr id="36" name="Text 34"/>
          <p:cNvSpPr/>
          <p:nvPr/>
        </p:nvSpPr>
        <p:spPr>
          <a:xfrm>
            <a:off x="3575304" y="3721608"/>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Physical Protection (PE)</a:t>
            </a:r>
            <a:endParaRPr lang="en-US" sz="1050" dirty="0"/>
          </a:p>
        </p:txBody>
      </p:sp>
      <p:sp>
        <p:nvSpPr>
          <p:cNvPr id="37" name="Shape 35"/>
          <p:cNvSpPr/>
          <p:nvPr/>
        </p:nvSpPr>
        <p:spPr>
          <a:xfrm>
            <a:off x="457200" y="4160520"/>
            <a:ext cx="2880360" cy="365760"/>
          </a:xfrm>
          <a:prstGeom prst="rect">
            <a:avLst/>
          </a:prstGeom>
          <a:solidFill>
            <a:srgbClr val="131A35"/>
          </a:solidFill>
          <a:ln w="9525">
            <a:solidFill>
              <a:srgbClr val="1E2D5A"/>
            </a:solidFill>
            <a:prstDash val="solid"/>
          </a:ln>
        </p:spPr>
        <p:txBody>
          <a:bodyPr/>
          <a:lstStyle/>
          <a:p>
            <a:endParaRPr lang="en-US"/>
          </a:p>
        </p:txBody>
      </p:sp>
      <p:sp>
        <p:nvSpPr>
          <p:cNvPr id="38" name="Shape 36"/>
          <p:cNvSpPr/>
          <p:nvPr/>
        </p:nvSpPr>
        <p:spPr>
          <a:xfrm>
            <a:off x="457200" y="4160520"/>
            <a:ext cx="54864" cy="365760"/>
          </a:xfrm>
          <a:prstGeom prst="rect">
            <a:avLst/>
          </a:prstGeom>
          <a:solidFill>
            <a:srgbClr val="8844DD"/>
          </a:solidFill>
          <a:ln w="12700">
            <a:solidFill>
              <a:srgbClr val="8844DD"/>
            </a:solidFill>
            <a:prstDash val="solid"/>
          </a:ln>
        </p:spPr>
        <p:txBody>
          <a:bodyPr/>
          <a:lstStyle/>
          <a:p>
            <a:endParaRPr lang="en-US"/>
          </a:p>
        </p:txBody>
      </p:sp>
      <p:sp>
        <p:nvSpPr>
          <p:cNvPr id="39" name="Text 37"/>
          <p:cNvSpPr/>
          <p:nvPr/>
        </p:nvSpPr>
        <p:spPr>
          <a:xfrm>
            <a:off x="621792" y="4160520"/>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Risk Assessment (RA)</a:t>
            </a:r>
            <a:endParaRPr lang="en-US" sz="1050" dirty="0"/>
          </a:p>
        </p:txBody>
      </p:sp>
      <p:sp>
        <p:nvSpPr>
          <p:cNvPr id="40" name="Shape 38"/>
          <p:cNvSpPr/>
          <p:nvPr/>
        </p:nvSpPr>
        <p:spPr>
          <a:xfrm>
            <a:off x="3410712" y="4160520"/>
            <a:ext cx="2880360" cy="365760"/>
          </a:xfrm>
          <a:prstGeom prst="rect">
            <a:avLst/>
          </a:prstGeom>
          <a:solidFill>
            <a:srgbClr val="131A35"/>
          </a:solidFill>
          <a:ln w="9525">
            <a:solidFill>
              <a:srgbClr val="1E2D5A"/>
            </a:solidFill>
            <a:prstDash val="solid"/>
          </a:ln>
        </p:spPr>
        <p:txBody>
          <a:bodyPr/>
          <a:lstStyle/>
          <a:p>
            <a:endParaRPr lang="en-US"/>
          </a:p>
        </p:txBody>
      </p:sp>
      <p:sp>
        <p:nvSpPr>
          <p:cNvPr id="41" name="Shape 39"/>
          <p:cNvSpPr/>
          <p:nvPr/>
        </p:nvSpPr>
        <p:spPr>
          <a:xfrm>
            <a:off x="3410712" y="4160520"/>
            <a:ext cx="54864" cy="365760"/>
          </a:xfrm>
          <a:prstGeom prst="rect">
            <a:avLst/>
          </a:prstGeom>
          <a:solidFill>
            <a:srgbClr val="8844DD"/>
          </a:solidFill>
          <a:ln w="12700">
            <a:solidFill>
              <a:srgbClr val="8844DD"/>
            </a:solidFill>
            <a:prstDash val="solid"/>
          </a:ln>
        </p:spPr>
        <p:txBody>
          <a:bodyPr/>
          <a:lstStyle/>
          <a:p>
            <a:endParaRPr lang="en-US"/>
          </a:p>
        </p:txBody>
      </p:sp>
      <p:sp>
        <p:nvSpPr>
          <p:cNvPr id="42" name="Text 40"/>
          <p:cNvSpPr/>
          <p:nvPr/>
        </p:nvSpPr>
        <p:spPr>
          <a:xfrm>
            <a:off x="3575304" y="4160520"/>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Security Assessment (CA)</a:t>
            </a:r>
            <a:endParaRPr lang="en-US" sz="1050" dirty="0"/>
          </a:p>
        </p:txBody>
      </p:sp>
      <p:sp>
        <p:nvSpPr>
          <p:cNvPr id="43" name="Shape 41"/>
          <p:cNvSpPr/>
          <p:nvPr/>
        </p:nvSpPr>
        <p:spPr>
          <a:xfrm>
            <a:off x="457200" y="4599432"/>
            <a:ext cx="2880360" cy="365760"/>
          </a:xfrm>
          <a:prstGeom prst="rect">
            <a:avLst/>
          </a:prstGeom>
          <a:solidFill>
            <a:srgbClr val="131A35"/>
          </a:solidFill>
          <a:ln w="9525">
            <a:solidFill>
              <a:srgbClr val="1E2D5A"/>
            </a:solidFill>
            <a:prstDash val="solid"/>
          </a:ln>
        </p:spPr>
        <p:txBody>
          <a:bodyPr/>
          <a:lstStyle/>
          <a:p>
            <a:endParaRPr lang="en-US"/>
          </a:p>
        </p:txBody>
      </p:sp>
      <p:sp>
        <p:nvSpPr>
          <p:cNvPr id="44" name="Shape 42"/>
          <p:cNvSpPr/>
          <p:nvPr/>
        </p:nvSpPr>
        <p:spPr>
          <a:xfrm>
            <a:off x="457200" y="4599432"/>
            <a:ext cx="54864" cy="365760"/>
          </a:xfrm>
          <a:prstGeom prst="rect">
            <a:avLst/>
          </a:prstGeom>
          <a:solidFill>
            <a:srgbClr val="8844DD"/>
          </a:solidFill>
          <a:ln w="12700">
            <a:solidFill>
              <a:srgbClr val="8844DD"/>
            </a:solidFill>
            <a:prstDash val="solid"/>
          </a:ln>
        </p:spPr>
        <p:txBody>
          <a:bodyPr/>
          <a:lstStyle/>
          <a:p>
            <a:endParaRPr lang="en-US"/>
          </a:p>
        </p:txBody>
      </p:sp>
      <p:sp>
        <p:nvSpPr>
          <p:cNvPr id="45" name="Text 43"/>
          <p:cNvSpPr/>
          <p:nvPr/>
        </p:nvSpPr>
        <p:spPr>
          <a:xfrm>
            <a:off x="621792" y="4599432"/>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System &amp; Communications Protection (SC)</a:t>
            </a:r>
            <a:endParaRPr lang="en-US" sz="1050" dirty="0"/>
          </a:p>
        </p:txBody>
      </p:sp>
      <p:sp>
        <p:nvSpPr>
          <p:cNvPr id="46" name="Shape 44"/>
          <p:cNvSpPr/>
          <p:nvPr/>
        </p:nvSpPr>
        <p:spPr>
          <a:xfrm>
            <a:off x="3410712" y="4599432"/>
            <a:ext cx="2880360" cy="365760"/>
          </a:xfrm>
          <a:prstGeom prst="rect">
            <a:avLst/>
          </a:prstGeom>
          <a:solidFill>
            <a:srgbClr val="131A35"/>
          </a:solidFill>
          <a:ln w="9525">
            <a:solidFill>
              <a:srgbClr val="1E2D5A"/>
            </a:solidFill>
            <a:prstDash val="solid"/>
          </a:ln>
        </p:spPr>
        <p:txBody>
          <a:bodyPr/>
          <a:lstStyle/>
          <a:p>
            <a:endParaRPr lang="en-US"/>
          </a:p>
        </p:txBody>
      </p:sp>
      <p:sp>
        <p:nvSpPr>
          <p:cNvPr id="47" name="Shape 45"/>
          <p:cNvSpPr/>
          <p:nvPr/>
        </p:nvSpPr>
        <p:spPr>
          <a:xfrm>
            <a:off x="3410712" y="4599432"/>
            <a:ext cx="54864" cy="365760"/>
          </a:xfrm>
          <a:prstGeom prst="rect">
            <a:avLst/>
          </a:prstGeom>
          <a:solidFill>
            <a:srgbClr val="8844DD"/>
          </a:solidFill>
          <a:ln w="12700">
            <a:solidFill>
              <a:srgbClr val="8844DD"/>
            </a:solidFill>
            <a:prstDash val="solid"/>
          </a:ln>
        </p:spPr>
        <p:txBody>
          <a:bodyPr/>
          <a:lstStyle/>
          <a:p>
            <a:endParaRPr lang="en-US"/>
          </a:p>
        </p:txBody>
      </p:sp>
      <p:sp>
        <p:nvSpPr>
          <p:cNvPr id="48" name="Text 46"/>
          <p:cNvSpPr/>
          <p:nvPr/>
        </p:nvSpPr>
        <p:spPr>
          <a:xfrm>
            <a:off x="3575304" y="4599432"/>
            <a:ext cx="2624328"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System &amp; Information Integrity (SI)</a:t>
            </a:r>
            <a:endParaRPr lang="en-US" sz="1050" dirty="0"/>
          </a:p>
        </p:txBody>
      </p:sp>
      <p:sp>
        <p:nvSpPr>
          <p:cNvPr id="49" name="Shape 47"/>
          <p:cNvSpPr/>
          <p:nvPr/>
        </p:nvSpPr>
        <p:spPr>
          <a:xfrm>
            <a:off x="6492240" y="1554480"/>
            <a:ext cx="1536192" cy="256032"/>
          </a:xfrm>
          <a:prstGeom prst="rect">
            <a:avLst/>
          </a:prstGeom>
          <a:solidFill>
            <a:srgbClr val="1E2D5A"/>
          </a:solidFill>
          <a:ln w="9525">
            <a:solidFill>
              <a:srgbClr val="F59E0B"/>
            </a:solidFill>
            <a:prstDash val="solid"/>
          </a:ln>
        </p:spPr>
        <p:txBody>
          <a:bodyPr/>
          <a:lstStyle/>
          <a:p>
            <a:endParaRPr lang="en-US"/>
          </a:p>
        </p:txBody>
      </p:sp>
      <p:sp>
        <p:nvSpPr>
          <p:cNvPr id="50" name="Text 48"/>
          <p:cNvSpPr/>
          <p:nvPr/>
        </p:nvSpPr>
        <p:spPr>
          <a:xfrm>
            <a:off x="6492240" y="1554480"/>
            <a:ext cx="1536192"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WHY IT MATTERS</a:t>
            </a:r>
            <a:endParaRPr lang="en-US" sz="900" dirty="0"/>
          </a:p>
        </p:txBody>
      </p:sp>
      <p:sp>
        <p:nvSpPr>
          <p:cNvPr id="51" name="Text 49"/>
          <p:cNvSpPr/>
          <p:nvPr/>
        </p:nvSpPr>
        <p:spPr>
          <a:xfrm>
            <a:off x="6492240" y="1965960"/>
            <a:ext cx="5212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Already required by your DFARS contracts</a:t>
            </a:r>
            <a:endParaRPr lang="en-US" sz="1200" dirty="0"/>
          </a:p>
        </p:txBody>
      </p:sp>
      <p:sp>
        <p:nvSpPr>
          <p:cNvPr id="52" name="Text 50"/>
          <p:cNvSpPr/>
          <p:nvPr/>
        </p:nvSpPr>
        <p:spPr>
          <a:xfrm>
            <a:off x="6492240" y="2258568"/>
            <a:ext cx="521208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DFARS 252.204-7012 already obligates contractors to implement NIST SP 800-171. CMMC Level 2 verifies you actually did it.</a:t>
            </a:r>
            <a:endParaRPr lang="en-US" sz="1000" dirty="0"/>
          </a:p>
        </p:txBody>
      </p:sp>
      <p:sp>
        <p:nvSpPr>
          <p:cNvPr id="53" name="Text 51"/>
          <p:cNvSpPr/>
          <p:nvPr/>
        </p:nvSpPr>
        <p:spPr>
          <a:xfrm>
            <a:off x="6492240" y="3044952"/>
            <a:ext cx="5212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SSP + POA&amp;M are the primary evidence</a:t>
            </a:r>
            <a:endParaRPr lang="en-US" sz="1200" dirty="0"/>
          </a:p>
        </p:txBody>
      </p:sp>
      <p:sp>
        <p:nvSpPr>
          <p:cNvPr id="54" name="Text 52"/>
          <p:cNvSpPr/>
          <p:nvPr/>
        </p:nvSpPr>
        <p:spPr>
          <a:xfrm>
            <a:off x="6492240" y="3337560"/>
            <a:ext cx="521208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 System Security Plan documents how each control is implemented. The POA&amp;M tracks open gaps. Both are reviewed at C3PAO assessment.</a:t>
            </a:r>
            <a:endParaRPr lang="en-US" sz="1000" dirty="0"/>
          </a:p>
        </p:txBody>
      </p:sp>
      <p:sp>
        <p:nvSpPr>
          <p:cNvPr id="55" name="Text 53"/>
          <p:cNvSpPr/>
          <p:nvPr/>
        </p:nvSpPr>
        <p:spPr>
          <a:xfrm>
            <a:off x="6492240" y="4123944"/>
            <a:ext cx="5212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Far beyond Level 1's 15 practices</a:t>
            </a:r>
            <a:endParaRPr lang="en-US" sz="1200" dirty="0"/>
          </a:p>
        </p:txBody>
      </p:sp>
      <p:sp>
        <p:nvSpPr>
          <p:cNvPr id="56" name="Text 54"/>
          <p:cNvSpPr/>
          <p:nvPr/>
        </p:nvSpPr>
        <p:spPr>
          <a:xfrm>
            <a:off x="6492240" y="4416552"/>
            <a:ext cx="521208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Rev. 2 adds audit logging, incident response, risk assessment, encryption, monitoring, and training. All required for CUI.</a:t>
            </a:r>
            <a:endParaRPr lang="en-US" sz="1000" dirty="0"/>
          </a:p>
        </p:txBody>
      </p:sp>
      <p:sp>
        <p:nvSpPr>
          <p:cNvPr id="57" name="Text 55"/>
          <p:cNvSpPr/>
          <p:nvPr/>
        </p:nvSpPr>
        <p:spPr>
          <a:xfrm>
            <a:off x="6492240" y="5202936"/>
            <a:ext cx="52120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320 assessment objectives behind the 110</a:t>
            </a:r>
            <a:endParaRPr lang="en-US" sz="1200" dirty="0"/>
          </a:p>
        </p:txBody>
      </p:sp>
      <p:sp>
        <p:nvSpPr>
          <p:cNvPr id="58" name="Text 56"/>
          <p:cNvSpPr/>
          <p:nvPr/>
        </p:nvSpPr>
        <p:spPr>
          <a:xfrm>
            <a:off x="6492240" y="5495544"/>
            <a:ext cx="521208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DoD scores against 320 individual objectives under the 110 requirements. Partial credit is not given.</a:t>
            </a:r>
            <a:endParaRPr lang="en-US" sz="1000" dirty="0"/>
          </a:p>
        </p:txBody>
      </p:sp>
      <p:sp>
        <p:nvSpPr>
          <p:cNvPr id="59" name="Shape 57"/>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60" name="Text 58"/>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61" name="Text 59"/>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4 / 23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You're Already Obligated by DFARS 252.204-7012</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Your CMMC obligation isn't really new. What's new is the verification. The contract clause has been in DoD contracts since 2017.</a:t>
            </a:r>
            <a:endParaRPr lang="en-US" sz="1300" dirty="0"/>
          </a:p>
        </p:txBody>
      </p:sp>
      <p:sp>
        <p:nvSpPr>
          <p:cNvPr id="5" name="Shape 3"/>
          <p:cNvSpPr/>
          <p:nvPr/>
        </p:nvSpPr>
        <p:spPr>
          <a:xfrm>
            <a:off x="457200" y="1554480"/>
            <a:ext cx="5760720" cy="324612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640080" y="1691640"/>
            <a:ext cx="1970532" cy="256032"/>
          </a:xfrm>
          <a:prstGeom prst="rect">
            <a:avLst/>
          </a:prstGeom>
          <a:solidFill>
            <a:srgbClr val="1E2D5A"/>
          </a:solidFill>
          <a:ln w="9525">
            <a:solidFill>
              <a:srgbClr val="F59E0B"/>
            </a:solidFill>
            <a:prstDash val="solid"/>
          </a:ln>
        </p:spPr>
        <p:txBody>
          <a:bodyPr/>
          <a:lstStyle/>
          <a:p>
            <a:endParaRPr lang="en-US"/>
          </a:p>
        </p:txBody>
      </p:sp>
      <p:sp>
        <p:nvSpPr>
          <p:cNvPr id="7" name="Text 5"/>
          <p:cNvSpPr/>
          <p:nvPr/>
        </p:nvSpPr>
        <p:spPr>
          <a:xfrm>
            <a:off x="640080" y="1691640"/>
            <a:ext cx="1970532"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THE CONTRACT CLAUSE</a:t>
            </a:r>
            <a:endParaRPr lang="en-US" sz="900" dirty="0"/>
          </a:p>
        </p:txBody>
      </p:sp>
      <p:sp>
        <p:nvSpPr>
          <p:cNvPr id="8" name="Text 6"/>
          <p:cNvSpPr/>
          <p:nvPr/>
        </p:nvSpPr>
        <p:spPr>
          <a:xfrm>
            <a:off x="640080" y="2011680"/>
            <a:ext cx="548640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DFARS 252.204-7012</a:t>
            </a:r>
            <a:endParaRPr lang="en-US" sz="2600" dirty="0"/>
          </a:p>
        </p:txBody>
      </p:sp>
      <p:sp>
        <p:nvSpPr>
          <p:cNvPr id="9" name="Text 7"/>
          <p:cNvSpPr/>
          <p:nvPr/>
        </p:nvSpPr>
        <p:spPr>
          <a:xfrm>
            <a:off x="640080" y="2468880"/>
            <a:ext cx="5486400" cy="320040"/>
          </a:xfrm>
          <a:prstGeom prst="rect">
            <a:avLst/>
          </a:prstGeom>
          <a:noFill/>
          <a:ln/>
        </p:spPr>
        <p:txBody>
          <a:bodyPr wrap="square" lIns="0" tIns="0" rIns="0" bIns="0" rtlCol="0" anchor="ctr"/>
          <a:lstStyle/>
          <a:p>
            <a:pPr marL="0" indent="0">
              <a:buNone/>
            </a:pPr>
            <a:r>
              <a:rPr lang="en-US" sz="1150" i="1" dirty="0">
                <a:solidFill>
                  <a:srgbClr val="E2E8F0"/>
                </a:solidFill>
                <a:latin typeface="Calibri" pitchFamily="34" charset="0"/>
                <a:ea typeface="Calibri" pitchFamily="34" charset="-122"/>
                <a:cs typeface="Calibri" pitchFamily="34" charset="-120"/>
              </a:rPr>
              <a:t>"Safeguarding Covered Defense Information and Cyber Incident Reporting"</a:t>
            </a:r>
            <a:endParaRPr lang="en-US" sz="1150" dirty="0"/>
          </a:p>
        </p:txBody>
      </p:sp>
      <p:sp>
        <p:nvSpPr>
          <p:cNvPr id="10" name="Shape 8"/>
          <p:cNvSpPr/>
          <p:nvPr/>
        </p:nvSpPr>
        <p:spPr>
          <a:xfrm>
            <a:off x="640080" y="2926080"/>
            <a:ext cx="5394960" cy="0"/>
          </a:xfrm>
          <a:prstGeom prst="line">
            <a:avLst/>
          </a:prstGeom>
          <a:noFill/>
          <a:ln w="9525">
            <a:solidFill>
              <a:srgbClr val="2233AA"/>
            </a:solidFill>
            <a:prstDash val="solid"/>
          </a:ln>
        </p:spPr>
        <p:txBody>
          <a:bodyPr/>
          <a:lstStyle/>
          <a:p>
            <a:endParaRPr lang="en-US"/>
          </a:p>
        </p:txBody>
      </p:sp>
      <p:sp>
        <p:nvSpPr>
          <p:cNvPr id="11" name="Text 9"/>
          <p:cNvSpPr/>
          <p:nvPr/>
        </p:nvSpPr>
        <p:spPr>
          <a:xfrm>
            <a:off x="640080" y="3063240"/>
            <a:ext cx="5486400" cy="1645920"/>
          </a:xfrm>
          <a:prstGeom prst="rect">
            <a:avLst/>
          </a:prstGeom>
          <a:noFill/>
          <a:ln/>
        </p:spPr>
        <p:txBody>
          <a:bodyPr wrap="square" lIns="0" tIns="0" rIns="0" bIns="0" rtlCol="0" anchor="t"/>
          <a:lstStyle/>
          <a:p>
            <a:pPr marL="0" indent="0">
              <a:spcAft>
                <a:spcPts val="300"/>
              </a:spcAft>
              <a:buNone/>
            </a:pPr>
            <a:r>
              <a:rPr lang="en-US" sz="1150" b="1" dirty="0">
                <a:solidFill>
                  <a:srgbClr val="FFFFFF"/>
                </a:solidFill>
                <a:latin typeface="Calibri" pitchFamily="34" charset="0"/>
                <a:ea typeface="Calibri" pitchFamily="34" charset="-122"/>
                <a:cs typeface="Calibri" pitchFamily="34" charset="-120"/>
              </a:rPr>
              <a:t>This clause is already in your Army, Navy, and Air Force contracts right now. </a:t>
            </a:r>
            <a:endParaRPr lang="en-US" sz="1150" dirty="0"/>
          </a:p>
          <a:p>
            <a:pPr marL="0" indent="0">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150" dirty="0"/>
          </a:p>
          <a:p>
            <a:pPr marL="0" indent="0">
              <a:spcAft>
                <a:spcPts val="300"/>
              </a:spcAft>
              <a:buNone/>
            </a:pPr>
            <a:r>
              <a:rPr lang="en-US" sz="1150" dirty="0">
                <a:solidFill>
                  <a:srgbClr val="E2E8F0"/>
                </a:solidFill>
                <a:latin typeface="Calibri" pitchFamily="34" charset="0"/>
                <a:ea typeface="Calibri" pitchFamily="34" charset="-122"/>
                <a:cs typeface="Calibri" pitchFamily="34" charset="-120"/>
              </a:rPr>
              <a:t>It requires contractors who store, process, or transmit Covered Defense Information (CDI / CUI) to implement </a:t>
            </a:r>
            <a:r>
              <a:rPr lang="en-US" sz="1150" b="1" dirty="0">
                <a:solidFill>
                  <a:srgbClr val="FFFFFF"/>
                </a:solidFill>
                <a:latin typeface="Calibri" pitchFamily="34" charset="0"/>
                <a:ea typeface="Calibri" pitchFamily="34" charset="-122"/>
                <a:cs typeface="Calibri" pitchFamily="34" charset="-120"/>
              </a:rPr>
              <a:t>all 110 security requirements of NIST SP 800-171 Rev. 2</a:t>
            </a:r>
            <a:r>
              <a:rPr lang="en-US" sz="1150" dirty="0">
                <a:solidFill>
                  <a:srgbClr val="E2E8F0"/>
                </a:solidFill>
                <a:latin typeface="Calibri" pitchFamily="34" charset="0"/>
                <a:ea typeface="Calibri" pitchFamily="34" charset="-122"/>
                <a:cs typeface="Calibri" pitchFamily="34" charset="-120"/>
              </a:rPr>
              <a:t> on any system handling that data.</a:t>
            </a:r>
            <a:endParaRPr lang="en-US" sz="1150" dirty="0"/>
          </a:p>
          <a:p>
            <a:pPr marL="0" indent="0">
              <a:spcAft>
                <a:spcPts val="300"/>
              </a:spcAft>
              <a:buNone/>
            </a:pPr>
            <a:r>
              <a:rPr lang="en-US" sz="400" dirty="0">
                <a:solidFill>
                  <a:srgbClr val="000000"/>
                </a:solidFill>
                <a:latin typeface="Calibri" pitchFamily="34" charset="0"/>
                <a:ea typeface="Calibri" pitchFamily="34" charset="-122"/>
                <a:cs typeface="Calibri" pitchFamily="34" charset="-120"/>
              </a:rPr>
              <a:t> </a:t>
            </a:r>
            <a:endParaRPr lang="en-US" sz="1150" dirty="0"/>
          </a:p>
          <a:p>
            <a:pPr marL="0" indent="0">
              <a:spcAft>
                <a:spcPts val="300"/>
              </a:spcAft>
              <a:buNone/>
            </a:pPr>
            <a:r>
              <a:rPr lang="en-US" sz="1150" dirty="0">
                <a:solidFill>
                  <a:srgbClr val="E2E8F0"/>
                </a:solidFill>
                <a:latin typeface="Calibri" pitchFamily="34" charset="0"/>
                <a:ea typeface="Calibri" pitchFamily="34" charset="-122"/>
                <a:cs typeface="Calibri" pitchFamily="34" charset="-120"/>
              </a:rPr>
              <a:t>CMMC does not change this obligation; it just adds </a:t>
            </a:r>
            <a:r>
              <a:rPr lang="en-US" sz="1150" b="1" dirty="0">
                <a:solidFill>
                  <a:srgbClr val="60A3F1"/>
                </a:solidFill>
                <a:latin typeface="Calibri" pitchFamily="34" charset="0"/>
                <a:ea typeface="Calibri" pitchFamily="34" charset="-122"/>
                <a:cs typeface="Calibri" pitchFamily="34" charset="-120"/>
              </a:rPr>
              <a:t>independent verification </a:t>
            </a:r>
            <a:r>
              <a:rPr lang="en-US" sz="1150" dirty="0">
                <a:solidFill>
                  <a:srgbClr val="E2E8F0"/>
                </a:solidFill>
                <a:latin typeface="Calibri" pitchFamily="34" charset="0"/>
                <a:ea typeface="Calibri" pitchFamily="34" charset="-122"/>
                <a:cs typeface="Calibri" pitchFamily="34" charset="-120"/>
              </a:rPr>
              <a:t>that you are meeting it.</a:t>
            </a:r>
            <a:endParaRPr lang="en-US" sz="1150" dirty="0"/>
          </a:p>
        </p:txBody>
      </p:sp>
      <p:sp>
        <p:nvSpPr>
          <p:cNvPr id="12" name="Shape 10"/>
          <p:cNvSpPr/>
          <p:nvPr/>
        </p:nvSpPr>
        <p:spPr>
          <a:xfrm>
            <a:off x="457200" y="4937760"/>
            <a:ext cx="5760720" cy="1280160"/>
          </a:xfrm>
          <a:prstGeom prst="rect">
            <a:avLst/>
          </a:prstGeom>
          <a:solidFill>
            <a:srgbClr val="1E2D5A"/>
          </a:solidFill>
          <a:ln w="9525">
            <a:solidFill>
              <a:srgbClr val="1E2D5A"/>
            </a:solidFill>
            <a:prstDash val="solid"/>
          </a:ln>
        </p:spPr>
        <p:txBody>
          <a:bodyPr/>
          <a:lstStyle/>
          <a:p>
            <a:endParaRPr lang="en-US"/>
          </a:p>
        </p:txBody>
      </p:sp>
      <p:sp>
        <p:nvSpPr>
          <p:cNvPr id="13" name="Shape 11"/>
          <p:cNvSpPr/>
          <p:nvPr/>
        </p:nvSpPr>
        <p:spPr>
          <a:xfrm>
            <a:off x="457200" y="4937760"/>
            <a:ext cx="73152" cy="128016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640080" y="5029200"/>
            <a:ext cx="5486400" cy="228600"/>
          </a:xfrm>
          <a:prstGeom prst="rect">
            <a:avLst/>
          </a:prstGeom>
          <a:noFill/>
          <a:ln/>
        </p:spPr>
        <p:txBody>
          <a:bodyPr wrap="square" lIns="0" tIns="0" rIns="0" bIns="0"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THE PRACTICAL IMPLICATION</a:t>
            </a:r>
            <a:endParaRPr lang="en-US" sz="1000" dirty="0"/>
          </a:p>
        </p:txBody>
      </p:sp>
      <p:sp>
        <p:nvSpPr>
          <p:cNvPr id="15" name="Text 13"/>
          <p:cNvSpPr/>
          <p:nvPr/>
        </p:nvSpPr>
        <p:spPr>
          <a:xfrm>
            <a:off x="640080" y="5285232"/>
            <a:ext cx="5486400" cy="91440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Implementing 800-171 isn't a CMMC project; it's a contractual obligation you may already be in breach of. The assessment will just reveal where you stand, which is the same posture your DFARS contracts have required all along.</a:t>
            </a:r>
            <a:endParaRPr lang="en-US" sz="1050" dirty="0"/>
          </a:p>
        </p:txBody>
      </p:sp>
      <p:sp>
        <p:nvSpPr>
          <p:cNvPr id="16" name="Shape 14"/>
          <p:cNvSpPr/>
          <p:nvPr/>
        </p:nvSpPr>
        <p:spPr>
          <a:xfrm>
            <a:off x="6400800" y="1554480"/>
            <a:ext cx="3186684" cy="256032"/>
          </a:xfrm>
          <a:prstGeom prst="rect">
            <a:avLst/>
          </a:prstGeom>
          <a:solidFill>
            <a:srgbClr val="1E2D5A"/>
          </a:solidFill>
          <a:ln w="9525">
            <a:solidFill>
              <a:srgbClr val="F59E0B"/>
            </a:solidFill>
            <a:prstDash val="solid"/>
          </a:ln>
        </p:spPr>
        <p:txBody>
          <a:bodyPr/>
          <a:lstStyle/>
          <a:p>
            <a:endParaRPr lang="en-US"/>
          </a:p>
        </p:txBody>
      </p:sp>
      <p:sp>
        <p:nvSpPr>
          <p:cNvPr id="17" name="Text 15"/>
          <p:cNvSpPr/>
          <p:nvPr/>
        </p:nvSpPr>
        <p:spPr>
          <a:xfrm>
            <a:off x="6400800" y="1554480"/>
            <a:ext cx="3186684"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WHAT 7012 ALREADY REQUIRES OF YOU</a:t>
            </a:r>
            <a:endParaRPr lang="en-US" sz="900" dirty="0"/>
          </a:p>
        </p:txBody>
      </p:sp>
      <p:sp>
        <p:nvSpPr>
          <p:cNvPr id="18" name="Shape 16"/>
          <p:cNvSpPr/>
          <p:nvPr/>
        </p:nvSpPr>
        <p:spPr>
          <a:xfrm>
            <a:off x="6400800" y="1984248"/>
            <a:ext cx="274320" cy="274320"/>
          </a:xfrm>
          <a:prstGeom prst="ellipse">
            <a:avLst/>
          </a:prstGeom>
          <a:solidFill>
            <a:srgbClr val="8844DD"/>
          </a:solidFill>
          <a:ln w="12700">
            <a:solidFill>
              <a:srgbClr val="8844DD"/>
            </a:solidFill>
            <a:prstDash val="solid"/>
          </a:ln>
        </p:spPr>
        <p:txBody>
          <a:bodyPr/>
          <a:lstStyle/>
          <a:p>
            <a:endParaRPr lang="en-US"/>
          </a:p>
        </p:txBody>
      </p:sp>
      <p:sp>
        <p:nvSpPr>
          <p:cNvPr id="19" name="Text 17"/>
          <p:cNvSpPr/>
          <p:nvPr/>
        </p:nvSpPr>
        <p:spPr>
          <a:xfrm>
            <a:off x="6400800" y="19842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6766560" y="1965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Implement NIST SP 800-171</a:t>
            </a:r>
            <a:endParaRPr lang="en-US" sz="1200" dirty="0"/>
          </a:p>
        </p:txBody>
      </p:sp>
      <p:sp>
        <p:nvSpPr>
          <p:cNvPr id="21" name="Text 19"/>
          <p:cNvSpPr/>
          <p:nvPr/>
        </p:nvSpPr>
        <p:spPr>
          <a:xfrm>
            <a:off x="6766560" y="2258568"/>
            <a:ext cx="4937760" cy="6858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All 110 controls on any system handling CUI. Required as soon as the clause is in your contract, long before CMMC.</a:t>
            </a:r>
            <a:endParaRPr lang="en-US" sz="1000" dirty="0"/>
          </a:p>
        </p:txBody>
      </p:sp>
      <p:sp>
        <p:nvSpPr>
          <p:cNvPr id="22" name="Shape 20"/>
          <p:cNvSpPr/>
          <p:nvPr/>
        </p:nvSpPr>
        <p:spPr>
          <a:xfrm>
            <a:off x="6400800" y="3017520"/>
            <a:ext cx="274320" cy="274320"/>
          </a:xfrm>
          <a:prstGeom prst="ellipse">
            <a:avLst/>
          </a:prstGeom>
          <a:solidFill>
            <a:srgbClr val="8844DD"/>
          </a:solidFill>
          <a:ln w="12700">
            <a:solidFill>
              <a:srgbClr val="8844DD"/>
            </a:solidFill>
            <a:prstDash val="solid"/>
          </a:ln>
        </p:spPr>
        <p:txBody>
          <a:bodyPr/>
          <a:lstStyle/>
          <a:p>
            <a:endParaRPr lang="en-US"/>
          </a:p>
        </p:txBody>
      </p:sp>
      <p:sp>
        <p:nvSpPr>
          <p:cNvPr id="23" name="Text 21"/>
          <p:cNvSpPr/>
          <p:nvPr/>
        </p:nvSpPr>
        <p:spPr>
          <a:xfrm>
            <a:off x="6400800" y="3017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Text 22"/>
          <p:cNvSpPr/>
          <p:nvPr/>
        </p:nvSpPr>
        <p:spPr>
          <a:xfrm>
            <a:off x="6766560" y="2999232"/>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Report cyber incidents within 72 hours</a:t>
            </a:r>
            <a:endParaRPr lang="en-US" sz="1200" dirty="0"/>
          </a:p>
        </p:txBody>
      </p:sp>
      <p:sp>
        <p:nvSpPr>
          <p:cNvPr id="25" name="Text 23"/>
          <p:cNvSpPr/>
          <p:nvPr/>
        </p:nvSpPr>
        <p:spPr>
          <a:xfrm>
            <a:off x="6766560" y="3291840"/>
            <a:ext cx="4937760" cy="6858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Rapid reporting to DoD via DIBNet at dibnet.dod.mil. Includes preservation of images and access for forensic review.</a:t>
            </a:r>
            <a:endParaRPr lang="en-US" sz="1000" dirty="0"/>
          </a:p>
        </p:txBody>
      </p:sp>
      <p:sp>
        <p:nvSpPr>
          <p:cNvPr id="26" name="Shape 24"/>
          <p:cNvSpPr/>
          <p:nvPr/>
        </p:nvSpPr>
        <p:spPr>
          <a:xfrm>
            <a:off x="6400800" y="4050792"/>
            <a:ext cx="274320" cy="274320"/>
          </a:xfrm>
          <a:prstGeom prst="ellipse">
            <a:avLst/>
          </a:prstGeom>
          <a:solidFill>
            <a:srgbClr val="8844DD"/>
          </a:solidFill>
          <a:ln w="12700">
            <a:solidFill>
              <a:srgbClr val="8844DD"/>
            </a:solidFill>
            <a:prstDash val="solid"/>
          </a:ln>
        </p:spPr>
        <p:txBody>
          <a:bodyPr/>
          <a:lstStyle/>
          <a:p>
            <a:endParaRPr lang="en-US"/>
          </a:p>
        </p:txBody>
      </p:sp>
      <p:sp>
        <p:nvSpPr>
          <p:cNvPr id="27" name="Text 25"/>
          <p:cNvSpPr/>
          <p:nvPr/>
        </p:nvSpPr>
        <p:spPr>
          <a:xfrm>
            <a:off x="6400800" y="405079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Text 26"/>
          <p:cNvSpPr/>
          <p:nvPr/>
        </p:nvSpPr>
        <p:spPr>
          <a:xfrm>
            <a:off x="6766560" y="4032504"/>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Cloud services must meet FedRAMP Moderate (or equivalent)</a:t>
            </a:r>
            <a:endParaRPr lang="en-US" sz="1200" dirty="0"/>
          </a:p>
        </p:txBody>
      </p:sp>
      <p:sp>
        <p:nvSpPr>
          <p:cNvPr id="29" name="Text 27"/>
          <p:cNvSpPr/>
          <p:nvPr/>
        </p:nvSpPr>
        <p:spPr>
          <a:xfrm>
            <a:off x="6766560" y="4325112"/>
            <a:ext cx="4937760" cy="6858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Any external cloud handling CUI must hold FedRAMP Moderate ATO or demonstrate equivalency. Standard commercial cloud does not qualify.</a:t>
            </a:r>
            <a:endParaRPr lang="en-US" sz="1000" dirty="0"/>
          </a:p>
        </p:txBody>
      </p:sp>
      <p:sp>
        <p:nvSpPr>
          <p:cNvPr id="30" name="Shape 28"/>
          <p:cNvSpPr/>
          <p:nvPr/>
        </p:nvSpPr>
        <p:spPr>
          <a:xfrm>
            <a:off x="6400800" y="5084064"/>
            <a:ext cx="274320" cy="274320"/>
          </a:xfrm>
          <a:prstGeom prst="ellipse">
            <a:avLst/>
          </a:prstGeom>
          <a:solidFill>
            <a:srgbClr val="8844DD"/>
          </a:solidFill>
          <a:ln w="12700">
            <a:solidFill>
              <a:srgbClr val="8844DD"/>
            </a:solidFill>
            <a:prstDash val="solid"/>
          </a:ln>
        </p:spPr>
        <p:txBody>
          <a:bodyPr/>
          <a:lstStyle/>
          <a:p>
            <a:endParaRPr lang="en-US"/>
          </a:p>
        </p:txBody>
      </p:sp>
      <p:sp>
        <p:nvSpPr>
          <p:cNvPr id="31" name="Text 29"/>
          <p:cNvSpPr/>
          <p:nvPr/>
        </p:nvSpPr>
        <p:spPr>
          <a:xfrm>
            <a:off x="6400800" y="5084064"/>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6766560" y="5065776"/>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Flow the clause down to subcontractors</a:t>
            </a:r>
            <a:endParaRPr lang="en-US" sz="1200" dirty="0"/>
          </a:p>
        </p:txBody>
      </p:sp>
      <p:sp>
        <p:nvSpPr>
          <p:cNvPr id="33" name="Text 31"/>
          <p:cNvSpPr/>
          <p:nvPr/>
        </p:nvSpPr>
        <p:spPr>
          <a:xfrm>
            <a:off x="6766560" y="5358384"/>
            <a:ext cx="4937760" cy="68580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If a sub handles CUI under your contract, 7012 flows down to them. Their compliance is your contractual problem.</a:t>
            </a:r>
            <a:endParaRPr lang="en-US" sz="1000" dirty="0"/>
          </a:p>
        </p:txBody>
      </p:sp>
      <p:sp>
        <p:nvSpPr>
          <p:cNvPr id="34" name="Shape 32"/>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5" name="Text 33"/>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6" name="Text 34"/>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 / 23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“Can’t We Just Do Level 1 and NIST 800-171?”</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A common question, and why the framing itself is mistaken.</a:t>
            </a:r>
            <a:endParaRPr lang="en-US" sz="1300" dirty="0"/>
          </a:p>
        </p:txBody>
      </p:sp>
      <p:sp>
        <p:nvSpPr>
          <p:cNvPr id="5" name="Shape 3"/>
          <p:cNvSpPr/>
          <p:nvPr/>
        </p:nvSpPr>
        <p:spPr>
          <a:xfrm>
            <a:off x="457200" y="1600200"/>
            <a:ext cx="11277295" cy="141732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600200"/>
            <a:ext cx="73152" cy="1417320"/>
          </a:xfrm>
          <a:prstGeom prst="rect">
            <a:avLst/>
          </a:prstGeom>
          <a:solidFill>
            <a:srgbClr val="F59E0B"/>
          </a:solidFill>
          <a:ln w="12700">
            <a:solidFill>
              <a:srgbClr val="F59E0B"/>
            </a:solidFill>
            <a:prstDash val="solid"/>
          </a:ln>
        </p:spPr>
        <p:txBody>
          <a:bodyPr/>
          <a:lstStyle/>
          <a:p>
            <a:endParaRPr lang="en-US"/>
          </a:p>
        </p:txBody>
      </p:sp>
      <p:sp>
        <p:nvSpPr>
          <p:cNvPr id="7" name="Shape 5"/>
          <p:cNvSpPr/>
          <p:nvPr/>
        </p:nvSpPr>
        <p:spPr>
          <a:xfrm>
            <a:off x="685800" y="1764792"/>
            <a:ext cx="1709928" cy="256032"/>
          </a:xfrm>
          <a:prstGeom prst="rect">
            <a:avLst/>
          </a:prstGeom>
          <a:solidFill>
            <a:srgbClr val="1E2D5A"/>
          </a:solidFill>
          <a:ln w="9525">
            <a:solidFill>
              <a:srgbClr val="F59E0B"/>
            </a:solidFill>
            <a:prstDash val="solid"/>
          </a:ln>
        </p:spPr>
        <p:txBody>
          <a:bodyPr/>
          <a:lstStyle/>
          <a:p>
            <a:endParaRPr lang="en-US"/>
          </a:p>
        </p:txBody>
      </p:sp>
      <p:sp>
        <p:nvSpPr>
          <p:cNvPr id="8" name="Text 6"/>
          <p:cNvSpPr/>
          <p:nvPr/>
        </p:nvSpPr>
        <p:spPr>
          <a:xfrm>
            <a:off x="685800" y="1764792"/>
            <a:ext cx="1709928"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THE RELATIONSHIP</a:t>
            </a:r>
            <a:endParaRPr lang="en-US" sz="900" dirty="0"/>
          </a:p>
        </p:txBody>
      </p:sp>
      <p:sp>
        <p:nvSpPr>
          <p:cNvPr id="9" name="Text 7"/>
          <p:cNvSpPr/>
          <p:nvPr/>
        </p:nvSpPr>
        <p:spPr>
          <a:xfrm>
            <a:off x="685800" y="2057400"/>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NIST 800-171 is the foundation. CMMC is the verification layer on top.</a:t>
            </a:r>
            <a:endParaRPr lang="en-US" sz="1500" dirty="0"/>
          </a:p>
        </p:txBody>
      </p:sp>
      <p:sp>
        <p:nvSpPr>
          <p:cNvPr id="10" name="Text 8"/>
          <p:cNvSpPr/>
          <p:nvPr/>
        </p:nvSpPr>
        <p:spPr>
          <a:xfrm>
            <a:off x="685800" y="2441448"/>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CMMC Level 2 is built entirely on NIST SP 800-171 Rev. 2. All 110 requirements, identical control set. You cannot separate them: implementing 800-171 IS the Level 2 technical work. CMMC adds the mandatory independent assessment confirming you actually did it. Level 1 covers only 15 of those 110 (the FAR 52.204-21 basics).</a:t>
            </a:r>
            <a:endParaRPr lang="en-US" sz="1100" dirty="0"/>
          </a:p>
        </p:txBody>
      </p:sp>
      <p:sp>
        <p:nvSpPr>
          <p:cNvPr id="11" name="Shape 9"/>
          <p:cNvSpPr/>
          <p:nvPr/>
        </p:nvSpPr>
        <p:spPr>
          <a:xfrm>
            <a:off x="457200" y="3182112"/>
            <a:ext cx="11277295" cy="1417320"/>
          </a:xfrm>
          <a:prstGeom prst="rect">
            <a:avLst/>
          </a:prstGeom>
          <a:solidFill>
            <a:srgbClr val="131A35"/>
          </a:solidFill>
          <a:ln w="9525">
            <a:solidFill>
              <a:srgbClr val="1E2D5A"/>
            </a:solidFill>
            <a:prstDash val="solid"/>
          </a:ln>
        </p:spPr>
        <p:txBody>
          <a:bodyPr/>
          <a:lstStyle/>
          <a:p>
            <a:endParaRPr lang="en-US"/>
          </a:p>
        </p:txBody>
      </p:sp>
      <p:sp>
        <p:nvSpPr>
          <p:cNvPr id="12" name="Shape 10"/>
          <p:cNvSpPr/>
          <p:nvPr/>
        </p:nvSpPr>
        <p:spPr>
          <a:xfrm>
            <a:off x="457200" y="3182112"/>
            <a:ext cx="73152" cy="1417320"/>
          </a:xfrm>
          <a:prstGeom prst="rect">
            <a:avLst/>
          </a:prstGeom>
          <a:solidFill>
            <a:srgbClr val="60A3F1"/>
          </a:solidFill>
          <a:ln w="12700">
            <a:solidFill>
              <a:srgbClr val="60A3F1"/>
            </a:solidFill>
            <a:prstDash val="solid"/>
          </a:ln>
        </p:spPr>
        <p:txBody>
          <a:bodyPr/>
          <a:lstStyle/>
          <a:p>
            <a:endParaRPr lang="en-US"/>
          </a:p>
        </p:txBody>
      </p:sp>
      <p:sp>
        <p:nvSpPr>
          <p:cNvPr id="13" name="Shape 11"/>
          <p:cNvSpPr/>
          <p:nvPr/>
        </p:nvSpPr>
        <p:spPr>
          <a:xfrm>
            <a:off x="685800" y="3346704"/>
            <a:ext cx="1097280" cy="256032"/>
          </a:xfrm>
          <a:prstGeom prst="rect">
            <a:avLst/>
          </a:prstGeom>
          <a:solidFill>
            <a:srgbClr val="1E2D5A"/>
          </a:solidFill>
          <a:ln w="9525">
            <a:solidFill>
              <a:srgbClr val="60A3F1"/>
            </a:solidFill>
            <a:prstDash val="solid"/>
          </a:ln>
        </p:spPr>
        <p:txBody>
          <a:bodyPr/>
          <a:lstStyle/>
          <a:p>
            <a:endParaRPr lang="en-US"/>
          </a:p>
        </p:txBody>
      </p:sp>
      <p:sp>
        <p:nvSpPr>
          <p:cNvPr id="14" name="Text 12"/>
          <p:cNvSpPr/>
          <p:nvPr/>
        </p:nvSpPr>
        <p:spPr>
          <a:xfrm>
            <a:off x="685800" y="3346704"/>
            <a:ext cx="1097280" cy="256032"/>
          </a:xfrm>
          <a:prstGeom prst="rect">
            <a:avLst/>
          </a:prstGeom>
          <a:noFill/>
          <a:ln/>
        </p:spPr>
        <p:txBody>
          <a:bodyPr wrap="square" lIns="0" tIns="0" rIns="0" bIns="0" rtlCol="0" anchor="ctr"/>
          <a:lstStyle/>
          <a:p>
            <a:pPr marL="0" indent="0" algn="ctr">
              <a:buNone/>
            </a:pPr>
            <a:r>
              <a:rPr lang="en-US" sz="900" b="1" kern="0" spc="200" dirty="0">
                <a:solidFill>
                  <a:srgbClr val="60A3F1"/>
                </a:solidFill>
                <a:latin typeface="Calibri" pitchFamily="34" charset="0"/>
                <a:ea typeface="Calibri" pitchFamily="34" charset="-122"/>
                <a:cs typeface="Calibri" pitchFamily="34" charset="-120"/>
              </a:rPr>
              <a:t>THE GAP</a:t>
            </a:r>
            <a:endParaRPr lang="en-US" sz="900" dirty="0"/>
          </a:p>
        </p:txBody>
      </p:sp>
      <p:sp>
        <p:nvSpPr>
          <p:cNvPr id="15" name="Text 13"/>
          <p:cNvSpPr/>
          <p:nvPr/>
        </p:nvSpPr>
        <p:spPr>
          <a:xfrm>
            <a:off x="685800" y="3639312"/>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Level 1's 15 practices cover basics. 800-171's other 95 controls cover everything CUI actually needs.</a:t>
            </a:r>
            <a:endParaRPr lang="en-US" sz="1500" dirty="0"/>
          </a:p>
        </p:txBody>
      </p:sp>
      <p:sp>
        <p:nvSpPr>
          <p:cNvPr id="16" name="Text 14"/>
          <p:cNvSpPr/>
          <p:nvPr/>
        </p:nvSpPr>
        <p:spPr>
          <a:xfrm>
            <a:off x="685800" y="4023360"/>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Level 1 addresses basic hygiene: limit access, screen people, protect media, manage configs. The remaining 95 controls address what Level 1 skips entirely: audit logging, incident response, risk assessment, system monitoring, CUI encryption, secure configurations. All required when CUI is in scope.</a:t>
            </a:r>
            <a:endParaRPr lang="en-US" sz="1100" dirty="0"/>
          </a:p>
        </p:txBody>
      </p:sp>
      <p:sp>
        <p:nvSpPr>
          <p:cNvPr id="17" name="Shape 15"/>
          <p:cNvSpPr/>
          <p:nvPr/>
        </p:nvSpPr>
        <p:spPr>
          <a:xfrm>
            <a:off x="457200" y="4764024"/>
            <a:ext cx="11277295" cy="1417320"/>
          </a:xfrm>
          <a:prstGeom prst="rect">
            <a:avLst/>
          </a:prstGeom>
          <a:solidFill>
            <a:srgbClr val="131A35"/>
          </a:solidFill>
          <a:ln w="9525">
            <a:solidFill>
              <a:srgbClr val="1E2D5A"/>
            </a:solidFill>
            <a:prstDash val="solid"/>
          </a:ln>
        </p:spPr>
        <p:txBody>
          <a:bodyPr/>
          <a:lstStyle/>
          <a:p>
            <a:endParaRPr lang="en-US"/>
          </a:p>
        </p:txBody>
      </p:sp>
      <p:sp>
        <p:nvSpPr>
          <p:cNvPr id="18" name="Shape 16"/>
          <p:cNvSpPr/>
          <p:nvPr/>
        </p:nvSpPr>
        <p:spPr>
          <a:xfrm>
            <a:off x="457200" y="4764024"/>
            <a:ext cx="73152" cy="1417320"/>
          </a:xfrm>
          <a:prstGeom prst="rect">
            <a:avLst/>
          </a:prstGeom>
          <a:solidFill>
            <a:srgbClr val="10B981"/>
          </a:solidFill>
          <a:ln w="12700">
            <a:solidFill>
              <a:srgbClr val="10B981"/>
            </a:solidFill>
            <a:prstDash val="solid"/>
          </a:ln>
        </p:spPr>
        <p:txBody>
          <a:bodyPr/>
          <a:lstStyle/>
          <a:p>
            <a:endParaRPr lang="en-US"/>
          </a:p>
        </p:txBody>
      </p:sp>
      <p:sp>
        <p:nvSpPr>
          <p:cNvPr id="19" name="Shape 17"/>
          <p:cNvSpPr/>
          <p:nvPr/>
        </p:nvSpPr>
        <p:spPr>
          <a:xfrm>
            <a:off x="685800" y="4928616"/>
            <a:ext cx="2057400" cy="256032"/>
          </a:xfrm>
          <a:prstGeom prst="rect">
            <a:avLst/>
          </a:prstGeom>
          <a:solidFill>
            <a:srgbClr val="1E2D5A"/>
          </a:solidFill>
          <a:ln w="9525">
            <a:solidFill>
              <a:srgbClr val="10B981"/>
            </a:solidFill>
            <a:prstDash val="solid"/>
          </a:ln>
        </p:spPr>
        <p:txBody>
          <a:bodyPr/>
          <a:lstStyle/>
          <a:p>
            <a:endParaRPr lang="en-US"/>
          </a:p>
        </p:txBody>
      </p:sp>
      <p:sp>
        <p:nvSpPr>
          <p:cNvPr id="20" name="Text 18"/>
          <p:cNvSpPr/>
          <p:nvPr/>
        </p:nvSpPr>
        <p:spPr>
          <a:xfrm>
            <a:off x="685800" y="4928616"/>
            <a:ext cx="2057400" cy="256032"/>
          </a:xfrm>
          <a:prstGeom prst="rect">
            <a:avLst/>
          </a:prstGeom>
          <a:noFill/>
          <a:ln/>
        </p:spPr>
        <p:txBody>
          <a:bodyPr wrap="square" lIns="0" tIns="0" rIns="0" bIns="0" rtlCol="0" anchor="ctr"/>
          <a:lstStyle/>
          <a:p>
            <a:pPr marL="0" indent="0" algn="ctr">
              <a:buNone/>
            </a:pPr>
            <a:r>
              <a:rPr lang="en-US" sz="900" b="1" kern="0" spc="200" dirty="0">
                <a:solidFill>
                  <a:srgbClr val="10B981"/>
                </a:solidFill>
                <a:latin typeface="Calibri" pitchFamily="34" charset="0"/>
                <a:ea typeface="Calibri" pitchFamily="34" charset="-122"/>
                <a:cs typeface="Calibri" pitchFamily="34" charset="-120"/>
              </a:rPr>
              <a:t>THE PRACTICAL UPSHOT</a:t>
            </a:r>
            <a:endParaRPr lang="en-US" sz="900" dirty="0"/>
          </a:p>
        </p:txBody>
      </p:sp>
      <p:sp>
        <p:nvSpPr>
          <p:cNvPr id="21" name="Text 19"/>
          <p:cNvSpPr/>
          <p:nvPr/>
        </p:nvSpPr>
        <p:spPr>
          <a:xfrm>
            <a:off x="685800" y="5221224"/>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If your contract has DFARS 7012, you implement 800-171 once and that work IS your Level 2 path.</a:t>
            </a:r>
            <a:endParaRPr lang="en-US" sz="1500" dirty="0"/>
          </a:p>
        </p:txBody>
      </p:sp>
      <p:sp>
        <p:nvSpPr>
          <p:cNvPr id="22" name="Text 20"/>
          <p:cNvSpPr/>
          <p:nvPr/>
        </p:nvSpPr>
        <p:spPr>
          <a:xfrm>
            <a:off x="685800" y="5605272"/>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There is no scenario where you implement 800-171 and remain at Level 1. The controls required and the certification required are one and the same path. The only choice is whether you finish the work voluntarily now, or scramble when C3PAO assessment becomes a condition of award.</a:t>
            </a:r>
            <a:endParaRPr lang="en-US" sz="1100" dirty="0"/>
          </a:p>
        </p:txBody>
      </p:sp>
      <p:sp>
        <p:nvSpPr>
          <p:cNvPr id="23" name="Shape 21"/>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24" name="Text 22"/>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25" name="Text 23"/>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6 / 23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FCI vs. CUI, and Which Level Applies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Your data type determines your CMMC level. Not company size or contract value.</a:t>
            </a:r>
            <a:endParaRPr lang="en-US" sz="1300" dirty="0"/>
          </a:p>
        </p:txBody>
      </p:sp>
      <p:sp>
        <p:nvSpPr>
          <p:cNvPr id="5" name="Shape 3"/>
          <p:cNvSpPr/>
          <p:nvPr/>
        </p:nvSpPr>
        <p:spPr>
          <a:xfrm>
            <a:off x="457200" y="1600200"/>
            <a:ext cx="5440680" cy="44348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600200"/>
            <a:ext cx="5440680" cy="457200"/>
          </a:xfrm>
          <a:prstGeom prst="rect">
            <a:avLst/>
          </a:prstGeom>
          <a:solidFill>
            <a:srgbClr val="1E2D5A"/>
          </a:solidFill>
          <a:ln w="12700">
            <a:solidFill>
              <a:srgbClr val="1E2D5A"/>
            </a:solidFill>
            <a:prstDash val="solid"/>
          </a:ln>
        </p:spPr>
        <p:txBody>
          <a:bodyPr/>
          <a:lstStyle/>
          <a:p>
            <a:endParaRPr lang="en-US"/>
          </a:p>
        </p:txBody>
      </p:sp>
      <p:sp>
        <p:nvSpPr>
          <p:cNvPr id="7" name="Text 5"/>
          <p:cNvSpPr/>
          <p:nvPr/>
        </p:nvSpPr>
        <p:spPr>
          <a:xfrm>
            <a:off x="640080" y="1600200"/>
            <a:ext cx="5074920" cy="457200"/>
          </a:xfrm>
          <a:prstGeom prst="rect">
            <a:avLst/>
          </a:prstGeom>
          <a:noFill/>
          <a:ln/>
        </p:spPr>
        <p:txBody>
          <a:bodyPr wrap="square" lIns="0" tIns="0" rIns="0" bIns="0" rtlCol="0" anchor="ctr"/>
          <a:lstStyle/>
          <a:p>
            <a:pPr marL="0" indent="0">
              <a:buNone/>
            </a:pPr>
            <a:r>
              <a:rPr lang="en-US" sz="1400" b="1" kern="0" spc="400" dirty="0">
                <a:solidFill>
                  <a:srgbClr val="F59E0B"/>
                </a:solidFill>
                <a:latin typeface="Calibri" pitchFamily="34" charset="0"/>
                <a:ea typeface="Calibri" pitchFamily="34" charset="-122"/>
                <a:cs typeface="Calibri" pitchFamily="34" charset="-120"/>
              </a:rPr>
              <a:t>LEVEL 1  /  FCI</a:t>
            </a:r>
            <a:endParaRPr lang="en-US" sz="1400" dirty="0"/>
          </a:p>
        </p:txBody>
      </p:sp>
      <p:sp>
        <p:nvSpPr>
          <p:cNvPr id="8" name="Text 6"/>
          <p:cNvSpPr/>
          <p:nvPr/>
        </p:nvSpPr>
        <p:spPr>
          <a:xfrm>
            <a:off x="685800" y="2148840"/>
            <a:ext cx="498348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Federal Contract Information</a:t>
            </a:r>
            <a:endParaRPr lang="en-US" sz="1800" dirty="0"/>
          </a:p>
        </p:txBody>
      </p:sp>
      <p:sp>
        <p:nvSpPr>
          <p:cNvPr id="9" name="Text 7"/>
          <p:cNvSpPr/>
          <p:nvPr/>
        </p:nvSpPr>
        <p:spPr>
          <a:xfrm>
            <a:off x="685800" y="2514600"/>
            <a:ext cx="4983480" cy="274320"/>
          </a:xfrm>
          <a:prstGeom prst="rect">
            <a:avLst/>
          </a:prstGeom>
          <a:noFill/>
          <a:ln/>
        </p:spPr>
        <p:txBody>
          <a:bodyPr wrap="square" lIns="0" tIns="0" rIns="0" bIns="0" rtlCol="0" anchor="ctr"/>
          <a:lstStyle/>
          <a:p>
            <a:pPr marL="0" indent="0">
              <a:buNone/>
            </a:pPr>
            <a:r>
              <a:rPr lang="en-US" sz="1100" i="1" dirty="0">
                <a:solidFill>
                  <a:srgbClr val="E2E8F0"/>
                </a:solidFill>
                <a:latin typeface="Calibri" pitchFamily="34" charset="0"/>
                <a:ea typeface="Calibri" pitchFamily="34" charset="-122"/>
                <a:cs typeface="Calibri" pitchFamily="34" charset="-120"/>
              </a:rPr>
              <a:t>Basic administrative or logistical contract data</a:t>
            </a:r>
            <a:endParaRPr lang="en-US" sz="1100" dirty="0"/>
          </a:p>
        </p:txBody>
      </p:sp>
      <p:sp>
        <p:nvSpPr>
          <p:cNvPr id="10" name="Text 8"/>
          <p:cNvSpPr/>
          <p:nvPr/>
        </p:nvSpPr>
        <p:spPr>
          <a:xfrm>
            <a:off x="685800" y="2926080"/>
            <a:ext cx="118872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EXAMPLES</a:t>
            </a:r>
            <a:endParaRPr lang="en-US" sz="900" dirty="0"/>
          </a:p>
        </p:txBody>
      </p:sp>
      <p:sp>
        <p:nvSpPr>
          <p:cNvPr id="11" name="Text 9"/>
          <p:cNvSpPr/>
          <p:nvPr/>
        </p:nvSpPr>
        <p:spPr>
          <a:xfrm>
            <a:off x="1920240" y="2926080"/>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Purchase orders, delivery schedules, contract administration, non-public correspondence.</a:t>
            </a:r>
            <a:endParaRPr lang="en-US" sz="1050" dirty="0"/>
          </a:p>
        </p:txBody>
      </p:sp>
      <p:sp>
        <p:nvSpPr>
          <p:cNvPr id="12" name="Text 10"/>
          <p:cNvSpPr/>
          <p:nvPr/>
        </p:nvSpPr>
        <p:spPr>
          <a:xfrm>
            <a:off x="685800" y="3493008"/>
            <a:ext cx="118872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STANDARD</a:t>
            </a:r>
            <a:endParaRPr lang="en-US" sz="900" dirty="0"/>
          </a:p>
        </p:txBody>
      </p:sp>
      <p:sp>
        <p:nvSpPr>
          <p:cNvPr id="13" name="Text 11"/>
          <p:cNvSpPr/>
          <p:nvPr/>
        </p:nvSpPr>
        <p:spPr>
          <a:xfrm>
            <a:off x="1920240" y="3493008"/>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FAR 52.204-21: 15 basic safeguarding requirements.</a:t>
            </a:r>
            <a:endParaRPr lang="en-US" sz="1050" dirty="0"/>
          </a:p>
        </p:txBody>
      </p:sp>
      <p:sp>
        <p:nvSpPr>
          <p:cNvPr id="14" name="Text 12"/>
          <p:cNvSpPr/>
          <p:nvPr/>
        </p:nvSpPr>
        <p:spPr>
          <a:xfrm>
            <a:off x="685800" y="4059936"/>
            <a:ext cx="118872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ASSESSMENT</a:t>
            </a:r>
            <a:endParaRPr lang="en-US" sz="900" dirty="0"/>
          </a:p>
        </p:txBody>
      </p:sp>
      <p:sp>
        <p:nvSpPr>
          <p:cNvPr id="15" name="Text 13"/>
          <p:cNvSpPr/>
          <p:nvPr/>
        </p:nvSpPr>
        <p:spPr>
          <a:xfrm>
            <a:off x="1920240" y="4059936"/>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Annual self-assessment. No third-party auditor.</a:t>
            </a:r>
            <a:endParaRPr lang="en-US" sz="1050" dirty="0"/>
          </a:p>
        </p:txBody>
      </p:sp>
      <p:sp>
        <p:nvSpPr>
          <p:cNvPr id="16" name="Text 14"/>
          <p:cNvSpPr/>
          <p:nvPr/>
        </p:nvSpPr>
        <p:spPr>
          <a:xfrm>
            <a:off x="685800" y="4626864"/>
            <a:ext cx="118872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POA&amp;M</a:t>
            </a:r>
            <a:endParaRPr lang="en-US" sz="900" dirty="0"/>
          </a:p>
        </p:txBody>
      </p:sp>
      <p:sp>
        <p:nvSpPr>
          <p:cNvPr id="17" name="Text 15"/>
          <p:cNvSpPr/>
          <p:nvPr/>
        </p:nvSpPr>
        <p:spPr>
          <a:xfrm>
            <a:off x="1920240" y="4626864"/>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Not allowed. Pass/fail; all 15 must be met.</a:t>
            </a:r>
            <a:endParaRPr lang="en-US" sz="1050" dirty="0"/>
          </a:p>
        </p:txBody>
      </p:sp>
      <p:sp>
        <p:nvSpPr>
          <p:cNvPr id="18" name="Text 16"/>
          <p:cNvSpPr/>
          <p:nvPr/>
        </p:nvSpPr>
        <p:spPr>
          <a:xfrm>
            <a:off x="685800" y="5193792"/>
            <a:ext cx="1188720" cy="228600"/>
          </a:xfrm>
          <a:prstGeom prst="rect">
            <a:avLst/>
          </a:prstGeom>
          <a:noFill/>
          <a:ln/>
        </p:spPr>
        <p:txBody>
          <a:bodyPr wrap="square" lIns="0" tIns="0" rIns="0" bIns="0" rtlCol="0" anchor="ctr"/>
          <a:lstStyle/>
          <a:p>
            <a:pPr marL="0" indent="0">
              <a:buNone/>
            </a:pPr>
            <a:r>
              <a:rPr lang="en-US" sz="900" b="1" kern="0" spc="200" dirty="0">
                <a:solidFill>
                  <a:srgbClr val="F59E0B"/>
                </a:solidFill>
                <a:latin typeface="Calibri" pitchFamily="34" charset="0"/>
                <a:ea typeface="Calibri" pitchFamily="34" charset="-122"/>
                <a:cs typeface="Calibri" pitchFamily="34" charset="-120"/>
              </a:rPr>
              <a:t>SPRS</a:t>
            </a:r>
            <a:endParaRPr lang="en-US" sz="900" dirty="0"/>
          </a:p>
        </p:txBody>
      </p:sp>
      <p:sp>
        <p:nvSpPr>
          <p:cNvPr id="19" name="Text 17"/>
          <p:cNvSpPr/>
          <p:nvPr/>
        </p:nvSpPr>
        <p:spPr>
          <a:xfrm>
            <a:off x="1920240" y="5193792"/>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Score submitted; senior executive affirms annually.</a:t>
            </a:r>
            <a:endParaRPr lang="en-US" sz="1050" dirty="0"/>
          </a:p>
        </p:txBody>
      </p:sp>
      <p:sp>
        <p:nvSpPr>
          <p:cNvPr id="20" name="Shape 18"/>
          <p:cNvSpPr/>
          <p:nvPr/>
        </p:nvSpPr>
        <p:spPr>
          <a:xfrm>
            <a:off x="6263640" y="1600200"/>
            <a:ext cx="5440680" cy="4434840"/>
          </a:xfrm>
          <a:prstGeom prst="rect">
            <a:avLst/>
          </a:prstGeom>
          <a:solidFill>
            <a:srgbClr val="131A35"/>
          </a:solidFill>
          <a:ln w="9525">
            <a:solidFill>
              <a:srgbClr val="1E2D5A"/>
            </a:solidFill>
            <a:prstDash val="solid"/>
          </a:ln>
        </p:spPr>
        <p:txBody>
          <a:bodyPr/>
          <a:lstStyle/>
          <a:p>
            <a:endParaRPr lang="en-US"/>
          </a:p>
        </p:txBody>
      </p:sp>
      <p:sp>
        <p:nvSpPr>
          <p:cNvPr id="21" name="Shape 19"/>
          <p:cNvSpPr/>
          <p:nvPr/>
        </p:nvSpPr>
        <p:spPr>
          <a:xfrm>
            <a:off x="6263640" y="1600200"/>
            <a:ext cx="5440680" cy="457200"/>
          </a:xfrm>
          <a:prstGeom prst="rect">
            <a:avLst/>
          </a:prstGeom>
          <a:solidFill>
            <a:srgbClr val="1E2D5A"/>
          </a:solidFill>
          <a:ln w="12700">
            <a:solidFill>
              <a:srgbClr val="1E2D5A"/>
            </a:solidFill>
            <a:prstDash val="solid"/>
          </a:ln>
        </p:spPr>
        <p:txBody>
          <a:bodyPr/>
          <a:lstStyle/>
          <a:p>
            <a:endParaRPr lang="en-US"/>
          </a:p>
        </p:txBody>
      </p:sp>
      <p:sp>
        <p:nvSpPr>
          <p:cNvPr id="22" name="Text 20"/>
          <p:cNvSpPr/>
          <p:nvPr/>
        </p:nvSpPr>
        <p:spPr>
          <a:xfrm>
            <a:off x="6446520" y="1600200"/>
            <a:ext cx="5074920" cy="457200"/>
          </a:xfrm>
          <a:prstGeom prst="rect">
            <a:avLst/>
          </a:prstGeom>
          <a:noFill/>
          <a:ln/>
        </p:spPr>
        <p:txBody>
          <a:bodyPr wrap="square" lIns="0" tIns="0" rIns="0" bIns="0" rtlCol="0" anchor="ctr"/>
          <a:lstStyle/>
          <a:p>
            <a:pPr marL="0" indent="0">
              <a:buNone/>
            </a:pPr>
            <a:r>
              <a:rPr lang="en-US" sz="1400" b="1" kern="0" spc="400" dirty="0">
                <a:solidFill>
                  <a:srgbClr val="8844DD"/>
                </a:solidFill>
                <a:latin typeface="Calibri" pitchFamily="34" charset="0"/>
                <a:ea typeface="Calibri" pitchFamily="34" charset="-122"/>
                <a:cs typeface="Calibri" pitchFamily="34" charset="-120"/>
              </a:rPr>
              <a:t>LEVEL 2  /  CUI</a:t>
            </a:r>
            <a:endParaRPr lang="en-US" sz="1400" dirty="0"/>
          </a:p>
        </p:txBody>
      </p:sp>
      <p:sp>
        <p:nvSpPr>
          <p:cNvPr id="23" name="Text 21"/>
          <p:cNvSpPr/>
          <p:nvPr/>
        </p:nvSpPr>
        <p:spPr>
          <a:xfrm>
            <a:off x="6492240" y="2148840"/>
            <a:ext cx="498348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Controlled Unclassified Information</a:t>
            </a:r>
            <a:endParaRPr lang="en-US" sz="1800" dirty="0"/>
          </a:p>
        </p:txBody>
      </p:sp>
      <p:sp>
        <p:nvSpPr>
          <p:cNvPr id="24" name="Text 22"/>
          <p:cNvSpPr/>
          <p:nvPr/>
        </p:nvSpPr>
        <p:spPr>
          <a:xfrm>
            <a:off x="6492240" y="2514600"/>
            <a:ext cx="4983480" cy="274320"/>
          </a:xfrm>
          <a:prstGeom prst="rect">
            <a:avLst/>
          </a:prstGeom>
          <a:noFill/>
          <a:ln/>
        </p:spPr>
        <p:txBody>
          <a:bodyPr wrap="square" lIns="0" tIns="0" rIns="0" bIns="0" rtlCol="0" anchor="ctr"/>
          <a:lstStyle/>
          <a:p>
            <a:pPr marL="0" indent="0">
              <a:buNone/>
            </a:pPr>
            <a:r>
              <a:rPr lang="en-US" sz="1100" i="1" dirty="0">
                <a:solidFill>
                  <a:srgbClr val="E2E8F0"/>
                </a:solidFill>
                <a:latin typeface="Calibri" pitchFamily="34" charset="0"/>
                <a:ea typeface="Calibri" pitchFamily="34" charset="-122"/>
                <a:cs typeface="Calibri" pitchFamily="34" charset="-120"/>
              </a:rPr>
              <a:t>Sensitive technical, operational, or program data</a:t>
            </a:r>
            <a:endParaRPr lang="en-US" sz="1100" dirty="0"/>
          </a:p>
        </p:txBody>
      </p:sp>
      <p:sp>
        <p:nvSpPr>
          <p:cNvPr id="25" name="Text 23"/>
          <p:cNvSpPr/>
          <p:nvPr/>
        </p:nvSpPr>
        <p:spPr>
          <a:xfrm>
            <a:off x="6492240" y="2926080"/>
            <a:ext cx="1188720" cy="228600"/>
          </a:xfrm>
          <a:prstGeom prst="rect">
            <a:avLst/>
          </a:prstGeom>
          <a:noFill/>
          <a:ln/>
        </p:spPr>
        <p:txBody>
          <a:bodyPr wrap="square" lIns="0" tIns="0" rIns="0" bIns="0" rtlCol="0" anchor="ctr"/>
          <a:lstStyle/>
          <a:p>
            <a:pPr marL="0" indent="0">
              <a:buNone/>
            </a:pPr>
            <a:r>
              <a:rPr lang="en-US" sz="900" b="1" kern="0" spc="200" dirty="0">
                <a:solidFill>
                  <a:srgbClr val="8844DD"/>
                </a:solidFill>
                <a:latin typeface="Calibri" pitchFamily="34" charset="0"/>
                <a:ea typeface="Calibri" pitchFamily="34" charset="-122"/>
                <a:cs typeface="Calibri" pitchFamily="34" charset="-120"/>
              </a:rPr>
              <a:t>EXAMPLES</a:t>
            </a:r>
            <a:endParaRPr lang="en-US" sz="900" dirty="0"/>
          </a:p>
        </p:txBody>
      </p:sp>
      <p:sp>
        <p:nvSpPr>
          <p:cNvPr id="26" name="Text 24"/>
          <p:cNvSpPr/>
          <p:nvPr/>
        </p:nvSpPr>
        <p:spPr>
          <a:xfrm>
            <a:off x="7726680" y="2926080"/>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Tech data packages, drawings, firmware, software, ISR specs, ITAR/EAR data, research.</a:t>
            </a:r>
            <a:endParaRPr lang="en-US" sz="1050" dirty="0"/>
          </a:p>
        </p:txBody>
      </p:sp>
      <p:sp>
        <p:nvSpPr>
          <p:cNvPr id="27" name="Text 25"/>
          <p:cNvSpPr/>
          <p:nvPr/>
        </p:nvSpPr>
        <p:spPr>
          <a:xfrm>
            <a:off x="6492240" y="3493008"/>
            <a:ext cx="1188720" cy="228600"/>
          </a:xfrm>
          <a:prstGeom prst="rect">
            <a:avLst/>
          </a:prstGeom>
          <a:noFill/>
          <a:ln/>
        </p:spPr>
        <p:txBody>
          <a:bodyPr wrap="square" lIns="0" tIns="0" rIns="0" bIns="0" rtlCol="0" anchor="ctr"/>
          <a:lstStyle/>
          <a:p>
            <a:pPr marL="0" indent="0">
              <a:buNone/>
            </a:pPr>
            <a:r>
              <a:rPr lang="en-US" sz="900" b="1" kern="0" spc="200" dirty="0">
                <a:solidFill>
                  <a:srgbClr val="8844DD"/>
                </a:solidFill>
                <a:latin typeface="Calibri" pitchFamily="34" charset="0"/>
                <a:ea typeface="Calibri" pitchFamily="34" charset="-122"/>
                <a:cs typeface="Calibri" pitchFamily="34" charset="-120"/>
              </a:rPr>
              <a:t>STANDARD</a:t>
            </a:r>
            <a:endParaRPr lang="en-US" sz="900" dirty="0"/>
          </a:p>
        </p:txBody>
      </p:sp>
      <p:sp>
        <p:nvSpPr>
          <p:cNvPr id="28" name="Text 26"/>
          <p:cNvSpPr/>
          <p:nvPr/>
        </p:nvSpPr>
        <p:spPr>
          <a:xfrm>
            <a:off x="7726680" y="3493008"/>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NIST SP 800-171 Rev. 2: 110 controls in 14 families.</a:t>
            </a:r>
            <a:endParaRPr lang="en-US" sz="1050" dirty="0"/>
          </a:p>
        </p:txBody>
      </p:sp>
      <p:sp>
        <p:nvSpPr>
          <p:cNvPr id="29" name="Text 27"/>
          <p:cNvSpPr/>
          <p:nvPr/>
        </p:nvSpPr>
        <p:spPr>
          <a:xfrm>
            <a:off x="6492240" y="4059936"/>
            <a:ext cx="1188720" cy="228600"/>
          </a:xfrm>
          <a:prstGeom prst="rect">
            <a:avLst/>
          </a:prstGeom>
          <a:noFill/>
          <a:ln/>
        </p:spPr>
        <p:txBody>
          <a:bodyPr wrap="square" lIns="0" tIns="0" rIns="0" bIns="0" rtlCol="0" anchor="ctr"/>
          <a:lstStyle/>
          <a:p>
            <a:pPr marL="0" indent="0">
              <a:buNone/>
            </a:pPr>
            <a:r>
              <a:rPr lang="en-US" sz="900" b="1" kern="0" spc="200" dirty="0">
                <a:solidFill>
                  <a:srgbClr val="8844DD"/>
                </a:solidFill>
                <a:latin typeface="Calibri" pitchFamily="34" charset="0"/>
                <a:ea typeface="Calibri" pitchFamily="34" charset="-122"/>
                <a:cs typeface="Calibri" pitchFamily="34" charset="-120"/>
              </a:rPr>
              <a:t>ASSESSMENT</a:t>
            </a:r>
            <a:endParaRPr lang="en-US" sz="900" dirty="0"/>
          </a:p>
        </p:txBody>
      </p:sp>
      <p:sp>
        <p:nvSpPr>
          <p:cNvPr id="30" name="Text 28"/>
          <p:cNvSpPr/>
          <p:nvPr/>
        </p:nvSpPr>
        <p:spPr>
          <a:xfrm>
            <a:off x="7726680" y="4059936"/>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C3PAO third-party assessment (some narrow self-assessment Phase 1 exceptions).</a:t>
            </a:r>
            <a:endParaRPr lang="en-US" sz="1050" dirty="0"/>
          </a:p>
        </p:txBody>
      </p:sp>
      <p:sp>
        <p:nvSpPr>
          <p:cNvPr id="31" name="Text 29"/>
          <p:cNvSpPr/>
          <p:nvPr/>
        </p:nvSpPr>
        <p:spPr>
          <a:xfrm>
            <a:off x="6492240" y="4626864"/>
            <a:ext cx="1188720" cy="228600"/>
          </a:xfrm>
          <a:prstGeom prst="rect">
            <a:avLst/>
          </a:prstGeom>
          <a:noFill/>
          <a:ln/>
        </p:spPr>
        <p:txBody>
          <a:bodyPr wrap="square" lIns="0" tIns="0" rIns="0" bIns="0" rtlCol="0" anchor="ctr"/>
          <a:lstStyle/>
          <a:p>
            <a:pPr marL="0" indent="0">
              <a:buNone/>
            </a:pPr>
            <a:r>
              <a:rPr lang="en-US" sz="900" b="1" kern="0" spc="200" dirty="0">
                <a:solidFill>
                  <a:srgbClr val="8844DD"/>
                </a:solidFill>
                <a:latin typeface="Calibri" pitchFamily="34" charset="0"/>
                <a:ea typeface="Calibri" pitchFamily="34" charset="-122"/>
                <a:cs typeface="Calibri" pitchFamily="34" charset="-120"/>
              </a:rPr>
              <a:t>POA&amp;M</a:t>
            </a:r>
            <a:endParaRPr lang="en-US" sz="900" dirty="0"/>
          </a:p>
        </p:txBody>
      </p:sp>
      <p:sp>
        <p:nvSpPr>
          <p:cNvPr id="32" name="Text 30"/>
          <p:cNvSpPr/>
          <p:nvPr/>
        </p:nvSpPr>
        <p:spPr>
          <a:xfrm>
            <a:off x="7726680" y="4626864"/>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Limited. Score ≥ 88/110 with no 3- or 5-point gaps; remediate in 180 days.</a:t>
            </a:r>
            <a:endParaRPr lang="en-US" sz="1050" dirty="0"/>
          </a:p>
        </p:txBody>
      </p:sp>
      <p:sp>
        <p:nvSpPr>
          <p:cNvPr id="33" name="Text 31"/>
          <p:cNvSpPr/>
          <p:nvPr/>
        </p:nvSpPr>
        <p:spPr>
          <a:xfrm>
            <a:off x="6492240" y="5193792"/>
            <a:ext cx="1188720" cy="228600"/>
          </a:xfrm>
          <a:prstGeom prst="rect">
            <a:avLst/>
          </a:prstGeom>
          <a:noFill/>
          <a:ln/>
        </p:spPr>
        <p:txBody>
          <a:bodyPr wrap="square" lIns="0" tIns="0" rIns="0" bIns="0" rtlCol="0" anchor="ctr"/>
          <a:lstStyle/>
          <a:p>
            <a:pPr marL="0" indent="0">
              <a:buNone/>
            </a:pPr>
            <a:r>
              <a:rPr lang="en-US" sz="900" b="1" kern="0" spc="200" dirty="0">
                <a:solidFill>
                  <a:srgbClr val="8844DD"/>
                </a:solidFill>
                <a:latin typeface="Calibri" pitchFamily="34" charset="0"/>
                <a:ea typeface="Calibri" pitchFamily="34" charset="-122"/>
                <a:cs typeface="Calibri" pitchFamily="34" charset="-120"/>
              </a:rPr>
              <a:t>SPRS</a:t>
            </a:r>
            <a:endParaRPr lang="en-US" sz="900" dirty="0"/>
          </a:p>
        </p:txBody>
      </p:sp>
      <p:sp>
        <p:nvSpPr>
          <p:cNvPr id="34" name="Text 32"/>
          <p:cNvSpPr/>
          <p:nvPr/>
        </p:nvSpPr>
        <p:spPr>
          <a:xfrm>
            <a:off x="7726680" y="5193792"/>
            <a:ext cx="3749040" cy="50292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Score submitted; affirmation by senior official; certification valid 3 years.</a:t>
            </a:r>
            <a:endParaRPr lang="en-US" sz="1050" dirty="0"/>
          </a:p>
        </p:txBody>
      </p:sp>
      <p:sp>
        <p:nvSpPr>
          <p:cNvPr id="35" name="Text 33"/>
          <p:cNvSpPr/>
          <p:nvPr/>
        </p:nvSpPr>
        <p:spPr>
          <a:xfrm>
            <a:off x="457200" y="6172200"/>
            <a:ext cx="11277295" cy="274320"/>
          </a:xfrm>
          <a:prstGeom prst="rect">
            <a:avLst/>
          </a:prstGeom>
          <a:noFill/>
          <a:ln/>
        </p:spPr>
        <p:txBody>
          <a:bodyPr wrap="square" lIns="0" tIns="0" rIns="0" bIns="0" rtlCol="0" anchor="ctr"/>
          <a:lstStyle/>
          <a:p>
            <a:pPr marL="0" indent="0" algn="ctr">
              <a:buNone/>
            </a:pPr>
            <a:r>
              <a:rPr lang="en-US" sz="1100" b="1" i="1" dirty="0">
                <a:solidFill>
                  <a:srgbClr val="F59E0B"/>
                </a:solidFill>
                <a:latin typeface="Calibri" pitchFamily="34" charset="0"/>
                <a:ea typeface="Calibri" pitchFamily="34" charset="-122"/>
                <a:cs typeface="Calibri" pitchFamily="34" charset="-120"/>
              </a:rPr>
              <a:t>Your data type, not your size, decides. If your contract handles technical data, drawings, firmware, or operational specs, you are in CUI territory and Level 2 applies.</a:t>
            </a:r>
            <a:endParaRPr lang="en-US" sz="1100" dirty="0"/>
          </a:p>
        </p:txBody>
      </p:sp>
      <p:sp>
        <p:nvSpPr>
          <p:cNvPr id="36" name="Shape 34"/>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7" name="Text 35"/>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8" name="Text 36"/>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 / 23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Self-Attestation vs. C3PAO Assessment</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Who can self-attest, who cannot, and what changes November 10, 2026.</a:t>
            </a:r>
            <a:endParaRPr lang="en-US" sz="1300" dirty="0"/>
          </a:p>
        </p:txBody>
      </p:sp>
      <p:sp>
        <p:nvSpPr>
          <p:cNvPr id="5" name="Shape 3"/>
          <p:cNvSpPr/>
          <p:nvPr/>
        </p:nvSpPr>
        <p:spPr>
          <a:xfrm>
            <a:off x="457200" y="1600200"/>
            <a:ext cx="11277295" cy="141732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600200"/>
            <a:ext cx="73152" cy="1417320"/>
          </a:xfrm>
          <a:prstGeom prst="rect">
            <a:avLst/>
          </a:prstGeom>
          <a:solidFill>
            <a:srgbClr val="10B981"/>
          </a:solidFill>
          <a:ln w="12700">
            <a:solidFill>
              <a:srgbClr val="10B981"/>
            </a:solidFill>
            <a:prstDash val="solid"/>
          </a:ln>
        </p:spPr>
        <p:txBody>
          <a:bodyPr/>
          <a:lstStyle/>
          <a:p>
            <a:endParaRPr lang="en-US"/>
          </a:p>
        </p:txBody>
      </p:sp>
      <p:sp>
        <p:nvSpPr>
          <p:cNvPr id="7" name="Shape 5"/>
          <p:cNvSpPr/>
          <p:nvPr/>
        </p:nvSpPr>
        <p:spPr>
          <a:xfrm>
            <a:off x="685800" y="1764792"/>
            <a:ext cx="1623060" cy="256032"/>
          </a:xfrm>
          <a:prstGeom prst="rect">
            <a:avLst/>
          </a:prstGeom>
          <a:solidFill>
            <a:srgbClr val="1E2D5A"/>
          </a:solidFill>
          <a:ln w="9525">
            <a:solidFill>
              <a:srgbClr val="10B981"/>
            </a:solidFill>
            <a:prstDash val="solid"/>
          </a:ln>
        </p:spPr>
        <p:txBody>
          <a:bodyPr/>
          <a:lstStyle/>
          <a:p>
            <a:endParaRPr lang="en-US"/>
          </a:p>
        </p:txBody>
      </p:sp>
      <p:sp>
        <p:nvSpPr>
          <p:cNvPr id="8" name="Text 6"/>
          <p:cNvSpPr/>
          <p:nvPr/>
        </p:nvSpPr>
        <p:spPr>
          <a:xfrm>
            <a:off x="685800" y="1764792"/>
            <a:ext cx="1623060" cy="256032"/>
          </a:xfrm>
          <a:prstGeom prst="rect">
            <a:avLst/>
          </a:prstGeom>
          <a:noFill/>
          <a:ln/>
        </p:spPr>
        <p:txBody>
          <a:bodyPr wrap="square" lIns="0" tIns="0" rIns="0" bIns="0" rtlCol="0" anchor="ctr"/>
          <a:lstStyle/>
          <a:p>
            <a:pPr marL="0" indent="0" algn="ctr">
              <a:buNone/>
            </a:pPr>
            <a:r>
              <a:rPr lang="en-US" sz="900" b="1" kern="0" spc="200" dirty="0">
                <a:solidFill>
                  <a:srgbClr val="10B981"/>
                </a:solidFill>
                <a:latin typeface="Calibri" pitchFamily="34" charset="0"/>
                <a:ea typeface="Calibri" pitchFamily="34" charset="-122"/>
                <a:cs typeface="Calibri" pitchFamily="34" charset="-120"/>
              </a:rPr>
              <a:t>CAN SELF-ATTEST</a:t>
            </a:r>
            <a:endParaRPr lang="en-US" sz="900" dirty="0"/>
          </a:p>
        </p:txBody>
      </p:sp>
      <p:sp>
        <p:nvSpPr>
          <p:cNvPr id="9" name="Text 7"/>
          <p:cNvSpPr/>
          <p:nvPr/>
        </p:nvSpPr>
        <p:spPr>
          <a:xfrm>
            <a:off x="685800" y="2057400"/>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Level 1 (FCI only) is always a self-assessment.</a:t>
            </a:r>
            <a:endParaRPr lang="en-US" sz="1500" dirty="0"/>
          </a:p>
        </p:txBody>
      </p:sp>
      <p:sp>
        <p:nvSpPr>
          <p:cNvPr id="10" name="Text 8"/>
          <p:cNvSpPr/>
          <p:nvPr/>
        </p:nvSpPr>
        <p:spPr>
          <a:xfrm>
            <a:off x="685800" y="2441448"/>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Annual self-assessment against the 15 FAR 52.204-21 safeguards. Senior executive affirms results annually in SPRS. No third-party auditor required, ever. Pass/fail; no POA&amp;Ms. Applies whenever the contract handles only FCI.</a:t>
            </a:r>
            <a:endParaRPr lang="en-US" sz="1100" dirty="0"/>
          </a:p>
        </p:txBody>
      </p:sp>
      <p:sp>
        <p:nvSpPr>
          <p:cNvPr id="11" name="Shape 9"/>
          <p:cNvSpPr/>
          <p:nvPr/>
        </p:nvSpPr>
        <p:spPr>
          <a:xfrm>
            <a:off x="457200" y="3182112"/>
            <a:ext cx="11277295" cy="1417320"/>
          </a:xfrm>
          <a:prstGeom prst="rect">
            <a:avLst/>
          </a:prstGeom>
          <a:solidFill>
            <a:srgbClr val="131A35"/>
          </a:solidFill>
          <a:ln w="9525">
            <a:solidFill>
              <a:srgbClr val="1E2D5A"/>
            </a:solidFill>
            <a:prstDash val="solid"/>
          </a:ln>
        </p:spPr>
        <p:txBody>
          <a:bodyPr/>
          <a:lstStyle/>
          <a:p>
            <a:endParaRPr lang="en-US"/>
          </a:p>
        </p:txBody>
      </p:sp>
      <p:sp>
        <p:nvSpPr>
          <p:cNvPr id="12" name="Shape 10"/>
          <p:cNvSpPr/>
          <p:nvPr/>
        </p:nvSpPr>
        <p:spPr>
          <a:xfrm>
            <a:off x="457200" y="3182112"/>
            <a:ext cx="73152" cy="1417320"/>
          </a:xfrm>
          <a:prstGeom prst="rect">
            <a:avLst/>
          </a:prstGeom>
          <a:solidFill>
            <a:srgbClr val="F59E0B"/>
          </a:solidFill>
          <a:ln w="12700">
            <a:solidFill>
              <a:srgbClr val="F59E0B"/>
            </a:solidFill>
            <a:prstDash val="solid"/>
          </a:ln>
        </p:spPr>
        <p:txBody>
          <a:bodyPr/>
          <a:lstStyle/>
          <a:p>
            <a:endParaRPr lang="en-US"/>
          </a:p>
        </p:txBody>
      </p:sp>
      <p:sp>
        <p:nvSpPr>
          <p:cNvPr id="13" name="Shape 11"/>
          <p:cNvSpPr/>
          <p:nvPr/>
        </p:nvSpPr>
        <p:spPr>
          <a:xfrm>
            <a:off x="685800" y="3346704"/>
            <a:ext cx="3360420" cy="256032"/>
          </a:xfrm>
          <a:prstGeom prst="rect">
            <a:avLst/>
          </a:prstGeom>
          <a:solidFill>
            <a:srgbClr val="1E2D5A"/>
          </a:solidFill>
          <a:ln w="9525">
            <a:solidFill>
              <a:srgbClr val="F59E0B"/>
            </a:solidFill>
            <a:prstDash val="solid"/>
          </a:ln>
        </p:spPr>
        <p:txBody>
          <a:bodyPr/>
          <a:lstStyle/>
          <a:p>
            <a:endParaRPr lang="en-US"/>
          </a:p>
        </p:txBody>
      </p:sp>
      <p:sp>
        <p:nvSpPr>
          <p:cNvPr id="14" name="Text 12"/>
          <p:cNvSpPr/>
          <p:nvPr/>
        </p:nvSpPr>
        <p:spPr>
          <a:xfrm>
            <a:off x="685800" y="3346704"/>
            <a:ext cx="3360420"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PHASE 1 ONLY (THROUGH NOV 10, 2026)</a:t>
            </a:r>
            <a:endParaRPr lang="en-US" sz="900" dirty="0"/>
          </a:p>
        </p:txBody>
      </p:sp>
      <p:sp>
        <p:nvSpPr>
          <p:cNvPr id="15" name="Text 13"/>
          <p:cNvSpPr/>
          <p:nvPr/>
        </p:nvSpPr>
        <p:spPr>
          <a:xfrm>
            <a:off x="685800" y="3639312"/>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Level 2 self-assessment is a temporary window for non-prioritized acquisitions.</a:t>
            </a:r>
            <a:endParaRPr lang="en-US" sz="1500" dirty="0"/>
          </a:p>
        </p:txBody>
      </p:sp>
      <p:sp>
        <p:nvSpPr>
          <p:cNvPr id="16" name="Text 14"/>
          <p:cNvSpPr/>
          <p:nvPr/>
        </p:nvSpPr>
        <p:spPr>
          <a:xfrm>
            <a:off x="685800" y="4023360"/>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During Phase 1, certain Level 2 CUI contracts permit self-assessment at the contracting officer's discretion. SPRS submission and annual senior official affirmation still required. The window closes Nov 10, 2026. DoD may at its discretion require C3PAO certification on any CUI contract even during Phase 1.</a:t>
            </a:r>
            <a:endParaRPr lang="en-US" sz="1100" dirty="0"/>
          </a:p>
        </p:txBody>
      </p:sp>
      <p:sp>
        <p:nvSpPr>
          <p:cNvPr id="17" name="Shape 15"/>
          <p:cNvSpPr/>
          <p:nvPr/>
        </p:nvSpPr>
        <p:spPr>
          <a:xfrm>
            <a:off x="457200" y="4764024"/>
            <a:ext cx="11277295" cy="1417320"/>
          </a:xfrm>
          <a:prstGeom prst="rect">
            <a:avLst/>
          </a:prstGeom>
          <a:solidFill>
            <a:srgbClr val="131A35"/>
          </a:solidFill>
          <a:ln w="9525">
            <a:solidFill>
              <a:srgbClr val="1E2D5A"/>
            </a:solidFill>
            <a:prstDash val="solid"/>
          </a:ln>
        </p:spPr>
        <p:txBody>
          <a:bodyPr/>
          <a:lstStyle/>
          <a:p>
            <a:endParaRPr lang="en-US"/>
          </a:p>
        </p:txBody>
      </p:sp>
      <p:sp>
        <p:nvSpPr>
          <p:cNvPr id="18" name="Shape 16"/>
          <p:cNvSpPr/>
          <p:nvPr/>
        </p:nvSpPr>
        <p:spPr>
          <a:xfrm>
            <a:off x="457200" y="4764024"/>
            <a:ext cx="73152" cy="1417320"/>
          </a:xfrm>
          <a:prstGeom prst="rect">
            <a:avLst/>
          </a:prstGeom>
          <a:solidFill>
            <a:srgbClr val="8844DD"/>
          </a:solidFill>
          <a:ln w="12700">
            <a:solidFill>
              <a:srgbClr val="8844DD"/>
            </a:solidFill>
            <a:prstDash val="solid"/>
          </a:ln>
        </p:spPr>
        <p:txBody>
          <a:bodyPr/>
          <a:lstStyle/>
          <a:p>
            <a:endParaRPr lang="en-US"/>
          </a:p>
        </p:txBody>
      </p:sp>
      <p:sp>
        <p:nvSpPr>
          <p:cNvPr id="19" name="Shape 17"/>
          <p:cNvSpPr/>
          <p:nvPr/>
        </p:nvSpPr>
        <p:spPr>
          <a:xfrm>
            <a:off x="685800" y="4928616"/>
            <a:ext cx="1883664" cy="256032"/>
          </a:xfrm>
          <a:prstGeom prst="rect">
            <a:avLst/>
          </a:prstGeom>
          <a:solidFill>
            <a:srgbClr val="1E2D5A"/>
          </a:solidFill>
          <a:ln w="9525">
            <a:solidFill>
              <a:srgbClr val="8844DD"/>
            </a:solidFill>
            <a:prstDash val="solid"/>
          </a:ln>
        </p:spPr>
        <p:txBody>
          <a:bodyPr/>
          <a:lstStyle/>
          <a:p>
            <a:endParaRPr lang="en-US"/>
          </a:p>
        </p:txBody>
      </p:sp>
      <p:sp>
        <p:nvSpPr>
          <p:cNvPr id="20" name="Text 18"/>
          <p:cNvSpPr/>
          <p:nvPr/>
        </p:nvSpPr>
        <p:spPr>
          <a:xfrm>
            <a:off x="685800" y="4928616"/>
            <a:ext cx="1883664" cy="256032"/>
          </a:xfrm>
          <a:prstGeom prst="rect">
            <a:avLst/>
          </a:prstGeom>
          <a:noFill/>
          <a:ln/>
        </p:spPr>
        <p:txBody>
          <a:bodyPr wrap="square" lIns="0" tIns="0" rIns="0" bIns="0" rtlCol="0" anchor="ctr"/>
          <a:lstStyle/>
          <a:p>
            <a:pPr marL="0" indent="0" algn="ctr">
              <a:buNone/>
            </a:pPr>
            <a:r>
              <a:rPr lang="en-US" sz="900" b="1" kern="0" spc="200" dirty="0">
                <a:solidFill>
                  <a:srgbClr val="8844DD"/>
                </a:solidFill>
                <a:latin typeface="Calibri" pitchFamily="34" charset="0"/>
                <a:ea typeface="Calibri" pitchFamily="34" charset="-122"/>
                <a:cs typeface="Calibri" pitchFamily="34" charset="-120"/>
              </a:rPr>
              <a:t>CANNOT SELF-ATTEST</a:t>
            </a:r>
            <a:endParaRPr lang="en-US" sz="900" dirty="0"/>
          </a:p>
        </p:txBody>
      </p:sp>
      <p:sp>
        <p:nvSpPr>
          <p:cNvPr id="21" name="Text 19"/>
          <p:cNvSpPr/>
          <p:nvPr/>
        </p:nvSpPr>
        <p:spPr>
          <a:xfrm>
            <a:off x="685800" y="5221224"/>
            <a:ext cx="10820095"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Level 2 C3PAO certification will be mandatory for CUI from Nov 2026 onward.</a:t>
            </a:r>
            <a:endParaRPr lang="en-US" sz="1500" dirty="0"/>
          </a:p>
        </p:txBody>
      </p:sp>
      <p:sp>
        <p:nvSpPr>
          <p:cNvPr id="22" name="Text 20"/>
          <p:cNvSpPr/>
          <p:nvPr/>
        </p:nvSpPr>
        <p:spPr>
          <a:xfrm>
            <a:off x="685800" y="5605272"/>
            <a:ext cx="10820095" cy="502920"/>
          </a:xfrm>
          <a:prstGeom prst="rect">
            <a:avLst/>
          </a:prstGeom>
          <a:noFill/>
          <a:ln/>
        </p:spPr>
        <p:txBody>
          <a:bodyPr wrap="square" lIns="0" tIns="0" rIns="0" bIns="0" rtlCol="0" anchor="ctr"/>
          <a:lstStyle/>
          <a:p>
            <a:pPr marL="0" indent="0">
              <a:buNone/>
            </a:pPr>
            <a:r>
              <a:rPr lang="en-US" sz="1100" dirty="0">
                <a:solidFill>
                  <a:srgbClr val="E2E8F0"/>
                </a:solidFill>
                <a:latin typeface="Calibri" pitchFamily="34" charset="0"/>
                <a:ea typeface="Calibri" pitchFamily="34" charset="-122"/>
                <a:cs typeface="Calibri" pitchFamily="34" charset="-120"/>
              </a:rPr>
              <a:t>Most Level 2 CUI contracts, including defense programs with technical data, ISR, and operational details, require certification by an authorized C3PAO. Certification is valid 3 years. False Claims Act liability applies if a contractor self-attests Level 2 when C3PAO is required.</a:t>
            </a:r>
            <a:endParaRPr lang="en-US" sz="1100" dirty="0"/>
          </a:p>
        </p:txBody>
      </p:sp>
      <p:sp>
        <p:nvSpPr>
          <p:cNvPr id="23" name="Shape 21"/>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24" name="Text 22"/>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25" name="Text 23"/>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8 / 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How SPRS Turns 110 Controls Into a Score</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The DoD Assessment Methodology weights every control. Knowing the math matters; it's the score your prime checks.</a:t>
            </a:r>
            <a:endParaRPr lang="en-US" sz="1300" dirty="0"/>
          </a:p>
        </p:txBody>
      </p:sp>
      <p:sp>
        <p:nvSpPr>
          <p:cNvPr id="5" name="Shape 3"/>
          <p:cNvSpPr/>
          <p:nvPr/>
        </p:nvSpPr>
        <p:spPr>
          <a:xfrm>
            <a:off x="457200" y="1554480"/>
            <a:ext cx="5760720" cy="457200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640080" y="1737360"/>
            <a:ext cx="2578608" cy="256032"/>
          </a:xfrm>
          <a:prstGeom prst="rect">
            <a:avLst/>
          </a:prstGeom>
          <a:solidFill>
            <a:srgbClr val="1E2D5A"/>
          </a:solidFill>
          <a:ln w="9525">
            <a:solidFill>
              <a:srgbClr val="F59E0B"/>
            </a:solidFill>
            <a:prstDash val="solid"/>
          </a:ln>
        </p:spPr>
        <p:txBody>
          <a:bodyPr/>
          <a:lstStyle/>
          <a:p>
            <a:endParaRPr lang="en-US"/>
          </a:p>
        </p:txBody>
      </p:sp>
      <p:sp>
        <p:nvSpPr>
          <p:cNvPr id="7" name="Text 5"/>
          <p:cNvSpPr/>
          <p:nvPr/>
        </p:nvSpPr>
        <p:spPr>
          <a:xfrm>
            <a:off x="640080" y="1737360"/>
            <a:ext cx="2578608"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THE MATH (32 CFR § 170.24)</a:t>
            </a:r>
            <a:endParaRPr lang="en-US" sz="900" dirty="0"/>
          </a:p>
        </p:txBody>
      </p:sp>
      <p:sp>
        <p:nvSpPr>
          <p:cNvPr id="8" name="Text 6"/>
          <p:cNvSpPr/>
          <p:nvPr/>
        </p:nvSpPr>
        <p:spPr>
          <a:xfrm>
            <a:off x="640080" y="2148840"/>
            <a:ext cx="54864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Start at 110. Subtract weighted points for each control NOT fully met.</a:t>
            </a:r>
            <a:endParaRPr lang="en-US" sz="1300" dirty="0"/>
          </a:p>
        </p:txBody>
      </p:sp>
      <p:sp>
        <p:nvSpPr>
          <p:cNvPr id="9" name="Shape 7"/>
          <p:cNvSpPr/>
          <p:nvPr/>
        </p:nvSpPr>
        <p:spPr>
          <a:xfrm>
            <a:off x="640080" y="2697480"/>
            <a:ext cx="1691640" cy="1371600"/>
          </a:xfrm>
          <a:prstGeom prst="rect">
            <a:avLst/>
          </a:prstGeom>
          <a:solidFill>
            <a:srgbClr val="1E2D5A"/>
          </a:solidFill>
          <a:ln w="9525">
            <a:solidFill>
              <a:srgbClr val="1E2D5A"/>
            </a:solidFill>
            <a:prstDash val="solid"/>
          </a:ln>
        </p:spPr>
        <p:txBody>
          <a:bodyPr/>
          <a:lstStyle/>
          <a:p>
            <a:endParaRPr lang="en-US"/>
          </a:p>
        </p:txBody>
      </p:sp>
      <p:sp>
        <p:nvSpPr>
          <p:cNvPr id="10" name="Text 8"/>
          <p:cNvSpPr/>
          <p:nvPr/>
        </p:nvSpPr>
        <p:spPr>
          <a:xfrm>
            <a:off x="640080" y="2743200"/>
            <a:ext cx="1691640" cy="594360"/>
          </a:xfrm>
          <a:prstGeom prst="rect">
            <a:avLst/>
          </a:prstGeom>
          <a:noFill/>
          <a:ln/>
        </p:spPr>
        <p:txBody>
          <a:bodyPr wrap="square" lIns="0" tIns="0" rIns="0" bIns="0" rtlCol="0" anchor="ctr"/>
          <a:lstStyle/>
          <a:p>
            <a:pPr marL="0" indent="0" algn="ctr">
              <a:buNone/>
            </a:pPr>
            <a:r>
              <a:rPr lang="en-US" sz="3800" b="1" dirty="0">
                <a:solidFill>
                  <a:srgbClr val="EF4444"/>
                </a:solidFill>
                <a:latin typeface="Calibri" pitchFamily="34" charset="0"/>
                <a:ea typeface="Calibri" pitchFamily="34" charset="-122"/>
                <a:cs typeface="Calibri" pitchFamily="34" charset="-120"/>
              </a:rPr>
              <a:t>-5</a:t>
            </a:r>
            <a:endParaRPr lang="en-US" sz="3800" dirty="0"/>
          </a:p>
        </p:txBody>
      </p:sp>
      <p:sp>
        <p:nvSpPr>
          <p:cNvPr id="11" name="Text 9"/>
          <p:cNvSpPr/>
          <p:nvPr/>
        </p:nvSpPr>
        <p:spPr>
          <a:xfrm>
            <a:off x="731520" y="3383280"/>
            <a:ext cx="1508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5-point controls</a:t>
            </a:r>
            <a:endParaRPr lang="en-US" sz="1000" dirty="0"/>
          </a:p>
        </p:txBody>
      </p:sp>
      <p:sp>
        <p:nvSpPr>
          <p:cNvPr id="12" name="Text 10"/>
          <p:cNvSpPr/>
          <p:nvPr/>
        </p:nvSpPr>
        <p:spPr>
          <a:xfrm>
            <a:off x="731520" y="3657600"/>
            <a:ext cx="1508760" cy="365760"/>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Significant exploitation potential (MFA, FIPS encryption, audit logging, incident response).</a:t>
            </a:r>
            <a:endParaRPr lang="en-US" sz="850" dirty="0"/>
          </a:p>
        </p:txBody>
      </p:sp>
      <p:sp>
        <p:nvSpPr>
          <p:cNvPr id="13" name="Shape 11"/>
          <p:cNvSpPr/>
          <p:nvPr/>
        </p:nvSpPr>
        <p:spPr>
          <a:xfrm>
            <a:off x="2377440" y="2697480"/>
            <a:ext cx="1691640" cy="1371600"/>
          </a:xfrm>
          <a:prstGeom prst="rect">
            <a:avLst/>
          </a:prstGeom>
          <a:solidFill>
            <a:srgbClr val="1E2D5A"/>
          </a:solidFill>
          <a:ln w="9525">
            <a:solidFill>
              <a:srgbClr val="1E2D5A"/>
            </a:solidFill>
            <a:prstDash val="solid"/>
          </a:ln>
        </p:spPr>
        <p:txBody>
          <a:bodyPr/>
          <a:lstStyle/>
          <a:p>
            <a:endParaRPr lang="en-US"/>
          </a:p>
        </p:txBody>
      </p:sp>
      <p:sp>
        <p:nvSpPr>
          <p:cNvPr id="14" name="Text 12"/>
          <p:cNvSpPr/>
          <p:nvPr/>
        </p:nvSpPr>
        <p:spPr>
          <a:xfrm>
            <a:off x="2377440" y="2743200"/>
            <a:ext cx="1691640" cy="594360"/>
          </a:xfrm>
          <a:prstGeom prst="rect">
            <a:avLst/>
          </a:prstGeom>
          <a:noFill/>
          <a:ln/>
        </p:spPr>
        <p:txBody>
          <a:bodyPr wrap="square" lIns="0" tIns="0" rIns="0" bIns="0" rtlCol="0" anchor="ctr"/>
          <a:lstStyle/>
          <a:p>
            <a:pPr marL="0" indent="0" algn="ctr">
              <a:buNone/>
            </a:pPr>
            <a:r>
              <a:rPr lang="en-US" sz="3800" b="1" dirty="0">
                <a:solidFill>
                  <a:srgbClr val="F59E0B"/>
                </a:solidFill>
                <a:latin typeface="Calibri" pitchFamily="34" charset="0"/>
                <a:ea typeface="Calibri" pitchFamily="34" charset="-122"/>
                <a:cs typeface="Calibri" pitchFamily="34" charset="-120"/>
              </a:rPr>
              <a:t>-3</a:t>
            </a:r>
            <a:endParaRPr lang="en-US" sz="3800" dirty="0"/>
          </a:p>
        </p:txBody>
      </p:sp>
      <p:sp>
        <p:nvSpPr>
          <p:cNvPr id="15" name="Text 13"/>
          <p:cNvSpPr/>
          <p:nvPr/>
        </p:nvSpPr>
        <p:spPr>
          <a:xfrm>
            <a:off x="2468880" y="3383280"/>
            <a:ext cx="1508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3-point controls</a:t>
            </a:r>
            <a:endParaRPr lang="en-US" sz="1000" dirty="0"/>
          </a:p>
        </p:txBody>
      </p:sp>
      <p:sp>
        <p:nvSpPr>
          <p:cNvPr id="16" name="Text 14"/>
          <p:cNvSpPr/>
          <p:nvPr/>
        </p:nvSpPr>
        <p:spPr>
          <a:xfrm>
            <a:off x="2468880" y="3657600"/>
            <a:ext cx="1508760" cy="365760"/>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Specific, confined effect on network security.</a:t>
            </a:r>
            <a:endParaRPr lang="en-US" sz="850" dirty="0"/>
          </a:p>
        </p:txBody>
      </p:sp>
      <p:sp>
        <p:nvSpPr>
          <p:cNvPr id="17" name="Shape 15"/>
          <p:cNvSpPr/>
          <p:nvPr/>
        </p:nvSpPr>
        <p:spPr>
          <a:xfrm>
            <a:off x="4114800" y="2697480"/>
            <a:ext cx="1691640" cy="1371600"/>
          </a:xfrm>
          <a:prstGeom prst="rect">
            <a:avLst/>
          </a:prstGeom>
          <a:solidFill>
            <a:srgbClr val="1E2D5A"/>
          </a:solidFill>
          <a:ln w="9525">
            <a:solidFill>
              <a:srgbClr val="1E2D5A"/>
            </a:solidFill>
            <a:prstDash val="solid"/>
          </a:ln>
        </p:spPr>
        <p:txBody>
          <a:bodyPr/>
          <a:lstStyle/>
          <a:p>
            <a:endParaRPr lang="en-US"/>
          </a:p>
        </p:txBody>
      </p:sp>
      <p:sp>
        <p:nvSpPr>
          <p:cNvPr id="18" name="Text 16"/>
          <p:cNvSpPr/>
          <p:nvPr/>
        </p:nvSpPr>
        <p:spPr>
          <a:xfrm>
            <a:off x="4114800" y="2743200"/>
            <a:ext cx="1691640" cy="594360"/>
          </a:xfrm>
          <a:prstGeom prst="rect">
            <a:avLst/>
          </a:prstGeom>
          <a:noFill/>
          <a:ln/>
        </p:spPr>
        <p:txBody>
          <a:bodyPr wrap="square" lIns="0" tIns="0" rIns="0" bIns="0" rtlCol="0" anchor="ctr"/>
          <a:lstStyle/>
          <a:p>
            <a:pPr marL="0" indent="0" algn="ctr">
              <a:buNone/>
            </a:pPr>
            <a:r>
              <a:rPr lang="en-US" sz="3800" b="1" dirty="0">
                <a:solidFill>
                  <a:srgbClr val="60A3F1"/>
                </a:solidFill>
                <a:latin typeface="Calibri" pitchFamily="34" charset="0"/>
                <a:ea typeface="Calibri" pitchFamily="34" charset="-122"/>
                <a:cs typeface="Calibri" pitchFamily="34" charset="-120"/>
              </a:rPr>
              <a:t>-1</a:t>
            </a:r>
            <a:endParaRPr lang="en-US" sz="3800" dirty="0"/>
          </a:p>
        </p:txBody>
      </p:sp>
      <p:sp>
        <p:nvSpPr>
          <p:cNvPr id="19" name="Text 17"/>
          <p:cNvSpPr/>
          <p:nvPr/>
        </p:nvSpPr>
        <p:spPr>
          <a:xfrm>
            <a:off x="4206240" y="3383280"/>
            <a:ext cx="15087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1-point controls</a:t>
            </a:r>
            <a:endParaRPr lang="en-US" sz="1000" dirty="0"/>
          </a:p>
        </p:txBody>
      </p:sp>
      <p:sp>
        <p:nvSpPr>
          <p:cNvPr id="20" name="Text 18"/>
          <p:cNvSpPr/>
          <p:nvPr/>
        </p:nvSpPr>
        <p:spPr>
          <a:xfrm>
            <a:off x="4206240" y="3657600"/>
            <a:ext cx="1508760" cy="365760"/>
          </a:xfrm>
          <a:prstGeom prst="rect">
            <a:avLst/>
          </a:prstGeom>
          <a:noFill/>
          <a:ln/>
        </p:spPr>
        <p:txBody>
          <a:bodyPr wrap="square" lIns="0" tIns="0" rIns="0" bIns="0" rtlCol="0" anchor="ctr"/>
          <a:lstStyle/>
          <a:p>
            <a:pPr marL="0" indent="0" algn="ctr">
              <a:buNone/>
            </a:pPr>
            <a:r>
              <a:rPr lang="en-US" sz="850" dirty="0">
                <a:solidFill>
                  <a:srgbClr val="E2E8F0"/>
                </a:solidFill>
                <a:latin typeface="Calibri" pitchFamily="34" charset="0"/>
                <a:ea typeface="Calibri" pitchFamily="34" charset="-122"/>
                <a:cs typeface="Calibri" pitchFamily="34" charset="-120"/>
              </a:rPr>
              <a:t>Limited or indirect security effect.</a:t>
            </a:r>
            <a:endParaRPr lang="en-US" sz="850" dirty="0"/>
          </a:p>
        </p:txBody>
      </p:sp>
      <p:sp>
        <p:nvSpPr>
          <p:cNvPr id="21" name="Text 19"/>
          <p:cNvSpPr/>
          <p:nvPr/>
        </p:nvSpPr>
        <p:spPr>
          <a:xfrm>
            <a:off x="640080" y="4206240"/>
            <a:ext cx="54864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Possible range: +110 (perfect) → -203 (nothing implemented)</a:t>
            </a:r>
            <a:endParaRPr lang="en-US" sz="1200" dirty="0"/>
          </a:p>
        </p:txBody>
      </p:sp>
      <p:sp>
        <p:nvSpPr>
          <p:cNvPr id="22" name="Text 20"/>
          <p:cNvSpPr/>
          <p:nvPr/>
        </p:nvSpPr>
        <p:spPr>
          <a:xfrm>
            <a:off x="640080" y="4526280"/>
            <a:ext cx="5486400" cy="548640"/>
          </a:xfrm>
          <a:prstGeom prst="rect">
            <a:avLst/>
          </a:prstGeom>
          <a:noFill/>
          <a:ln/>
        </p:spPr>
        <p:txBody>
          <a:bodyPr wrap="square" lIns="0" tIns="0" rIns="0" bIns="0" rtlCol="0" anchor="ctr"/>
          <a:lstStyle/>
          <a:p>
            <a:pPr marL="0" indent="0">
              <a:buNone/>
            </a:pPr>
            <a:r>
              <a:rPr lang="en-US" sz="1050" i="1" dirty="0">
                <a:solidFill>
                  <a:srgbClr val="E2E8F0"/>
                </a:solidFill>
                <a:latin typeface="Calibri" pitchFamily="34" charset="0"/>
                <a:ea typeface="Calibri" pitchFamily="34" charset="-122"/>
                <a:cs typeface="Calibri" pitchFamily="34" charset="-120"/>
              </a:rPr>
              <a:t>Negative scores are real and common on first self-assessment. No partial credit. A control is either fully met or it isn't.</a:t>
            </a:r>
            <a:endParaRPr lang="en-US" sz="1050" dirty="0"/>
          </a:p>
        </p:txBody>
      </p:sp>
      <p:sp>
        <p:nvSpPr>
          <p:cNvPr id="23" name="Shape 21"/>
          <p:cNvSpPr/>
          <p:nvPr/>
        </p:nvSpPr>
        <p:spPr>
          <a:xfrm>
            <a:off x="640080" y="5120640"/>
            <a:ext cx="5486400" cy="0"/>
          </a:xfrm>
          <a:prstGeom prst="line">
            <a:avLst/>
          </a:prstGeom>
          <a:noFill/>
          <a:ln w="12700">
            <a:solidFill>
              <a:srgbClr val="2233AA"/>
            </a:solidFill>
            <a:prstDash val="solid"/>
          </a:ln>
        </p:spPr>
        <p:txBody>
          <a:bodyPr/>
          <a:lstStyle/>
          <a:p>
            <a:endParaRPr lang="en-US"/>
          </a:p>
        </p:txBody>
      </p:sp>
      <p:sp>
        <p:nvSpPr>
          <p:cNvPr id="24" name="Text 22"/>
          <p:cNvSpPr/>
          <p:nvPr/>
        </p:nvSpPr>
        <p:spPr>
          <a:xfrm>
            <a:off x="640080" y="5212080"/>
            <a:ext cx="5486400" cy="228600"/>
          </a:xfrm>
          <a:prstGeom prst="rect">
            <a:avLst/>
          </a:prstGeom>
          <a:noFill/>
          <a:ln/>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CONDITIONAL CERTIFICATION</a:t>
            </a:r>
            <a:endParaRPr lang="en-US" sz="900" dirty="0"/>
          </a:p>
        </p:txBody>
      </p:sp>
      <p:sp>
        <p:nvSpPr>
          <p:cNvPr id="25" name="Text 23"/>
          <p:cNvSpPr/>
          <p:nvPr/>
        </p:nvSpPr>
        <p:spPr>
          <a:xfrm>
            <a:off x="640080" y="5440680"/>
            <a:ext cx="5486400" cy="59436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Score ≥ 88/110, all 3- and 5-point controls fully met. Remaining 1-point gaps allowed on POA&amp;M with 180-day remediation. Below 88 = no certification.</a:t>
            </a:r>
            <a:endParaRPr lang="en-US" sz="1050" dirty="0"/>
          </a:p>
        </p:txBody>
      </p:sp>
      <p:sp>
        <p:nvSpPr>
          <p:cNvPr id="26" name="Shape 24"/>
          <p:cNvSpPr/>
          <p:nvPr/>
        </p:nvSpPr>
        <p:spPr>
          <a:xfrm>
            <a:off x="6400800" y="1554480"/>
            <a:ext cx="2491740" cy="256032"/>
          </a:xfrm>
          <a:prstGeom prst="rect">
            <a:avLst/>
          </a:prstGeom>
          <a:solidFill>
            <a:srgbClr val="1E2D5A"/>
          </a:solidFill>
          <a:ln w="9525">
            <a:solidFill>
              <a:srgbClr val="F59E0B"/>
            </a:solidFill>
            <a:prstDash val="solid"/>
          </a:ln>
        </p:spPr>
        <p:txBody>
          <a:bodyPr/>
          <a:lstStyle/>
          <a:p>
            <a:endParaRPr lang="en-US"/>
          </a:p>
        </p:txBody>
      </p:sp>
      <p:sp>
        <p:nvSpPr>
          <p:cNvPr id="27" name="Text 25"/>
          <p:cNvSpPr/>
          <p:nvPr/>
        </p:nvSpPr>
        <p:spPr>
          <a:xfrm>
            <a:off x="6400800" y="1554480"/>
            <a:ext cx="2491740"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WHY THIS MATTERS FOR SMBs</a:t>
            </a:r>
            <a:endParaRPr lang="en-US" sz="900" dirty="0"/>
          </a:p>
        </p:txBody>
      </p:sp>
      <p:sp>
        <p:nvSpPr>
          <p:cNvPr id="28" name="Text 26"/>
          <p:cNvSpPr/>
          <p:nvPr/>
        </p:nvSpPr>
        <p:spPr>
          <a:xfrm>
            <a:off x="6400800" y="196596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Primes are checking SPRS scores NOW</a:t>
            </a:r>
            <a:endParaRPr lang="en-US" sz="1150" dirty="0"/>
          </a:p>
        </p:txBody>
      </p:sp>
      <p:sp>
        <p:nvSpPr>
          <p:cNvPr id="29" name="Text 27"/>
          <p:cNvSpPr/>
          <p:nvPr/>
        </p:nvSpPr>
        <p:spPr>
          <a:xfrm>
            <a:off x="6400800" y="2240280"/>
            <a:ext cx="53035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Even before Phase 2, many primes require subs to have a current SPRS score above a threshold before issuing purchase orders. A blank or negative score can disqualify you from bids.</a:t>
            </a:r>
            <a:endParaRPr lang="en-US" sz="1000" dirty="0"/>
          </a:p>
        </p:txBody>
      </p:sp>
      <p:sp>
        <p:nvSpPr>
          <p:cNvPr id="30" name="Text 28"/>
          <p:cNvSpPr/>
          <p:nvPr/>
        </p:nvSpPr>
        <p:spPr>
          <a:xfrm>
            <a:off x="6400800" y="3044952"/>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 few 5-point misses sink the score fast</a:t>
            </a:r>
            <a:endParaRPr lang="en-US" sz="1150" dirty="0"/>
          </a:p>
        </p:txBody>
      </p:sp>
      <p:sp>
        <p:nvSpPr>
          <p:cNvPr id="31" name="Text 29"/>
          <p:cNvSpPr/>
          <p:nvPr/>
        </p:nvSpPr>
        <p:spPr>
          <a:xfrm>
            <a:off x="6400800" y="3319272"/>
            <a:ext cx="53035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Missing MFA on privileged accounts (-5), no FIPS-validated encryption (-5), no audit logging (-5). Three controls can drop you 15 points. That's the difference between conditional cert and re-assessment.</a:t>
            </a:r>
            <a:endParaRPr lang="en-US" sz="1000" dirty="0"/>
          </a:p>
        </p:txBody>
      </p:sp>
      <p:sp>
        <p:nvSpPr>
          <p:cNvPr id="32" name="Text 30"/>
          <p:cNvSpPr/>
          <p:nvPr/>
        </p:nvSpPr>
        <p:spPr>
          <a:xfrm>
            <a:off x="6400800" y="4123944"/>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False attestation = False Claims Act</a:t>
            </a:r>
            <a:endParaRPr lang="en-US" sz="1150" dirty="0"/>
          </a:p>
        </p:txBody>
      </p:sp>
      <p:sp>
        <p:nvSpPr>
          <p:cNvPr id="33" name="Text 31"/>
          <p:cNvSpPr/>
          <p:nvPr/>
        </p:nvSpPr>
        <p:spPr>
          <a:xfrm>
            <a:off x="6400800" y="4398264"/>
            <a:ext cx="53035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 senior official signs the SPRS affirmation. Inaccurate scores have triggered FCA actions with treble damages and per-claim penalties. Honest scoring protects you.</a:t>
            </a:r>
            <a:endParaRPr lang="en-US" sz="1000" dirty="0"/>
          </a:p>
        </p:txBody>
      </p:sp>
      <p:sp>
        <p:nvSpPr>
          <p:cNvPr id="34" name="Text 32"/>
          <p:cNvSpPr/>
          <p:nvPr/>
        </p:nvSpPr>
        <p:spPr>
          <a:xfrm>
            <a:off x="6400800" y="5202936"/>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Document the math, not just the score</a:t>
            </a:r>
            <a:endParaRPr lang="en-US" sz="1150" dirty="0"/>
          </a:p>
        </p:txBody>
      </p:sp>
      <p:sp>
        <p:nvSpPr>
          <p:cNvPr id="35" name="Text 33"/>
          <p:cNvSpPr/>
          <p:nvPr/>
        </p:nvSpPr>
        <p:spPr>
          <a:xfrm>
            <a:off x="6400800" y="5477256"/>
            <a:ext cx="5303520" cy="77724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Assessors will ask which controls you scored 'Not Met' and why. Without a clear gap register tied to the SPRS calculation, you cannot defend the number.</a:t>
            </a:r>
            <a:endParaRPr lang="en-US" sz="1000" dirty="0"/>
          </a:p>
        </p:txBody>
      </p:sp>
      <p:sp>
        <p:nvSpPr>
          <p:cNvPr id="36" name="Shape 34"/>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7" name="Text 35"/>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8" name="Text 36"/>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 / 23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“Doesn’t the ATO Cover CMMC?”</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Three different authorizations, three different scopes. None substitutes for the others.</a:t>
            </a:r>
            <a:endParaRPr lang="en-US" sz="1300" dirty="0"/>
          </a:p>
        </p:txBody>
      </p:sp>
      <p:sp>
        <p:nvSpPr>
          <p:cNvPr id="5" name="Shape 3"/>
          <p:cNvSpPr/>
          <p:nvPr/>
        </p:nvSpPr>
        <p:spPr>
          <a:xfrm>
            <a:off x="457200" y="1554480"/>
            <a:ext cx="11277295" cy="731520"/>
          </a:xfrm>
          <a:prstGeom prst="rect">
            <a:avLst/>
          </a:prstGeom>
          <a:solidFill>
            <a:srgbClr val="1E2D5A"/>
          </a:solidFill>
          <a:ln w="9525">
            <a:solidFill>
              <a:srgbClr val="1E2D5A"/>
            </a:solidFill>
            <a:prstDash val="solid"/>
          </a:ln>
        </p:spPr>
        <p:txBody>
          <a:bodyPr/>
          <a:lstStyle/>
          <a:p>
            <a:endParaRPr lang="en-US"/>
          </a:p>
        </p:txBody>
      </p:sp>
      <p:sp>
        <p:nvSpPr>
          <p:cNvPr id="6" name="Shape 4"/>
          <p:cNvSpPr/>
          <p:nvPr/>
        </p:nvSpPr>
        <p:spPr>
          <a:xfrm>
            <a:off x="457200" y="1554480"/>
            <a:ext cx="73152" cy="731520"/>
          </a:xfrm>
          <a:prstGeom prst="rect">
            <a:avLst/>
          </a:prstGeom>
          <a:solidFill>
            <a:srgbClr val="8844DD"/>
          </a:solidFill>
          <a:ln w="12700">
            <a:solidFill>
              <a:srgbClr val="8844DD"/>
            </a:solidFill>
            <a:prstDash val="solid"/>
          </a:ln>
        </p:spPr>
        <p:txBody>
          <a:bodyPr/>
          <a:lstStyle/>
          <a:p>
            <a:endParaRPr lang="en-US"/>
          </a:p>
        </p:txBody>
      </p:sp>
      <p:sp>
        <p:nvSpPr>
          <p:cNvPr id="7" name="Text 5"/>
          <p:cNvSpPr/>
          <p:nvPr/>
        </p:nvSpPr>
        <p:spPr>
          <a:xfrm>
            <a:off x="685800" y="1627632"/>
            <a:ext cx="10820095" cy="59436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An ATO authorizes a government system to operate. CMMC certifies a contractor's environment handling CUI. Same risk concepts, different scopes, different obligated parties. Neither one substitutes for the other.</a:t>
            </a:r>
            <a:endParaRPr lang="en-US" sz="1200" dirty="0"/>
          </a:p>
        </p:txBody>
      </p:sp>
      <p:sp>
        <p:nvSpPr>
          <p:cNvPr id="8" name="Shape 6"/>
          <p:cNvSpPr/>
          <p:nvPr/>
        </p:nvSpPr>
        <p:spPr>
          <a:xfrm>
            <a:off x="457200" y="2468880"/>
            <a:ext cx="3703320" cy="3657600"/>
          </a:xfrm>
          <a:prstGeom prst="rect">
            <a:avLst/>
          </a:prstGeom>
          <a:solidFill>
            <a:srgbClr val="131A35"/>
          </a:solidFill>
          <a:ln w="9525">
            <a:solidFill>
              <a:srgbClr val="1E2D5A"/>
            </a:solidFill>
            <a:prstDash val="solid"/>
          </a:ln>
        </p:spPr>
        <p:txBody>
          <a:bodyPr/>
          <a:lstStyle/>
          <a:p>
            <a:endParaRPr lang="en-US"/>
          </a:p>
        </p:txBody>
      </p:sp>
      <p:sp>
        <p:nvSpPr>
          <p:cNvPr id="9" name="Text 7"/>
          <p:cNvSpPr/>
          <p:nvPr/>
        </p:nvSpPr>
        <p:spPr>
          <a:xfrm>
            <a:off x="640080" y="260604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Agency ATO (RMF)</a:t>
            </a:r>
            <a:endParaRPr lang="en-US" sz="1400" dirty="0"/>
          </a:p>
        </p:txBody>
      </p:sp>
      <p:sp>
        <p:nvSpPr>
          <p:cNvPr id="10" name="Text 8"/>
          <p:cNvSpPr/>
          <p:nvPr/>
        </p:nvSpPr>
        <p:spPr>
          <a:xfrm>
            <a:off x="640080" y="2971800"/>
            <a:ext cx="3337560" cy="274320"/>
          </a:xfrm>
          <a:prstGeom prst="rect">
            <a:avLst/>
          </a:prstGeom>
          <a:noFill/>
          <a:ln/>
        </p:spPr>
        <p:txBody>
          <a:bodyPr wrap="square" lIns="0" tIns="0" rIns="0" bIns="0" rtlCol="0" anchor="ctr"/>
          <a:lstStyle/>
          <a:p>
            <a:pPr marL="0" indent="0">
              <a:buNone/>
            </a:pPr>
            <a:r>
              <a:rPr lang="en-US" sz="1000" i="1" dirty="0">
                <a:solidFill>
                  <a:srgbClr val="60A3F1"/>
                </a:solidFill>
                <a:latin typeface="Calibri" pitchFamily="34" charset="0"/>
                <a:ea typeface="Calibri" pitchFamily="34" charset="-122"/>
                <a:cs typeface="Calibri" pitchFamily="34" charset="-120"/>
              </a:rPr>
              <a:t>NIST SP 800-37 / 800-53</a:t>
            </a:r>
            <a:endParaRPr lang="en-US" sz="1000" dirty="0"/>
          </a:p>
        </p:txBody>
      </p:sp>
      <p:sp>
        <p:nvSpPr>
          <p:cNvPr id="11" name="Shape 9"/>
          <p:cNvSpPr/>
          <p:nvPr/>
        </p:nvSpPr>
        <p:spPr>
          <a:xfrm>
            <a:off x="640080" y="3291840"/>
            <a:ext cx="3337560" cy="0"/>
          </a:xfrm>
          <a:prstGeom prst="line">
            <a:avLst/>
          </a:prstGeom>
          <a:noFill/>
          <a:ln w="9525">
            <a:solidFill>
              <a:srgbClr val="2233AA"/>
            </a:solidFill>
            <a:prstDash val="solid"/>
          </a:ln>
        </p:spPr>
        <p:txBody>
          <a:bodyPr/>
          <a:lstStyle/>
          <a:p>
            <a:endParaRPr lang="en-US"/>
          </a:p>
        </p:txBody>
      </p:sp>
      <p:sp>
        <p:nvSpPr>
          <p:cNvPr id="12" name="Text 10"/>
          <p:cNvSpPr/>
          <p:nvPr/>
        </p:nvSpPr>
        <p:spPr>
          <a:xfrm>
            <a:off x="640080" y="3429000"/>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WHO IT COVERS</a:t>
            </a:r>
            <a:endParaRPr lang="en-US" sz="850" dirty="0"/>
          </a:p>
        </p:txBody>
      </p:sp>
      <p:sp>
        <p:nvSpPr>
          <p:cNvPr id="13" name="Text 11"/>
          <p:cNvSpPr/>
          <p:nvPr/>
        </p:nvSpPr>
        <p:spPr>
          <a:xfrm>
            <a:off x="640080" y="3630168"/>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Federal agency for a Federal information system.</a:t>
            </a:r>
            <a:endParaRPr lang="en-US" sz="950" dirty="0"/>
          </a:p>
        </p:txBody>
      </p:sp>
      <p:sp>
        <p:nvSpPr>
          <p:cNvPr id="14" name="Text 12"/>
          <p:cNvSpPr/>
          <p:nvPr/>
        </p:nvSpPr>
        <p:spPr>
          <a:xfrm>
            <a:off x="640080" y="4087368"/>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HOW IT'S GRANTED</a:t>
            </a:r>
            <a:endParaRPr lang="en-US" sz="850" dirty="0"/>
          </a:p>
        </p:txBody>
      </p:sp>
      <p:sp>
        <p:nvSpPr>
          <p:cNvPr id="15" name="Text 13"/>
          <p:cNvSpPr/>
          <p:nvPr/>
        </p:nvSpPr>
        <p:spPr>
          <a:xfrm>
            <a:off x="640080" y="4288536"/>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Authorizing Official accepts residual risk and signs an ATO. Bound to that specific system and boundary.</a:t>
            </a:r>
            <a:endParaRPr lang="en-US" sz="950" dirty="0"/>
          </a:p>
        </p:txBody>
      </p:sp>
      <p:sp>
        <p:nvSpPr>
          <p:cNvPr id="16" name="Text 14"/>
          <p:cNvSpPr/>
          <p:nvPr/>
        </p:nvSpPr>
        <p:spPr>
          <a:xfrm>
            <a:off x="640080" y="4745736"/>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WHAT IT GIVES YOU</a:t>
            </a:r>
            <a:endParaRPr lang="en-US" sz="850" dirty="0"/>
          </a:p>
        </p:txBody>
      </p:sp>
      <p:sp>
        <p:nvSpPr>
          <p:cNvPr id="17" name="Text 15"/>
          <p:cNvSpPr/>
          <p:nvPr/>
        </p:nvSpPr>
        <p:spPr>
          <a:xfrm>
            <a:off x="640080" y="4946904"/>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Authorization to operate ONE government system. Does not authorize a contractor's corporate IT.</a:t>
            </a:r>
            <a:endParaRPr lang="en-US" sz="950" dirty="0"/>
          </a:p>
        </p:txBody>
      </p:sp>
      <p:sp>
        <p:nvSpPr>
          <p:cNvPr id="18" name="Text 16"/>
          <p:cNvSpPr/>
          <p:nvPr/>
        </p:nvSpPr>
        <p:spPr>
          <a:xfrm>
            <a:off x="640080" y="5404104"/>
            <a:ext cx="3337560" cy="201168"/>
          </a:xfrm>
          <a:prstGeom prst="rect">
            <a:avLst/>
          </a:prstGeom>
          <a:noFill/>
          <a:ln/>
        </p:spPr>
        <p:txBody>
          <a:bodyPr wrap="square" lIns="0" tIns="0" rIns="0" bIns="0" rtlCol="0" anchor="ctr"/>
          <a:lstStyle/>
          <a:p>
            <a:pPr marL="0" indent="0">
              <a:buNone/>
            </a:pPr>
            <a:r>
              <a:rPr lang="en-US" sz="850" b="1" kern="0" spc="200" dirty="0">
                <a:solidFill>
                  <a:srgbClr val="F59E0B"/>
                </a:solidFill>
                <a:latin typeface="Calibri" pitchFamily="34" charset="0"/>
                <a:ea typeface="Calibri" pitchFamily="34" charset="-122"/>
                <a:cs typeface="Calibri" pitchFamily="34" charset="-120"/>
              </a:rPr>
              <a:t>DOES IT COVER CMMC?</a:t>
            </a:r>
            <a:endParaRPr lang="en-US" sz="850" dirty="0"/>
          </a:p>
        </p:txBody>
      </p:sp>
      <p:sp>
        <p:nvSpPr>
          <p:cNvPr id="19" name="Text 17"/>
          <p:cNvSpPr/>
          <p:nvPr/>
        </p:nvSpPr>
        <p:spPr>
          <a:xfrm>
            <a:off x="640080" y="5605272"/>
            <a:ext cx="333756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No. Different framework, different obligated party. CMMC is required on the contractor side regardless.</a:t>
            </a:r>
            <a:endParaRPr lang="en-US" sz="950" dirty="0"/>
          </a:p>
        </p:txBody>
      </p:sp>
      <p:sp>
        <p:nvSpPr>
          <p:cNvPr id="20" name="Shape 18"/>
          <p:cNvSpPr/>
          <p:nvPr/>
        </p:nvSpPr>
        <p:spPr>
          <a:xfrm>
            <a:off x="4325112" y="2468880"/>
            <a:ext cx="3703320" cy="3657600"/>
          </a:xfrm>
          <a:prstGeom prst="rect">
            <a:avLst/>
          </a:prstGeom>
          <a:solidFill>
            <a:srgbClr val="131A35"/>
          </a:solidFill>
          <a:ln w="9525">
            <a:solidFill>
              <a:srgbClr val="1E2D5A"/>
            </a:solidFill>
            <a:prstDash val="solid"/>
          </a:ln>
        </p:spPr>
        <p:txBody>
          <a:bodyPr/>
          <a:lstStyle/>
          <a:p>
            <a:endParaRPr lang="en-US"/>
          </a:p>
        </p:txBody>
      </p:sp>
      <p:sp>
        <p:nvSpPr>
          <p:cNvPr id="21" name="Text 19"/>
          <p:cNvSpPr/>
          <p:nvPr/>
        </p:nvSpPr>
        <p:spPr>
          <a:xfrm>
            <a:off x="4507992" y="260604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FedRAMP (Cloud)</a:t>
            </a:r>
            <a:endParaRPr lang="en-US" sz="1400" dirty="0"/>
          </a:p>
        </p:txBody>
      </p:sp>
      <p:sp>
        <p:nvSpPr>
          <p:cNvPr id="22" name="Text 20"/>
          <p:cNvSpPr/>
          <p:nvPr/>
        </p:nvSpPr>
        <p:spPr>
          <a:xfrm>
            <a:off x="4507992" y="2971800"/>
            <a:ext cx="3337560" cy="274320"/>
          </a:xfrm>
          <a:prstGeom prst="rect">
            <a:avLst/>
          </a:prstGeom>
          <a:noFill/>
          <a:ln/>
        </p:spPr>
        <p:txBody>
          <a:bodyPr wrap="square" lIns="0" tIns="0" rIns="0" bIns="0" rtlCol="0" anchor="ctr"/>
          <a:lstStyle/>
          <a:p>
            <a:pPr marL="0" indent="0">
              <a:buNone/>
            </a:pPr>
            <a:r>
              <a:rPr lang="en-US" sz="1000" i="1" dirty="0">
                <a:solidFill>
                  <a:srgbClr val="60A3F1"/>
                </a:solidFill>
                <a:latin typeface="Calibri" pitchFamily="34" charset="0"/>
                <a:ea typeface="Calibri" pitchFamily="34" charset="-122"/>
                <a:cs typeface="Calibri" pitchFamily="34" charset="-120"/>
              </a:rPr>
              <a:t>FedRAMP Moderate / High</a:t>
            </a:r>
            <a:endParaRPr lang="en-US" sz="1000" dirty="0"/>
          </a:p>
        </p:txBody>
      </p:sp>
      <p:sp>
        <p:nvSpPr>
          <p:cNvPr id="23" name="Shape 21"/>
          <p:cNvSpPr/>
          <p:nvPr/>
        </p:nvSpPr>
        <p:spPr>
          <a:xfrm>
            <a:off x="4507992" y="3291840"/>
            <a:ext cx="3337560" cy="0"/>
          </a:xfrm>
          <a:prstGeom prst="line">
            <a:avLst/>
          </a:prstGeom>
          <a:noFill/>
          <a:ln w="9525">
            <a:solidFill>
              <a:srgbClr val="2233AA"/>
            </a:solidFill>
            <a:prstDash val="solid"/>
          </a:ln>
        </p:spPr>
        <p:txBody>
          <a:bodyPr/>
          <a:lstStyle/>
          <a:p>
            <a:endParaRPr lang="en-US"/>
          </a:p>
        </p:txBody>
      </p:sp>
      <p:sp>
        <p:nvSpPr>
          <p:cNvPr id="24" name="Text 22"/>
          <p:cNvSpPr/>
          <p:nvPr/>
        </p:nvSpPr>
        <p:spPr>
          <a:xfrm>
            <a:off x="4507992" y="3429000"/>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WHO IT COVERS</a:t>
            </a:r>
            <a:endParaRPr lang="en-US" sz="850" dirty="0"/>
          </a:p>
        </p:txBody>
      </p:sp>
      <p:sp>
        <p:nvSpPr>
          <p:cNvPr id="25" name="Text 23"/>
          <p:cNvSpPr/>
          <p:nvPr/>
        </p:nvSpPr>
        <p:spPr>
          <a:xfrm>
            <a:off x="4507992" y="3630168"/>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Cloud Service Provider hosting federal data.</a:t>
            </a:r>
            <a:endParaRPr lang="en-US" sz="950" dirty="0"/>
          </a:p>
        </p:txBody>
      </p:sp>
      <p:sp>
        <p:nvSpPr>
          <p:cNvPr id="26" name="Text 24"/>
          <p:cNvSpPr/>
          <p:nvPr/>
        </p:nvSpPr>
        <p:spPr>
          <a:xfrm>
            <a:off x="4507992" y="4087368"/>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HOW IT'S GRANTED</a:t>
            </a:r>
            <a:endParaRPr lang="en-US" sz="850" dirty="0"/>
          </a:p>
        </p:txBody>
      </p:sp>
      <p:sp>
        <p:nvSpPr>
          <p:cNvPr id="27" name="Text 25"/>
          <p:cNvSpPr/>
          <p:nvPr/>
        </p:nvSpPr>
        <p:spPr>
          <a:xfrm>
            <a:off x="4507992" y="4288536"/>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Agency or FedRAMP Board grants authorization after 3PAO assessment. Listed in FedRAMP Marketplace.</a:t>
            </a:r>
            <a:endParaRPr lang="en-US" sz="950" dirty="0"/>
          </a:p>
        </p:txBody>
      </p:sp>
      <p:sp>
        <p:nvSpPr>
          <p:cNvPr id="28" name="Text 26"/>
          <p:cNvSpPr/>
          <p:nvPr/>
        </p:nvSpPr>
        <p:spPr>
          <a:xfrm>
            <a:off x="4507992" y="4745736"/>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WHAT IT GIVES YOU</a:t>
            </a:r>
            <a:endParaRPr lang="en-US" sz="850" dirty="0"/>
          </a:p>
        </p:txBody>
      </p:sp>
      <p:sp>
        <p:nvSpPr>
          <p:cNvPr id="29" name="Text 27"/>
          <p:cNvSpPr/>
          <p:nvPr/>
        </p:nvSpPr>
        <p:spPr>
          <a:xfrm>
            <a:off x="4507992" y="4946904"/>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Authorization for the CSP to host federal data. Satisfies the CSP-side requirement of DFARS 7012(b)(2)(ii)(D).</a:t>
            </a:r>
            <a:endParaRPr lang="en-US" sz="950" dirty="0"/>
          </a:p>
        </p:txBody>
      </p:sp>
      <p:sp>
        <p:nvSpPr>
          <p:cNvPr id="30" name="Text 28"/>
          <p:cNvSpPr/>
          <p:nvPr/>
        </p:nvSpPr>
        <p:spPr>
          <a:xfrm>
            <a:off x="4507992" y="5404104"/>
            <a:ext cx="3337560" cy="201168"/>
          </a:xfrm>
          <a:prstGeom prst="rect">
            <a:avLst/>
          </a:prstGeom>
          <a:noFill/>
          <a:ln/>
        </p:spPr>
        <p:txBody>
          <a:bodyPr wrap="square" lIns="0" tIns="0" rIns="0" bIns="0" rtlCol="0" anchor="ctr"/>
          <a:lstStyle/>
          <a:p>
            <a:pPr marL="0" indent="0">
              <a:buNone/>
            </a:pPr>
            <a:r>
              <a:rPr lang="en-US" sz="850" b="1" kern="0" spc="200" dirty="0">
                <a:solidFill>
                  <a:srgbClr val="F59E0B"/>
                </a:solidFill>
                <a:latin typeface="Calibri" pitchFamily="34" charset="0"/>
                <a:ea typeface="Calibri" pitchFamily="34" charset="-122"/>
                <a:cs typeface="Calibri" pitchFamily="34" charset="-120"/>
              </a:rPr>
              <a:t>DOES IT COVER CMMC?</a:t>
            </a:r>
            <a:endParaRPr lang="en-US" sz="850" dirty="0"/>
          </a:p>
        </p:txBody>
      </p:sp>
      <p:sp>
        <p:nvSpPr>
          <p:cNvPr id="31" name="Text 29"/>
          <p:cNvSpPr/>
          <p:nvPr/>
        </p:nvSpPr>
        <p:spPr>
          <a:xfrm>
            <a:off x="4507992" y="5605272"/>
            <a:ext cx="333756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No. It covers the CSP, not you. Your CMMC assessment still evaluates your environment as a whole.</a:t>
            </a:r>
            <a:endParaRPr lang="en-US" sz="950" dirty="0"/>
          </a:p>
        </p:txBody>
      </p:sp>
      <p:sp>
        <p:nvSpPr>
          <p:cNvPr id="32" name="Shape 30"/>
          <p:cNvSpPr/>
          <p:nvPr/>
        </p:nvSpPr>
        <p:spPr>
          <a:xfrm>
            <a:off x="8193024" y="2468880"/>
            <a:ext cx="3703320" cy="3657600"/>
          </a:xfrm>
          <a:prstGeom prst="rect">
            <a:avLst/>
          </a:prstGeom>
          <a:solidFill>
            <a:srgbClr val="131A35"/>
          </a:solidFill>
          <a:ln w="9525">
            <a:solidFill>
              <a:srgbClr val="1E2D5A"/>
            </a:solidFill>
            <a:prstDash val="solid"/>
          </a:ln>
        </p:spPr>
        <p:txBody>
          <a:bodyPr/>
          <a:lstStyle/>
          <a:p>
            <a:endParaRPr lang="en-US"/>
          </a:p>
        </p:txBody>
      </p:sp>
      <p:sp>
        <p:nvSpPr>
          <p:cNvPr id="33" name="Text 31"/>
          <p:cNvSpPr/>
          <p:nvPr/>
        </p:nvSpPr>
        <p:spPr>
          <a:xfrm>
            <a:off x="8375904" y="2606040"/>
            <a:ext cx="333756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CMMC Level 2 Certificate</a:t>
            </a:r>
            <a:endParaRPr lang="en-US" sz="1400" dirty="0"/>
          </a:p>
        </p:txBody>
      </p:sp>
      <p:sp>
        <p:nvSpPr>
          <p:cNvPr id="34" name="Text 32"/>
          <p:cNvSpPr/>
          <p:nvPr/>
        </p:nvSpPr>
        <p:spPr>
          <a:xfrm>
            <a:off x="8375904" y="2971800"/>
            <a:ext cx="3337560" cy="274320"/>
          </a:xfrm>
          <a:prstGeom prst="rect">
            <a:avLst/>
          </a:prstGeom>
          <a:noFill/>
          <a:ln/>
        </p:spPr>
        <p:txBody>
          <a:bodyPr wrap="square" lIns="0" tIns="0" rIns="0" bIns="0" rtlCol="0" anchor="ctr"/>
          <a:lstStyle/>
          <a:p>
            <a:pPr marL="0" indent="0">
              <a:buNone/>
            </a:pPr>
            <a:r>
              <a:rPr lang="en-US" sz="1000" i="1" dirty="0">
                <a:solidFill>
                  <a:srgbClr val="60A3F1"/>
                </a:solidFill>
                <a:latin typeface="Calibri" pitchFamily="34" charset="0"/>
                <a:ea typeface="Calibri" pitchFamily="34" charset="-122"/>
                <a:cs typeface="Calibri" pitchFamily="34" charset="-120"/>
              </a:rPr>
              <a:t>NIST SP 800-171 Rev. 2</a:t>
            </a:r>
            <a:endParaRPr lang="en-US" sz="1000" dirty="0"/>
          </a:p>
        </p:txBody>
      </p:sp>
      <p:sp>
        <p:nvSpPr>
          <p:cNvPr id="35" name="Shape 33"/>
          <p:cNvSpPr/>
          <p:nvPr/>
        </p:nvSpPr>
        <p:spPr>
          <a:xfrm>
            <a:off x="8375904" y="3291840"/>
            <a:ext cx="3337560" cy="0"/>
          </a:xfrm>
          <a:prstGeom prst="line">
            <a:avLst/>
          </a:prstGeom>
          <a:noFill/>
          <a:ln w="9525">
            <a:solidFill>
              <a:srgbClr val="2233AA"/>
            </a:solidFill>
            <a:prstDash val="solid"/>
          </a:ln>
        </p:spPr>
        <p:txBody>
          <a:bodyPr/>
          <a:lstStyle/>
          <a:p>
            <a:endParaRPr lang="en-US"/>
          </a:p>
        </p:txBody>
      </p:sp>
      <p:sp>
        <p:nvSpPr>
          <p:cNvPr id="36" name="Text 34"/>
          <p:cNvSpPr/>
          <p:nvPr/>
        </p:nvSpPr>
        <p:spPr>
          <a:xfrm>
            <a:off x="8375904" y="3429000"/>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WHO IT COVERS</a:t>
            </a:r>
            <a:endParaRPr lang="en-US" sz="850" dirty="0"/>
          </a:p>
        </p:txBody>
      </p:sp>
      <p:sp>
        <p:nvSpPr>
          <p:cNvPr id="37" name="Text 35"/>
          <p:cNvSpPr/>
          <p:nvPr/>
        </p:nvSpPr>
        <p:spPr>
          <a:xfrm>
            <a:off x="8375904" y="3630168"/>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DoD contractor / subcontractor handling CUI.</a:t>
            </a:r>
            <a:endParaRPr lang="en-US" sz="950" dirty="0"/>
          </a:p>
        </p:txBody>
      </p:sp>
      <p:sp>
        <p:nvSpPr>
          <p:cNvPr id="38" name="Text 36"/>
          <p:cNvSpPr/>
          <p:nvPr/>
        </p:nvSpPr>
        <p:spPr>
          <a:xfrm>
            <a:off x="8375904" y="4087368"/>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HOW IT'S GRANTED</a:t>
            </a:r>
            <a:endParaRPr lang="en-US" sz="850" dirty="0"/>
          </a:p>
        </p:txBody>
      </p:sp>
      <p:sp>
        <p:nvSpPr>
          <p:cNvPr id="39" name="Text 37"/>
          <p:cNvSpPr/>
          <p:nvPr/>
        </p:nvSpPr>
        <p:spPr>
          <a:xfrm>
            <a:off x="8375904" y="4288536"/>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C3PAO assessment; certificate posted in CMMC eMASS. Valid 3 years with annual affirmation.</a:t>
            </a:r>
            <a:endParaRPr lang="en-US" sz="950" dirty="0"/>
          </a:p>
        </p:txBody>
      </p:sp>
      <p:sp>
        <p:nvSpPr>
          <p:cNvPr id="40" name="Text 38"/>
          <p:cNvSpPr/>
          <p:nvPr/>
        </p:nvSpPr>
        <p:spPr>
          <a:xfrm>
            <a:off x="8375904" y="4745736"/>
            <a:ext cx="3337560" cy="201168"/>
          </a:xfrm>
          <a:prstGeom prst="rect">
            <a:avLst/>
          </a:prstGeom>
          <a:noFill/>
          <a:ln/>
        </p:spPr>
        <p:txBody>
          <a:bodyPr wrap="square" lIns="0" tIns="0" rIns="0" bIns="0" rtlCol="0" anchor="ctr"/>
          <a:lstStyle/>
          <a:p>
            <a:pPr marL="0" indent="0">
              <a:buNone/>
            </a:pPr>
            <a:r>
              <a:rPr lang="en-US" sz="850" b="1" kern="0" spc="200" dirty="0">
                <a:solidFill>
                  <a:srgbClr val="94A3B8"/>
                </a:solidFill>
                <a:latin typeface="Calibri" pitchFamily="34" charset="0"/>
                <a:ea typeface="Calibri" pitchFamily="34" charset="-122"/>
                <a:cs typeface="Calibri" pitchFamily="34" charset="-120"/>
              </a:rPr>
              <a:t>WHAT IT GIVES YOU</a:t>
            </a:r>
            <a:endParaRPr lang="en-US" sz="850" dirty="0"/>
          </a:p>
        </p:txBody>
      </p:sp>
      <p:sp>
        <p:nvSpPr>
          <p:cNvPr id="41" name="Text 39"/>
          <p:cNvSpPr/>
          <p:nvPr/>
        </p:nvSpPr>
        <p:spPr>
          <a:xfrm>
            <a:off x="8375904" y="4946904"/>
            <a:ext cx="3337560" cy="45720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Independent verification you implement all 110 NIST 800-171 controls on systems handling CUI.</a:t>
            </a:r>
            <a:endParaRPr lang="en-US" sz="950" dirty="0"/>
          </a:p>
        </p:txBody>
      </p:sp>
      <p:sp>
        <p:nvSpPr>
          <p:cNvPr id="42" name="Text 40"/>
          <p:cNvSpPr/>
          <p:nvPr/>
        </p:nvSpPr>
        <p:spPr>
          <a:xfrm>
            <a:off x="8375904" y="5404104"/>
            <a:ext cx="3337560" cy="201168"/>
          </a:xfrm>
          <a:prstGeom prst="rect">
            <a:avLst/>
          </a:prstGeom>
          <a:noFill/>
          <a:ln/>
        </p:spPr>
        <p:txBody>
          <a:bodyPr wrap="square" lIns="0" tIns="0" rIns="0" bIns="0" rtlCol="0" anchor="ctr"/>
          <a:lstStyle/>
          <a:p>
            <a:pPr marL="0" indent="0">
              <a:buNone/>
            </a:pPr>
            <a:r>
              <a:rPr lang="en-US" sz="850" b="1" kern="0" spc="200" dirty="0">
                <a:solidFill>
                  <a:srgbClr val="F59E0B"/>
                </a:solidFill>
                <a:latin typeface="Calibri" pitchFamily="34" charset="0"/>
                <a:ea typeface="Calibri" pitchFamily="34" charset="-122"/>
                <a:cs typeface="Calibri" pitchFamily="34" charset="-120"/>
              </a:rPr>
              <a:t>DOES IT COVER CMMC?</a:t>
            </a:r>
            <a:endParaRPr lang="en-US" sz="850" dirty="0"/>
          </a:p>
        </p:txBody>
      </p:sp>
      <p:sp>
        <p:nvSpPr>
          <p:cNvPr id="43" name="Text 41"/>
          <p:cNvSpPr/>
          <p:nvPr/>
        </p:nvSpPr>
        <p:spPr>
          <a:xfrm>
            <a:off x="8375904" y="5605272"/>
            <a:ext cx="3337560" cy="45720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This IS the CMMC. Required as a condition of award for CUI contracts from Phase 2 onward.</a:t>
            </a:r>
            <a:endParaRPr lang="en-US" sz="950" dirty="0"/>
          </a:p>
        </p:txBody>
      </p:sp>
      <p:sp>
        <p:nvSpPr>
          <p:cNvPr id="44" name="Shape 42"/>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45" name="Text 43"/>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6" name="Text 44"/>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 / 23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Scoping Is Your Biggest Cost Lever</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Where CUI lives in your environment decides whether assessment costs $40K or $150K+. Most SMBs over-scope.</a:t>
            </a:r>
            <a:endParaRPr lang="en-US" sz="1300" dirty="0"/>
          </a:p>
        </p:txBody>
      </p:sp>
      <p:sp>
        <p:nvSpPr>
          <p:cNvPr id="5" name="Text 3"/>
          <p:cNvSpPr/>
          <p:nvPr/>
        </p:nvSpPr>
        <p:spPr>
          <a:xfrm>
            <a:off x="457200" y="1508760"/>
            <a:ext cx="11277295" cy="365760"/>
          </a:xfrm>
          <a:prstGeom prst="rect">
            <a:avLst/>
          </a:prstGeom>
          <a:noFill/>
          <a:ln/>
        </p:spPr>
        <p:txBody>
          <a:bodyPr wrap="square" lIns="0" tIns="0" rIns="0" bIns="0" rtlCol="0" anchor="ctr"/>
          <a:lstStyle/>
          <a:p>
            <a:pPr marL="0" indent="0">
              <a:buNone/>
            </a:pPr>
            <a:r>
              <a:rPr lang="en-US" sz="1200" i="1" dirty="0">
                <a:solidFill>
                  <a:srgbClr val="E2E8F0"/>
                </a:solidFill>
                <a:latin typeface="Calibri" pitchFamily="34" charset="0"/>
                <a:ea typeface="Calibri" pitchFamily="34" charset="-122"/>
                <a:cs typeface="Calibri" pitchFamily="34" charset="-120"/>
              </a:rPr>
              <a:t>Every asset in your environment falls into one of five categories. Categories one and two get the full 110 controls. Three through five do not.</a:t>
            </a:r>
            <a:endParaRPr lang="en-US" sz="1200" dirty="0"/>
          </a:p>
        </p:txBody>
      </p:sp>
      <p:sp>
        <p:nvSpPr>
          <p:cNvPr id="6" name="Shape 4"/>
          <p:cNvSpPr/>
          <p:nvPr/>
        </p:nvSpPr>
        <p:spPr>
          <a:xfrm>
            <a:off x="457200" y="2011680"/>
            <a:ext cx="2182307" cy="3383280"/>
          </a:xfrm>
          <a:prstGeom prst="rect">
            <a:avLst/>
          </a:prstGeom>
          <a:solidFill>
            <a:srgbClr val="131A35"/>
          </a:solidFill>
          <a:ln w="9525">
            <a:solidFill>
              <a:srgbClr val="1E2D5A"/>
            </a:solidFill>
            <a:prstDash val="solid"/>
          </a:ln>
        </p:spPr>
        <p:txBody>
          <a:bodyPr/>
          <a:lstStyle/>
          <a:p>
            <a:endParaRPr lang="en-US"/>
          </a:p>
        </p:txBody>
      </p:sp>
      <p:sp>
        <p:nvSpPr>
          <p:cNvPr id="7" name="Shape 5"/>
          <p:cNvSpPr/>
          <p:nvPr/>
        </p:nvSpPr>
        <p:spPr>
          <a:xfrm>
            <a:off x="457200" y="2011680"/>
            <a:ext cx="2182307" cy="365760"/>
          </a:xfrm>
          <a:prstGeom prst="rect">
            <a:avLst/>
          </a:prstGeom>
          <a:solidFill>
            <a:srgbClr val="EF4444"/>
          </a:solidFill>
          <a:ln w="12700">
            <a:solidFill>
              <a:srgbClr val="EF4444"/>
            </a:solidFill>
            <a:prstDash val="solid"/>
          </a:ln>
        </p:spPr>
        <p:txBody>
          <a:bodyPr/>
          <a:lstStyle/>
          <a:p>
            <a:endParaRPr lang="en-US"/>
          </a:p>
        </p:txBody>
      </p:sp>
      <p:sp>
        <p:nvSpPr>
          <p:cNvPr id="8" name="Text 6"/>
          <p:cNvSpPr/>
          <p:nvPr/>
        </p:nvSpPr>
        <p:spPr>
          <a:xfrm>
            <a:off x="548640" y="2011680"/>
            <a:ext cx="1999427" cy="365760"/>
          </a:xfrm>
          <a:prstGeom prst="rect">
            <a:avLst/>
          </a:prstGeom>
          <a:noFill/>
          <a:ln/>
        </p:spPr>
        <p:txBody>
          <a:bodyPr wrap="square" lIns="0" tIns="0" rIns="0" bIns="0" rtlCol="0" anchor="ctr"/>
          <a:lstStyle/>
          <a:p>
            <a:pPr marL="0" indent="0" algn="ctr">
              <a:buNone/>
            </a:pPr>
            <a:r>
              <a:rPr lang="en-US" sz="950" b="1" kern="0" spc="100" dirty="0">
                <a:solidFill>
                  <a:srgbClr val="0C1020"/>
                </a:solidFill>
                <a:latin typeface="Calibri" pitchFamily="34" charset="0"/>
                <a:ea typeface="Calibri" pitchFamily="34" charset="-122"/>
                <a:cs typeface="Calibri" pitchFamily="34" charset="-120"/>
              </a:rPr>
              <a:t>CUI ASSETS</a:t>
            </a:r>
            <a:endParaRPr lang="en-US" sz="950" dirty="0"/>
          </a:p>
        </p:txBody>
      </p:sp>
      <p:sp>
        <p:nvSpPr>
          <p:cNvPr id="9" name="Text 7"/>
          <p:cNvSpPr/>
          <p:nvPr/>
        </p:nvSpPr>
        <p:spPr>
          <a:xfrm>
            <a:off x="548640" y="2468880"/>
            <a:ext cx="1999427" cy="228600"/>
          </a:xfrm>
          <a:prstGeom prst="rect">
            <a:avLst/>
          </a:prstGeom>
          <a:noFill/>
          <a:ln/>
        </p:spPr>
        <p:txBody>
          <a:bodyPr wrap="square" lIns="0" tIns="0" rIns="0" bIns="0"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IN SCOPE</a:t>
            </a:r>
            <a:endParaRPr lang="en-US" sz="900" dirty="0"/>
          </a:p>
        </p:txBody>
      </p:sp>
      <p:sp>
        <p:nvSpPr>
          <p:cNvPr id="10" name="Text 8"/>
          <p:cNvSpPr/>
          <p:nvPr/>
        </p:nvSpPr>
        <p:spPr>
          <a:xfrm>
            <a:off x="594360" y="27889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WHAT IT IS</a:t>
            </a:r>
            <a:endParaRPr lang="en-US" sz="800" dirty="0"/>
          </a:p>
        </p:txBody>
      </p:sp>
      <p:sp>
        <p:nvSpPr>
          <p:cNvPr id="11" name="Text 9"/>
          <p:cNvSpPr/>
          <p:nvPr/>
        </p:nvSpPr>
        <p:spPr>
          <a:xfrm>
            <a:off x="594360" y="2971800"/>
            <a:ext cx="1907987" cy="54864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Process, store, or transmit CUI.</a:t>
            </a:r>
            <a:endParaRPr lang="en-US" sz="950" dirty="0"/>
          </a:p>
        </p:txBody>
      </p:sp>
      <p:sp>
        <p:nvSpPr>
          <p:cNvPr id="12" name="Text 10"/>
          <p:cNvSpPr/>
          <p:nvPr/>
        </p:nvSpPr>
        <p:spPr>
          <a:xfrm>
            <a:off x="594360" y="356616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EXAMPLES</a:t>
            </a:r>
            <a:endParaRPr lang="en-US" sz="800" dirty="0"/>
          </a:p>
        </p:txBody>
      </p:sp>
      <p:sp>
        <p:nvSpPr>
          <p:cNvPr id="13" name="Text 11"/>
          <p:cNvSpPr/>
          <p:nvPr/>
        </p:nvSpPr>
        <p:spPr>
          <a:xfrm>
            <a:off x="594360" y="3749040"/>
            <a:ext cx="1907987" cy="8686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GCC High mailboxes; CAD workstations holding tech data; ERP systems with contract specs.</a:t>
            </a:r>
            <a:endParaRPr lang="en-US" sz="950" dirty="0"/>
          </a:p>
        </p:txBody>
      </p:sp>
      <p:sp>
        <p:nvSpPr>
          <p:cNvPr id="14" name="Text 12"/>
          <p:cNvSpPr/>
          <p:nvPr/>
        </p:nvSpPr>
        <p:spPr>
          <a:xfrm>
            <a:off x="594360" y="46177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HOW IT'S ASSESSED</a:t>
            </a:r>
            <a:endParaRPr lang="en-US" sz="800" dirty="0"/>
          </a:p>
        </p:txBody>
      </p:sp>
      <p:sp>
        <p:nvSpPr>
          <p:cNvPr id="15" name="Text 13"/>
          <p:cNvSpPr/>
          <p:nvPr/>
        </p:nvSpPr>
        <p:spPr>
          <a:xfrm>
            <a:off x="594360" y="4800600"/>
            <a:ext cx="1907987" cy="548640"/>
          </a:xfrm>
          <a:prstGeom prst="rect">
            <a:avLst/>
          </a:prstGeom>
          <a:noFill/>
          <a:ln/>
        </p:spPr>
        <p:txBody>
          <a:bodyPr wrap="square" lIns="0" tIns="0" rIns="0" bIns="0" rtlCol="0" anchor="ctr"/>
          <a:lstStyle/>
          <a:p>
            <a:pPr marL="0" indent="0">
              <a:buNone/>
            </a:pPr>
            <a:r>
              <a:rPr lang="en-US" sz="950" i="1" dirty="0">
                <a:solidFill>
                  <a:srgbClr val="E2E8F0"/>
                </a:solidFill>
                <a:latin typeface="Calibri" pitchFamily="34" charset="0"/>
                <a:ea typeface="Calibri" pitchFamily="34" charset="-122"/>
                <a:cs typeface="Calibri" pitchFamily="34" charset="-120"/>
              </a:rPr>
              <a:t>Full 110 controls. Fully assessed.</a:t>
            </a:r>
            <a:endParaRPr lang="en-US" sz="950" dirty="0"/>
          </a:p>
        </p:txBody>
      </p:sp>
      <p:sp>
        <p:nvSpPr>
          <p:cNvPr id="16" name="Shape 14"/>
          <p:cNvSpPr/>
          <p:nvPr/>
        </p:nvSpPr>
        <p:spPr>
          <a:xfrm>
            <a:off x="2730947" y="2011680"/>
            <a:ext cx="2182307" cy="3383280"/>
          </a:xfrm>
          <a:prstGeom prst="rect">
            <a:avLst/>
          </a:prstGeom>
          <a:solidFill>
            <a:srgbClr val="131A35"/>
          </a:solidFill>
          <a:ln w="9525">
            <a:solidFill>
              <a:srgbClr val="1E2D5A"/>
            </a:solidFill>
            <a:prstDash val="solid"/>
          </a:ln>
        </p:spPr>
        <p:txBody>
          <a:bodyPr/>
          <a:lstStyle/>
          <a:p>
            <a:endParaRPr lang="en-US"/>
          </a:p>
        </p:txBody>
      </p:sp>
      <p:sp>
        <p:nvSpPr>
          <p:cNvPr id="17" name="Shape 15"/>
          <p:cNvSpPr/>
          <p:nvPr/>
        </p:nvSpPr>
        <p:spPr>
          <a:xfrm>
            <a:off x="2730947" y="2011680"/>
            <a:ext cx="2182307" cy="365760"/>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2822387" y="2011680"/>
            <a:ext cx="1999427" cy="365760"/>
          </a:xfrm>
          <a:prstGeom prst="rect">
            <a:avLst/>
          </a:prstGeom>
          <a:noFill/>
          <a:ln/>
        </p:spPr>
        <p:txBody>
          <a:bodyPr wrap="square" lIns="0" tIns="0" rIns="0" bIns="0" rtlCol="0" anchor="ctr"/>
          <a:lstStyle/>
          <a:p>
            <a:pPr marL="0" indent="0" algn="ctr">
              <a:buNone/>
            </a:pPr>
            <a:r>
              <a:rPr lang="en-US" sz="950" b="1" kern="0" spc="100" dirty="0">
                <a:solidFill>
                  <a:srgbClr val="0C1020"/>
                </a:solidFill>
                <a:latin typeface="Calibri" pitchFamily="34" charset="0"/>
                <a:ea typeface="Calibri" pitchFamily="34" charset="-122"/>
                <a:cs typeface="Calibri" pitchFamily="34" charset="-120"/>
              </a:rPr>
              <a:t>SECURITY PROTECTION ASSETS</a:t>
            </a:r>
            <a:endParaRPr lang="en-US" sz="950" dirty="0"/>
          </a:p>
        </p:txBody>
      </p:sp>
      <p:sp>
        <p:nvSpPr>
          <p:cNvPr id="19" name="Text 17"/>
          <p:cNvSpPr/>
          <p:nvPr/>
        </p:nvSpPr>
        <p:spPr>
          <a:xfrm>
            <a:off x="2822387" y="2468880"/>
            <a:ext cx="1999427" cy="228600"/>
          </a:xfrm>
          <a:prstGeom prst="rect">
            <a:avLst/>
          </a:prstGeom>
          <a:noFill/>
          <a:ln/>
        </p:spPr>
        <p:txBody>
          <a:bodyPr wrap="square" lIns="0" tIns="0" rIns="0" bIns="0" rtlCol="0" anchor="ctr"/>
          <a:lstStyle/>
          <a:p>
            <a:pPr marL="0" indent="0" algn="ctr">
              <a:buNone/>
            </a:pPr>
            <a:r>
              <a:rPr lang="en-US" sz="900" b="1" dirty="0">
                <a:solidFill>
                  <a:srgbClr val="F59E0B"/>
                </a:solidFill>
                <a:latin typeface="Calibri" pitchFamily="34" charset="0"/>
                <a:ea typeface="Calibri" pitchFamily="34" charset="-122"/>
                <a:cs typeface="Calibri" pitchFamily="34" charset="-120"/>
              </a:rPr>
              <a:t>IN SCOPE</a:t>
            </a:r>
            <a:endParaRPr lang="en-US" sz="900" dirty="0"/>
          </a:p>
        </p:txBody>
      </p:sp>
      <p:sp>
        <p:nvSpPr>
          <p:cNvPr id="20" name="Text 18"/>
          <p:cNvSpPr/>
          <p:nvPr/>
        </p:nvSpPr>
        <p:spPr>
          <a:xfrm>
            <a:off x="2868107" y="27889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WHAT IT IS</a:t>
            </a:r>
            <a:endParaRPr lang="en-US" sz="800" dirty="0"/>
          </a:p>
        </p:txBody>
      </p:sp>
      <p:sp>
        <p:nvSpPr>
          <p:cNvPr id="21" name="Text 19"/>
          <p:cNvSpPr/>
          <p:nvPr/>
        </p:nvSpPr>
        <p:spPr>
          <a:xfrm>
            <a:off x="2868107" y="2971800"/>
            <a:ext cx="1907987" cy="54864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Provide security functions protecting CUI assets.</a:t>
            </a:r>
            <a:endParaRPr lang="en-US" sz="950" dirty="0"/>
          </a:p>
        </p:txBody>
      </p:sp>
      <p:sp>
        <p:nvSpPr>
          <p:cNvPr id="22" name="Text 20"/>
          <p:cNvSpPr/>
          <p:nvPr/>
        </p:nvSpPr>
        <p:spPr>
          <a:xfrm>
            <a:off x="2868107" y="356616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EXAMPLES</a:t>
            </a:r>
            <a:endParaRPr lang="en-US" sz="800" dirty="0"/>
          </a:p>
        </p:txBody>
      </p:sp>
      <p:sp>
        <p:nvSpPr>
          <p:cNvPr id="23" name="Text 21"/>
          <p:cNvSpPr/>
          <p:nvPr/>
        </p:nvSpPr>
        <p:spPr>
          <a:xfrm>
            <a:off x="2868107" y="3749040"/>
            <a:ext cx="1907987" cy="8686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Firewalls, SIEM, MFA service, EDR, identity provider, vulnerability scanner.</a:t>
            </a:r>
            <a:endParaRPr lang="en-US" sz="950" dirty="0"/>
          </a:p>
        </p:txBody>
      </p:sp>
      <p:sp>
        <p:nvSpPr>
          <p:cNvPr id="24" name="Text 22"/>
          <p:cNvSpPr/>
          <p:nvPr/>
        </p:nvSpPr>
        <p:spPr>
          <a:xfrm>
            <a:off x="2868107" y="46177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HOW IT'S ASSESSED</a:t>
            </a:r>
            <a:endParaRPr lang="en-US" sz="800" dirty="0"/>
          </a:p>
        </p:txBody>
      </p:sp>
      <p:sp>
        <p:nvSpPr>
          <p:cNvPr id="25" name="Text 23"/>
          <p:cNvSpPr/>
          <p:nvPr/>
        </p:nvSpPr>
        <p:spPr>
          <a:xfrm>
            <a:off x="2868107" y="4800600"/>
            <a:ext cx="1907987" cy="548640"/>
          </a:xfrm>
          <a:prstGeom prst="rect">
            <a:avLst/>
          </a:prstGeom>
          <a:noFill/>
          <a:ln/>
        </p:spPr>
        <p:txBody>
          <a:bodyPr wrap="square" lIns="0" tIns="0" rIns="0" bIns="0" rtlCol="0" anchor="ctr"/>
          <a:lstStyle/>
          <a:p>
            <a:pPr marL="0" indent="0">
              <a:buNone/>
            </a:pPr>
            <a:r>
              <a:rPr lang="en-US" sz="950" i="1" dirty="0">
                <a:solidFill>
                  <a:srgbClr val="E2E8F0"/>
                </a:solidFill>
                <a:latin typeface="Calibri" pitchFamily="34" charset="0"/>
                <a:ea typeface="Calibri" pitchFamily="34" charset="-122"/>
                <a:cs typeface="Calibri" pitchFamily="34" charset="-120"/>
              </a:rPr>
              <a:t>Full 110 controls. Fully assessed.</a:t>
            </a:r>
            <a:endParaRPr lang="en-US" sz="950" dirty="0"/>
          </a:p>
        </p:txBody>
      </p:sp>
      <p:sp>
        <p:nvSpPr>
          <p:cNvPr id="26" name="Shape 24"/>
          <p:cNvSpPr/>
          <p:nvPr/>
        </p:nvSpPr>
        <p:spPr>
          <a:xfrm>
            <a:off x="5004694" y="2011680"/>
            <a:ext cx="2182307" cy="3383280"/>
          </a:xfrm>
          <a:prstGeom prst="rect">
            <a:avLst/>
          </a:prstGeom>
          <a:solidFill>
            <a:srgbClr val="131A35"/>
          </a:solidFill>
          <a:ln w="9525">
            <a:solidFill>
              <a:srgbClr val="1E2D5A"/>
            </a:solidFill>
            <a:prstDash val="solid"/>
          </a:ln>
        </p:spPr>
        <p:txBody>
          <a:bodyPr/>
          <a:lstStyle/>
          <a:p>
            <a:endParaRPr lang="en-US"/>
          </a:p>
        </p:txBody>
      </p:sp>
      <p:sp>
        <p:nvSpPr>
          <p:cNvPr id="27" name="Shape 25"/>
          <p:cNvSpPr/>
          <p:nvPr/>
        </p:nvSpPr>
        <p:spPr>
          <a:xfrm>
            <a:off x="5004694" y="2011680"/>
            <a:ext cx="2182307" cy="365760"/>
          </a:xfrm>
          <a:prstGeom prst="rect">
            <a:avLst/>
          </a:prstGeom>
          <a:solidFill>
            <a:srgbClr val="60A3F1"/>
          </a:solidFill>
          <a:ln w="12700">
            <a:solidFill>
              <a:srgbClr val="60A3F1"/>
            </a:solidFill>
            <a:prstDash val="solid"/>
          </a:ln>
        </p:spPr>
        <p:txBody>
          <a:bodyPr/>
          <a:lstStyle/>
          <a:p>
            <a:endParaRPr lang="en-US"/>
          </a:p>
        </p:txBody>
      </p:sp>
      <p:sp>
        <p:nvSpPr>
          <p:cNvPr id="28" name="Text 26"/>
          <p:cNvSpPr/>
          <p:nvPr/>
        </p:nvSpPr>
        <p:spPr>
          <a:xfrm>
            <a:off x="5096134" y="2011680"/>
            <a:ext cx="1999427" cy="365760"/>
          </a:xfrm>
          <a:prstGeom prst="rect">
            <a:avLst/>
          </a:prstGeom>
          <a:noFill/>
          <a:ln/>
        </p:spPr>
        <p:txBody>
          <a:bodyPr wrap="square" lIns="0" tIns="0" rIns="0" bIns="0" rtlCol="0" anchor="ctr"/>
          <a:lstStyle/>
          <a:p>
            <a:pPr marL="0" indent="0" algn="ctr">
              <a:buNone/>
            </a:pPr>
            <a:r>
              <a:rPr lang="en-US" sz="950" b="1" kern="0" spc="100" dirty="0">
                <a:solidFill>
                  <a:srgbClr val="0C1020"/>
                </a:solidFill>
                <a:latin typeface="Calibri" pitchFamily="34" charset="0"/>
                <a:ea typeface="Calibri" pitchFamily="34" charset="-122"/>
                <a:cs typeface="Calibri" pitchFamily="34" charset="-120"/>
              </a:rPr>
              <a:t>CONTRACTOR RISK MANAGED</a:t>
            </a:r>
            <a:endParaRPr lang="en-US" sz="950" dirty="0"/>
          </a:p>
        </p:txBody>
      </p:sp>
      <p:sp>
        <p:nvSpPr>
          <p:cNvPr id="29" name="Text 27"/>
          <p:cNvSpPr/>
          <p:nvPr/>
        </p:nvSpPr>
        <p:spPr>
          <a:xfrm>
            <a:off x="5096134" y="2468880"/>
            <a:ext cx="1999427" cy="228600"/>
          </a:xfrm>
          <a:prstGeom prst="rect">
            <a:avLst/>
          </a:prstGeom>
          <a:noFill/>
          <a:ln/>
        </p:spPr>
        <p:txBody>
          <a:bodyPr wrap="square" lIns="0" tIns="0" rIns="0" bIns="0" rtlCol="0" anchor="ctr"/>
          <a:lstStyle/>
          <a:p>
            <a:pPr marL="0" indent="0" algn="ctr">
              <a:buNone/>
            </a:pPr>
            <a:r>
              <a:rPr lang="en-US" sz="900" b="1" dirty="0">
                <a:solidFill>
                  <a:srgbClr val="60A3F1"/>
                </a:solidFill>
                <a:latin typeface="Calibri" pitchFamily="34" charset="0"/>
                <a:ea typeface="Calibri" pitchFamily="34" charset="-122"/>
                <a:cs typeface="Calibri" pitchFamily="34" charset="-120"/>
              </a:rPr>
              <a:t>IN SCOPE (limited)</a:t>
            </a:r>
            <a:endParaRPr lang="en-US" sz="900" dirty="0"/>
          </a:p>
        </p:txBody>
      </p:sp>
      <p:sp>
        <p:nvSpPr>
          <p:cNvPr id="30" name="Text 28"/>
          <p:cNvSpPr/>
          <p:nvPr/>
        </p:nvSpPr>
        <p:spPr>
          <a:xfrm>
            <a:off x="5141854" y="27889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WHAT IT IS</a:t>
            </a:r>
            <a:endParaRPr lang="en-US" sz="800" dirty="0"/>
          </a:p>
        </p:txBody>
      </p:sp>
      <p:sp>
        <p:nvSpPr>
          <p:cNvPr id="31" name="Text 29"/>
          <p:cNvSpPr/>
          <p:nvPr/>
        </p:nvSpPr>
        <p:spPr>
          <a:xfrm>
            <a:off x="5141854" y="2971800"/>
            <a:ext cx="1907987" cy="54864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Can interact with CUI but aren't intended to.</a:t>
            </a:r>
            <a:endParaRPr lang="en-US" sz="950" dirty="0"/>
          </a:p>
        </p:txBody>
      </p:sp>
      <p:sp>
        <p:nvSpPr>
          <p:cNvPr id="32" name="Text 30"/>
          <p:cNvSpPr/>
          <p:nvPr/>
        </p:nvSpPr>
        <p:spPr>
          <a:xfrm>
            <a:off x="5141854" y="356616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EXAMPLES</a:t>
            </a:r>
            <a:endParaRPr lang="en-US" sz="800" dirty="0"/>
          </a:p>
        </p:txBody>
      </p:sp>
      <p:sp>
        <p:nvSpPr>
          <p:cNvPr id="33" name="Text 31"/>
          <p:cNvSpPr/>
          <p:nvPr/>
        </p:nvSpPr>
        <p:spPr>
          <a:xfrm>
            <a:off x="5141854" y="3749040"/>
            <a:ext cx="1907987" cy="8686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Shared user laptops; office Wi-Fi; general printers near CUI workstations.</a:t>
            </a:r>
            <a:endParaRPr lang="en-US" sz="950" dirty="0"/>
          </a:p>
        </p:txBody>
      </p:sp>
      <p:sp>
        <p:nvSpPr>
          <p:cNvPr id="34" name="Text 32"/>
          <p:cNvSpPr/>
          <p:nvPr/>
        </p:nvSpPr>
        <p:spPr>
          <a:xfrm>
            <a:off x="5141854" y="46177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HOW IT'S ASSESSED</a:t>
            </a:r>
            <a:endParaRPr lang="en-US" sz="800" dirty="0"/>
          </a:p>
        </p:txBody>
      </p:sp>
      <p:sp>
        <p:nvSpPr>
          <p:cNvPr id="35" name="Text 33"/>
          <p:cNvSpPr/>
          <p:nvPr/>
        </p:nvSpPr>
        <p:spPr>
          <a:xfrm>
            <a:off x="5141854" y="4800600"/>
            <a:ext cx="1907987" cy="548640"/>
          </a:xfrm>
          <a:prstGeom prst="rect">
            <a:avLst/>
          </a:prstGeom>
          <a:noFill/>
          <a:ln/>
        </p:spPr>
        <p:txBody>
          <a:bodyPr wrap="square" lIns="0" tIns="0" rIns="0" bIns="0" rtlCol="0" anchor="ctr"/>
          <a:lstStyle/>
          <a:p>
            <a:pPr marL="0" indent="0">
              <a:buNone/>
            </a:pPr>
            <a:r>
              <a:rPr lang="en-US" sz="950" i="1" dirty="0">
                <a:solidFill>
                  <a:srgbClr val="E2E8F0"/>
                </a:solidFill>
                <a:latin typeface="Calibri" pitchFamily="34" charset="0"/>
                <a:ea typeface="Calibri" pitchFamily="34" charset="-122"/>
                <a:cs typeface="Calibri" pitchFamily="34" charset="-120"/>
              </a:rPr>
              <a:t>Document in SSP. Spot-checks only if gaps raise questions.</a:t>
            </a:r>
            <a:endParaRPr lang="en-US" sz="950" dirty="0"/>
          </a:p>
        </p:txBody>
      </p:sp>
      <p:sp>
        <p:nvSpPr>
          <p:cNvPr id="36" name="Shape 34"/>
          <p:cNvSpPr/>
          <p:nvPr/>
        </p:nvSpPr>
        <p:spPr>
          <a:xfrm>
            <a:off x="7278441" y="2011680"/>
            <a:ext cx="2182307" cy="3383280"/>
          </a:xfrm>
          <a:prstGeom prst="rect">
            <a:avLst/>
          </a:prstGeom>
          <a:solidFill>
            <a:srgbClr val="131A35"/>
          </a:solidFill>
          <a:ln w="9525">
            <a:solidFill>
              <a:srgbClr val="1E2D5A"/>
            </a:solidFill>
            <a:prstDash val="solid"/>
          </a:ln>
        </p:spPr>
        <p:txBody>
          <a:bodyPr/>
          <a:lstStyle/>
          <a:p>
            <a:endParaRPr lang="en-US"/>
          </a:p>
        </p:txBody>
      </p:sp>
      <p:sp>
        <p:nvSpPr>
          <p:cNvPr id="37" name="Shape 35"/>
          <p:cNvSpPr/>
          <p:nvPr/>
        </p:nvSpPr>
        <p:spPr>
          <a:xfrm>
            <a:off x="7278441" y="2011680"/>
            <a:ext cx="2182307" cy="365760"/>
          </a:xfrm>
          <a:prstGeom prst="rect">
            <a:avLst/>
          </a:prstGeom>
          <a:solidFill>
            <a:srgbClr val="8844DD"/>
          </a:solidFill>
          <a:ln w="12700">
            <a:solidFill>
              <a:srgbClr val="8844DD"/>
            </a:solidFill>
            <a:prstDash val="solid"/>
          </a:ln>
        </p:spPr>
        <p:txBody>
          <a:bodyPr/>
          <a:lstStyle/>
          <a:p>
            <a:endParaRPr lang="en-US"/>
          </a:p>
        </p:txBody>
      </p:sp>
      <p:sp>
        <p:nvSpPr>
          <p:cNvPr id="38" name="Text 36"/>
          <p:cNvSpPr/>
          <p:nvPr/>
        </p:nvSpPr>
        <p:spPr>
          <a:xfrm>
            <a:off x="7369881" y="2011680"/>
            <a:ext cx="1999427" cy="365760"/>
          </a:xfrm>
          <a:prstGeom prst="rect">
            <a:avLst/>
          </a:prstGeom>
          <a:noFill/>
          <a:ln/>
        </p:spPr>
        <p:txBody>
          <a:bodyPr wrap="square" lIns="0" tIns="0" rIns="0" bIns="0" rtlCol="0" anchor="ctr"/>
          <a:lstStyle/>
          <a:p>
            <a:pPr marL="0" indent="0" algn="ctr">
              <a:buNone/>
            </a:pPr>
            <a:r>
              <a:rPr lang="en-US" sz="950" b="1" kern="0" spc="100" dirty="0">
                <a:solidFill>
                  <a:srgbClr val="0C1020"/>
                </a:solidFill>
                <a:latin typeface="Calibri" pitchFamily="34" charset="0"/>
                <a:ea typeface="Calibri" pitchFamily="34" charset="-122"/>
                <a:cs typeface="Calibri" pitchFamily="34" charset="-120"/>
              </a:rPr>
              <a:t>SPECIALIZED ASSETS</a:t>
            </a:r>
            <a:endParaRPr lang="en-US" sz="950" dirty="0"/>
          </a:p>
        </p:txBody>
      </p:sp>
      <p:sp>
        <p:nvSpPr>
          <p:cNvPr id="39" name="Text 37"/>
          <p:cNvSpPr/>
          <p:nvPr/>
        </p:nvSpPr>
        <p:spPr>
          <a:xfrm>
            <a:off x="7369881" y="2468880"/>
            <a:ext cx="1999427" cy="228600"/>
          </a:xfrm>
          <a:prstGeom prst="rect">
            <a:avLst/>
          </a:prstGeom>
          <a:noFill/>
          <a:ln/>
        </p:spPr>
        <p:txBody>
          <a:bodyPr wrap="square" lIns="0" tIns="0" rIns="0" bIns="0" rtlCol="0" anchor="ctr"/>
          <a:lstStyle/>
          <a:p>
            <a:pPr marL="0" indent="0" algn="ctr">
              <a:buNone/>
            </a:pPr>
            <a:r>
              <a:rPr lang="en-US" sz="900" b="1" dirty="0">
                <a:solidFill>
                  <a:srgbClr val="8844DD"/>
                </a:solidFill>
                <a:latin typeface="Calibri" pitchFamily="34" charset="0"/>
                <a:ea typeface="Calibri" pitchFamily="34" charset="-122"/>
                <a:cs typeface="Calibri" pitchFamily="34" charset="-120"/>
              </a:rPr>
              <a:t>IN SCOPE (limited)</a:t>
            </a:r>
            <a:endParaRPr lang="en-US" sz="900" dirty="0"/>
          </a:p>
        </p:txBody>
      </p:sp>
      <p:sp>
        <p:nvSpPr>
          <p:cNvPr id="40" name="Text 38"/>
          <p:cNvSpPr/>
          <p:nvPr/>
        </p:nvSpPr>
        <p:spPr>
          <a:xfrm>
            <a:off x="7415601" y="27889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WHAT IT IS</a:t>
            </a:r>
            <a:endParaRPr lang="en-US" sz="800" dirty="0"/>
          </a:p>
        </p:txBody>
      </p:sp>
      <p:sp>
        <p:nvSpPr>
          <p:cNvPr id="41" name="Text 39"/>
          <p:cNvSpPr/>
          <p:nvPr/>
        </p:nvSpPr>
        <p:spPr>
          <a:xfrm>
            <a:off x="7415601" y="2971800"/>
            <a:ext cx="1907987" cy="54864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OT, IoT, GFE, test equipment, restricted systems.</a:t>
            </a:r>
            <a:endParaRPr lang="en-US" sz="950" dirty="0"/>
          </a:p>
        </p:txBody>
      </p:sp>
      <p:sp>
        <p:nvSpPr>
          <p:cNvPr id="42" name="Text 40"/>
          <p:cNvSpPr/>
          <p:nvPr/>
        </p:nvSpPr>
        <p:spPr>
          <a:xfrm>
            <a:off x="7415601" y="356616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EXAMPLES</a:t>
            </a:r>
            <a:endParaRPr lang="en-US" sz="800" dirty="0"/>
          </a:p>
        </p:txBody>
      </p:sp>
      <p:sp>
        <p:nvSpPr>
          <p:cNvPr id="43" name="Text 41"/>
          <p:cNvSpPr/>
          <p:nvPr/>
        </p:nvSpPr>
        <p:spPr>
          <a:xfrm>
            <a:off x="7415601" y="3749040"/>
            <a:ext cx="1907987" cy="8686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CNC machines, lab gear, government-furnished test stands, sensors, drones.</a:t>
            </a:r>
            <a:endParaRPr lang="en-US" sz="950" dirty="0"/>
          </a:p>
        </p:txBody>
      </p:sp>
      <p:sp>
        <p:nvSpPr>
          <p:cNvPr id="44" name="Text 42"/>
          <p:cNvSpPr/>
          <p:nvPr/>
        </p:nvSpPr>
        <p:spPr>
          <a:xfrm>
            <a:off x="7415601" y="46177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HOW IT'S ASSESSED</a:t>
            </a:r>
            <a:endParaRPr lang="en-US" sz="800" dirty="0"/>
          </a:p>
        </p:txBody>
      </p:sp>
      <p:sp>
        <p:nvSpPr>
          <p:cNvPr id="45" name="Text 43"/>
          <p:cNvSpPr/>
          <p:nvPr/>
        </p:nvSpPr>
        <p:spPr>
          <a:xfrm>
            <a:off x="7415601" y="4800600"/>
            <a:ext cx="1907987" cy="548640"/>
          </a:xfrm>
          <a:prstGeom prst="rect">
            <a:avLst/>
          </a:prstGeom>
          <a:noFill/>
          <a:ln/>
        </p:spPr>
        <p:txBody>
          <a:bodyPr wrap="square" lIns="0" tIns="0" rIns="0" bIns="0" rtlCol="0" anchor="ctr"/>
          <a:lstStyle/>
          <a:p>
            <a:pPr marL="0" indent="0">
              <a:buNone/>
            </a:pPr>
            <a:r>
              <a:rPr lang="en-US" sz="950" i="1" dirty="0">
                <a:solidFill>
                  <a:srgbClr val="E2E8F0"/>
                </a:solidFill>
                <a:latin typeface="Calibri" pitchFamily="34" charset="0"/>
                <a:ea typeface="Calibri" pitchFamily="34" charset="-122"/>
                <a:cs typeface="Calibri" pitchFamily="34" charset="-120"/>
              </a:rPr>
              <a:t>Document in SSP. Risk-based protections; not assessed against all 110.</a:t>
            </a:r>
            <a:endParaRPr lang="en-US" sz="950" dirty="0"/>
          </a:p>
        </p:txBody>
      </p:sp>
      <p:sp>
        <p:nvSpPr>
          <p:cNvPr id="46" name="Shape 44"/>
          <p:cNvSpPr/>
          <p:nvPr/>
        </p:nvSpPr>
        <p:spPr>
          <a:xfrm>
            <a:off x="9552188" y="2011680"/>
            <a:ext cx="2182307" cy="3383280"/>
          </a:xfrm>
          <a:prstGeom prst="rect">
            <a:avLst/>
          </a:prstGeom>
          <a:solidFill>
            <a:srgbClr val="131A35"/>
          </a:solidFill>
          <a:ln w="9525">
            <a:solidFill>
              <a:srgbClr val="1E2D5A"/>
            </a:solidFill>
            <a:prstDash val="solid"/>
          </a:ln>
        </p:spPr>
        <p:txBody>
          <a:bodyPr/>
          <a:lstStyle/>
          <a:p>
            <a:endParaRPr lang="en-US"/>
          </a:p>
        </p:txBody>
      </p:sp>
      <p:sp>
        <p:nvSpPr>
          <p:cNvPr id="47" name="Shape 45"/>
          <p:cNvSpPr/>
          <p:nvPr/>
        </p:nvSpPr>
        <p:spPr>
          <a:xfrm>
            <a:off x="9552188" y="2011680"/>
            <a:ext cx="2182307" cy="365760"/>
          </a:xfrm>
          <a:prstGeom prst="rect">
            <a:avLst/>
          </a:prstGeom>
          <a:solidFill>
            <a:srgbClr val="10B981"/>
          </a:solidFill>
          <a:ln w="12700">
            <a:solidFill>
              <a:srgbClr val="10B981"/>
            </a:solidFill>
            <a:prstDash val="solid"/>
          </a:ln>
        </p:spPr>
        <p:txBody>
          <a:bodyPr/>
          <a:lstStyle/>
          <a:p>
            <a:endParaRPr lang="en-US"/>
          </a:p>
        </p:txBody>
      </p:sp>
      <p:sp>
        <p:nvSpPr>
          <p:cNvPr id="48" name="Text 46"/>
          <p:cNvSpPr/>
          <p:nvPr/>
        </p:nvSpPr>
        <p:spPr>
          <a:xfrm>
            <a:off x="9643628" y="2011680"/>
            <a:ext cx="1999427" cy="365760"/>
          </a:xfrm>
          <a:prstGeom prst="rect">
            <a:avLst/>
          </a:prstGeom>
          <a:noFill/>
          <a:ln/>
        </p:spPr>
        <p:txBody>
          <a:bodyPr wrap="square" lIns="0" tIns="0" rIns="0" bIns="0" rtlCol="0" anchor="ctr"/>
          <a:lstStyle/>
          <a:p>
            <a:pPr marL="0" indent="0" algn="ctr">
              <a:buNone/>
            </a:pPr>
            <a:r>
              <a:rPr lang="en-US" sz="950" b="1" kern="0" spc="100" dirty="0">
                <a:solidFill>
                  <a:srgbClr val="0C1020"/>
                </a:solidFill>
                <a:latin typeface="Calibri" pitchFamily="34" charset="0"/>
                <a:ea typeface="Calibri" pitchFamily="34" charset="-122"/>
                <a:cs typeface="Calibri" pitchFamily="34" charset="-120"/>
              </a:rPr>
              <a:t>OUT OF SCOPE</a:t>
            </a:r>
            <a:endParaRPr lang="en-US" sz="950" dirty="0"/>
          </a:p>
        </p:txBody>
      </p:sp>
      <p:sp>
        <p:nvSpPr>
          <p:cNvPr id="49" name="Text 47"/>
          <p:cNvSpPr/>
          <p:nvPr/>
        </p:nvSpPr>
        <p:spPr>
          <a:xfrm>
            <a:off x="9643628" y="2468880"/>
            <a:ext cx="1999427" cy="228600"/>
          </a:xfrm>
          <a:prstGeom prst="rect">
            <a:avLst/>
          </a:prstGeom>
          <a:noFill/>
          <a:ln/>
        </p:spPr>
        <p:txBody>
          <a:bodyPr wrap="square" lIns="0" tIns="0" rIns="0" bIns="0" rtlCol="0" anchor="ctr"/>
          <a:lstStyle/>
          <a:p>
            <a:pPr marL="0" indent="0" algn="ctr">
              <a:buNone/>
            </a:pPr>
            <a:r>
              <a:rPr lang="en-US" sz="900" b="1" dirty="0">
                <a:solidFill>
                  <a:srgbClr val="10B981"/>
                </a:solidFill>
                <a:latin typeface="Calibri" pitchFamily="34" charset="0"/>
                <a:ea typeface="Calibri" pitchFamily="34" charset="-122"/>
                <a:cs typeface="Calibri" pitchFamily="34" charset="-120"/>
              </a:rPr>
              <a:t>EXCLUDED</a:t>
            </a:r>
            <a:endParaRPr lang="en-US" sz="900" dirty="0"/>
          </a:p>
        </p:txBody>
      </p:sp>
      <p:sp>
        <p:nvSpPr>
          <p:cNvPr id="50" name="Text 48"/>
          <p:cNvSpPr/>
          <p:nvPr/>
        </p:nvSpPr>
        <p:spPr>
          <a:xfrm>
            <a:off x="9689348" y="27889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WHAT IT IS</a:t>
            </a:r>
            <a:endParaRPr lang="en-US" sz="800" dirty="0"/>
          </a:p>
        </p:txBody>
      </p:sp>
      <p:sp>
        <p:nvSpPr>
          <p:cNvPr id="51" name="Text 49"/>
          <p:cNvSpPr/>
          <p:nvPr/>
        </p:nvSpPr>
        <p:spPr>
          <a:xfrm>
            <a:off x="9689348" y="2971800"/>
            <a:ext cx="1907987" cy="54864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Physically/logically separated from CUI. No security role.</a:t>
            </a:r>
            <a:endParaRPr lang="en-US" sz="950" dirty="0"/>
          </a:p>
        </p:txBody>
      </p:sp>
      <p:sp>
        <p:nvSpPr>
          <p:cNvPr id="52" name="Text 50"/>
          <p:cNvSpPr/>
          <p:nvPr/>
        </p:nvSpPr>
        <p:spPr>
          <a:xfrm>
            <a:off x="9689348" y="356616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EXAMPLES</a:t>
            </a:r>
            <a:endParaRPr lang="en-US" sz="800" dirty="0"/>
          </a:p>
        </p:txBody>
      </p:sp>
      <p:sp>
        <p:nvSpPr>
          <p:cNvPr id="53" name="Text 51"/>
          <p:cNvSpPr/>
          <p:nvPr/>
        </p:nvSpPr>
        <p:spPr>
          <a:xfrm>
            <a:off x="9689348" y="3749040"/>
            <a:ext cx="1907987" cy="8686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Marketing laptops on a separate VLAN; standalone HR system; sales CRM.</a:t>
            </a:r>
            <a:endParaRPr lang="en-US" sz="950" dirty="0"/>
          </a:p>
        </p:txBody>
      </p:sp>
      <p:sp>
        <p:nvSpPr>
          <p:cNvPr id="54" name="Text 52"/>
          <p:cNvSpPr/>
          <p:nvPr/>
        </p:nvSpPr>
        <p:spPr>
          <a:xfrm>
            <a:off x="9689348" y="4617720"/>
            <a:ext cx="1907987" cy="182880"/>
          </a:xfrm>
          <a:prstGeom prst="rect">
            <a:avLst/>
          </a:prstGeom>
          <a:noFill/>
          <a:ln/>
        </p:spPr>
        <p:txBody>
          <a:bodyPr wrap="square" lIns="0" tIns="0" rIns="0" bIns="0" rtlCol="0" anchor="ctr"/>
          <a:lstStyle/>
          <a:p>
            <a:pPr marL="0" indent="0">
              <a:buNone/>
            </a:pPr>
            <a:r>
              <a:rPr lang="en-US" sz="800" b="1" kern="0" spc="100" dirty="0">
                <a:solidFill>
                  <a:srgbClr val="94A3B8"/>
                </a:solidFill>
                <a:latin typeface="Calibri" pitchFamily="34" charset="0"/>
                <a:ea typeface="Calibri" pitchFamily="34" charset="-122"/>
                <a:cs typeface="Calibri" pitchFamily="34" charset="-120"/>
              </a:rPr>
              <a:t>HOW IT'S ASSESSED</a:t>
            </a:r>
            <a:endParaRPr lang="en-US" sz="800" dirty="0"/>
          </a:p>
        </p:txBody>
      </p:sp>
      <p:sp>
        <p:nvSpPr>
          <p:cNvPr id="55" name="Text 53"/>
          <p:cNvSpPr/>
          <p:nvPr/>
        </p:nvSpPr>
        <p:spPr>
          <a:xfrm>
            <a:off x="9689348" y="4800600"/>
            <a:ext cx="1907987" cy="548640"/>
          </a:xfrm>
          <a:prstGeom prst="rect">
            <a:avLst/>
          </a:prstGeom>
          <a:noFill/>
          <a:ln/>
        </p:spPr>
        <p:txBody>
          <a:bodyPr wrap="square" lIns="0" tIns="0" rIns="0" bIns="0" rtlCol="0" anchor="ctr"/>
          <a:lstStyle/>
          <a:p>
            <a:pPr marL="0" indent="0">
              <a:buNone/>
            </a:pPr>
            <a:r>
              <a:rPr lang="en-US" sz="950" i="1" dirty="0">
                <a:solidFill>
                  <a:srgbClr val="E2E8F0"/>
                </a:solidFill>
                <a:latin typeface="Calibri" pitchFamily="34" charset="0"/>
                <a:ea typeface="Calibri" pitchFamily="34" charset="-122"/>
                <a:cs typeface="Calibri" pitchFamily="34" charset="-120"/>
              </a:rPr>
              <a:t>Not assessed. Must be able to justify the separation.</a:t>
            </a:r>
            <a:endParaRPr lang="en-US" sz="950" dirty="0"/>
          </a:p>
        </p:txBody>
      </p:sp>
      <p:sp>
        <p:nvSpPr>
          <p:cNvPr id="56" name="Shape 54"/>
          <p:cNvSpPr/>
          <p:nvPr/>
        </p:nvSpPr>
        <p:spPr>
          <a:xfrm>
            <a:off x="457200" y="5760720"/>
            <a:ext cx="11277295" cy="658368"/>
          </a:xfrm>
          <a:prstGeom prst="rect">
            <a:avLst/>
          </a:prstGeom>
          <a:solidFill>
            <a:srgbClr val="131A35"/>
          </a:solidFill>
          <a:ln w="9525">
            <a:solidFill>
              <a:srgbClr val="1E2D5A"/>
            </a:solidFill>
            <a:prstDash val="solid"/>
          </a:ln>
        </p:spPr>
        <p:txBody>
          <a:bodyPr/>
          <a:lstStyle/>
          <a:p>
            <a:endParaRPr lang="en-US"/>
          </a:p>
        </p:txBody>
      </p:sp>
      <p:sp>
        <p:nvSpPr>
          <p:cNvPr id="57" name="Shape 55"/>
          <p:cNvSpPr/>
          <p:nvPr/>
        </p:nvSpPr>
        <p:spPr>
          <a:xfrm>
            <a:off x="457200" y="5760720"/>
            <a:ext cx="73152" cy="658368"/>
          </a:xfrm>
          <a:prstGeom prst="rect">
            <a:avLst/>
          </a:prstGeom>
          <a:solidFill>
            <a:srgbClr val="EF4444"/>
          </a:solidFill>
          <a:ln w="12700">
            <a:solidFill>
              <a:srgbClr val="EF4444"/>
            </a:solidFill>
            <a:prstDash val="solid"/>
          </a:ln>
        </p:spPr>
        <p:txBody>
          <a:bodyPr/>
          <a:lstStyle/>
          <a:p>
            <a:endParaRPr lang="en-US"/>
          </a:p>
        </p:txBody>
      </p:sp>
      <p:sp>
        <p:nvSpPr>
          <p:cNvPr id="58" name="Text 56"/>
          <p:cNvSpPr/>
          <p:nvPr/>
        </p:nvSpPr>
        <p:spPr>
          <a:xfrm>
            <a:off x="685800" y="583387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THE SMB TRAP</a:t>
            </a:r>
            <a:endParaRPr lang="en-US" sz="1000" dirty="0"/>
          </a:p>
        </p:txBody>
      </p:sp>
      <p:sp>
        <p:nvSpPr>
          <p:cNvPr id="59" name="Text 57"/>
          <p:cNvSpPr/>
          <p:nvPr/>
        </p:nvSpPr>
        <p:spPr>
          <a:xfrm>
            <a:off x="685800" y="6062472"/>
            <a:ext cx="10911535" cy="310896"/>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Consultants who say "the whole company is in scope" are either being lazy or padding their hours. Proper scoping, with a well-designed enclave, routinely pulls 60–80% of an SMB's systems out of the assessment. That's the difference between affordable and impossible.</a:t>
            </a:r>
            <a:endParaRPr lang="en-US" sz="1050" dirty="0"/>
          </a:p>
        </p:txBody>
      </p:sp>
      <p:sp>
        <p:nvSpPr>
          <p:cNvPr id="60" name="Shape 58"/>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61" name="Text 5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62" name="Text 60"/>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 / 23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Where Will CUI Actually Live?</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An enclave is a small, segmented environment where CUI is processed, stored, and protected. It is usually the single biggest architecture decision an SMB makes.</a:t>
            </a:r>
            <a:endParaRPr lang="en-US" sz="1300" dirty="0"/>
          </a:p>
        </p:txBody>
      </p:sp>
      <p:sp>
        <p:nvSpPr>
          <p:cNvPr id="5" name="Shape 3"/>
          <p:cNvSpPr/>
          <p:nvPr/>
        </p:nvSpPr>
        <p:spPr>
          <a:xfrm>
            <a:off x="457200" y="1508760"/>
            <a:ext cx="3637178" cy="429768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08760"/>
            <a:ext cx="3637178" cy="411480"/>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548640" y="1508760"/>
            <a:ext cx="3454298" cy="411480"/>
          </a:xfrm>
          <a:prstGeom prst="rect">
            <a:avLst/>
          </a:prstGeom>
          <a:noFill/>
          <a:ln/>
        </p:spPr>
        <p:txBody>
          <a:bodyPr wrap="square" lIns="0" tIns="0" rIns="0" bIns="0" rtlCol="0" anchor="ctr"/>
          <a:lstStyle/>
          <a:p>
            <a:pPr marL="0" indent="0" algn="ctr">
              <a:buNone/>
            </a:pPr>
            <a:r>
              <a:rPr lang="en-US" sz="900" b="1" kern="0" spc="200" dirty="0">
                <a:solidFill>
                  <a:srgbClr val="0C1020"/>
                </a:solidFill>
                <a:latin typeface="Calibri" pitchFamily="34" charset="0"/>
                <a:ea typeface="Calibri" pitchFamily="34" charset="-122"/>
                <a:cs typeface="Calibri" pitchFamily="34" charset="-120"/>
              </a:rPr>
              <a:t>EASIEST FOR SMBs</a:t>
            </a:r>
            <a:endParaRPr lang="en-US" sz="900" dirty="0"/>
          </a:p>
        </p:txBody>
      </p:sp>
      <p:sp>
        <p:nvSpPr>
          <p:cNvPr id="8" name="Text 6"/>
          <p:cNvSpPr/>
          <p:nvPr/>
        </p:nvSpPr>
        <p:spPr>
          <a:xfrm>
            <a:off x="594360" y="2011680"/>
            <a:ext cx="3362858"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Managed CUI Enclave (SaaS)</a:t>
            </a:r>
            <a:endParaRPr lang="en-US" sz="1400" dirty="0"/>
          </a:p>
        </p:txBody>
      </p:sp>
      <p:sp>
        <p:nvSpPr>
          <p:cNvPr id="9" name="Text 7"/>
          <p:cNvSpPr/>
          <p:nvPr/>
        </p:nvSpPr>
        <p:spPr>
          <a:xfrm>
            <a:off x="594360" y="2514600"/>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Vendor-hosted, FedRAMP-aligned environment built specifically for CUI workflows (file storage, email, collaboration).</a:t>
            </a:r>
            <a:endParaRPr lang="en-US" sz="950" dirty="0"/>
          </a:p>
        </p:txBody>
      </p:sp>
      <p:sp>
        <p:nvSpPr>
          <p:cNvPr id="10" name="Text 8"/>
          <p:cNvSpPr/>
          <p:nvPr/>
        </p:nvSpPr>
        <p:spPr>
          <a:xfrm>
            <a:off x="594360" y="3200400"/>
            <a:ext cx="3362858" cy="640080"/>
          </a:xfrm>
          <a:prstGeom prst="rect">
            <a:avLst/>
          </a:prstGeom>
          <a:noFill/>
          <a:ln/>
        </p:spPr>
        <p:txBody>
          <a:bodyPr wrap="square" lIns="0" tIns="0" rIns="0" bIns="0" rtlCol="0" anchor="ctr"/>
          <a:lstStyle/>
          <a:p>
            <a:pPr marL="0" indent="0">
              <a:buNone/>
            </a:pPr>
            <a:r>
              <a:rPr lang="en-US" sz="900" i="1" dirty="0">
                <a:solidFill>
                  <a:srgbClr val="60A3F1"/>
                </a:solidFill>
                <a:latin typeface="Calibri" pitchFamily="34" charset="0"/>
                <a:ea typeface="Calibri" pitchFamily="34" charset="-122"/>
                <a:cs typeface="Calibri" pitchFamily="34" charset="-120"/>
              </a:rPr>
              <a:t>Examples: PreVeil, Kiteworks, Virtru, Exostar ProjectSpace, Sysarc Mission Control, Summit 7 Sentinel.</a:t>
            </a:r>
            <a:endParaRPr lang="en-US" sz="900" dirty="0"/>
          </a:p>
        </p:txBody>
      </p:sp>
      <p:sp>
        <p:nvSpPr>
          <p:cNvPr id="11" name="Text 9"/>
          <p:cNvSpPr/>
          <p:nvPr/>
        </p:nvSpPr>
        <p:spPr>
          <a:xfrm>
            <a:off x="594360" y="3840480"/>
            <a:ext cx="3362858" cy="201168"/>
          </a:xfrm>
          <a:prstGeom prst="rect">
            <a:avLst/>
          </a:prstGeom>
          <a:noFill/>
          <a:ln/>
        </p:spPr>
        <p:txBody>
          <a:bodyPr wrap="square" lIns="0" tIns="0" rIns="0" bIns="0" rtlCol="0" anchor="ctr"/>
          <a:lstStyle/>
          <a:p>
            <a:pPr marL="0" indent="0">
              <a:buNone/>
            </a:pPr>
            <a:r>
              <a:rPr lang="en-US" sz="800" b="1" kern="0" spc="200" dirty="0">
                <a:solidFill>
                  <a:srgbClr val="10B981"/>
                </a:solidFill>
                <a:latin typeface="Calibri" pitchFamily="34" charset="0"/>
                <a:ea typeface="Calibri" pitchFamily="34" charset="-122"/>
                <a:cs typeface="Calibri" pitchFamily="34" charset="-120"/>
              </a:rPr>
              <a:t>PROS</a:t>
            </a:r>
            <a:endParaRPr lang="en-US" sz="800" dirty="0"/>
          </a:p>
        </p:txBody>
      </p:sp>
      <p:sp>
        <p:nvSpPr>
          <p:cNvPr id="12" name="Text 10"/>
          <p:cNvSpPr/>
          <p:nvPr/>
        </p:nvSpPr>
        <p:spPr>
          <a:xfrm>
            <a:off x="594360" y="404164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Smallest scope. Fastest setup (weeks). Vendor covers most controls. Predictable per-user pricing.</a:t>
            </a:r>
            <a:endParaRPr lang="en-US" sz="950" dirty="0"/>
          </a:p>
        </p:txBody>
      </p:sp>
      <p:sp>
        <p:nvSpPr>
          <p:cNvPr id="13" name="Text 11"/>
          <p:cNvSpPr/>
          <p:nvPr/>
        </p:nvSpPr>
        <p:spPr>
          <a:xfrm>
            <a:off x="594360" y="4709160"/>
            <a:ext cx="3362858" cy="201168"/>
          </a:xfrm>
          <a:prstGeom prst="rect">
            <a:avLst/>
          </a:prstGeom>
          <a:noFill/>
          <a:ln/>
        </p:spPr>
        <p:txBody>
          <a:bodyPr wrap="square" lIns="0" tIns="0" rIns="0" bIns="0" rtlCol="0" anchor="ctr"/>
          <a:lstStyle/>
          <a:p>
            <a:pPr marL="0" indent="0">
              <a:buNone/>
            </a:pPr>
            <a:r>
              <a:rPr lang="en-US" sz="800" b="1" kern="0" spc="200" dirty="0">
                <a:solidFill>
                  <a:srgbClr val="EF4444"/>
                </a:solidFill>
                <a:latin typeface="Calibri" pitchFamily="34" charset="0"/>
                <a:ea typeface="Calibri" pitchFamily="34" charset="-122"/>
                <a:cs typeface="Calibri" pitchFamily="34" charset="-120"/>
              </a:rPr>
              <a:t>CONS</a:t>
            </a:r>
            <a:endParaRPr lang="en-US" sz="800" dirty="0"/>
          </a:p>
        </p:txBody>
      </p:sp>
      <p:sp>
        <p:nvSpPr>
          <p:cNvPr id="14" name="Text 12"/>
          <p:cNvSpPr/>
          <p:nvPr/>
        </p:nvSpPr>
        <p:spPr>
          <a:xfrm>
            <a:off x="594360" y="491032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Per-user costs add up over time. Vendor lock-in. Workflows may need to change.</a:t>
            </a:r>
            <a:endParaRPr lang="en-US" sz="950" dirty="0"/>
          </a:p>
        </p:txBody>
      </p:sp>
      <p:sp>
        <p:nvSpPr>
          <p:cNvPr id="15" name="Text 13"/>
          <p:cNvSpPr/>
          <p:nvPr/>
        </p:nvSpPr>
        <p:spPr>
          <a:xfrm>
            <a:off x="594360" y="5532120"/>
            <a:ext cx="3362858" cy="228600"/>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Typical: $200–$400 per user/month</a:t>
            </a:r>
            <a:endParaRPr lang="en-US" sz="950" dirty="0"/>
          </a:p>
        </p:txBody>
      </p:sp>
      <p:sp>
        <p:nvSpPr>
          <p:cNvPr id="16" name="Shape 14"/>
          <p:cNvSpPr/>
          <p:nvPr/>
        </p:nvSpPr>
        <p:spPr>
          <a:xfrm>
            <a:off x="4277258" y="1508760"/>
            <a:ext cx="3637178" cy="4297680"/>
          </a:xfrm>
          <a:prstGeom prst="rect">
            <a:avLst/>
          </a:prstGeom>
          <a:solidFill>
            <a:srgbClr val="131A35"/>
          </a:solidFill>
          <a:ln w="9525">
            <a:solidFill>
              <a:srgbClr val="1E2D5A"/>
            </a:solidFill>
            <a:prstDash val="solid"/>
          </a:ln>
        </p:spPr>
        <p:txBody>
          <a:bodyPr/>
          <a:lstStyle/>
          <a:p>
            <a:endParaRPr lang="en-US"/>
          </a:p>
        </p:txBody>
      </p:sp>
      <p:sp>
        <p:nvSpPr>
          <p:cNvPr id="17" name="Shape 15"/>
          <p:cNvSpPr/>
          <p:nvPr/>
        </p:nvSpPr>
        <p:spPr>
          <a:xfrm>
            <a:off x="4277258" y="1508760"/>
            <a:ext cx="3637178" cy="411480"/>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4368698" y="1508760"/>
            <a:ext cx="3454298" cy="411480"/>
          </a:xfrm>
          <a:prstGeom prst="rect">
            <a:avLst/>
          </a:prstGeom>
          <a:noFill/>
          <a:ln/>
        </p:spPr>
        <p:txBody>
          <a:bodyPr wrap="square" lIns="0" tIns="0" rIns="0" bIns="0" rtlCol="0" anchor="ctr"/>
          <a:lstStyle/>
          <a:p>
            <a:pPr marL="0" indent="0" algn="ctr">
              <a:buNone/>
            </a:pPr>
            <a:r>
              <a:rPr lang="en-US" sz="900" b="1" kern="0" spc="200" dirty="0">
                <a:solidFill>
                  <a:srgbClr val="0C1020"/>
                </a:solidFill>
                <a:latin typeface="Calibri" pitchFamily="34" charset="0"/>
                <a:ea typeface="Calibri" pitchFamily="34" charset="-122"/>
                <a:cs typeface="Calibri" pitchFamily="34" charset="-120"/>
              </a:rPr>
              <a:t>MOST COMMON</a:t>
            </a:r>
            <a:endParaRPr lang="en-US" sz="900" dirty="0"/>
          </a:p>
        </p:txBody>
      </p:sp>
      <p:sp>
        <p:nvSpPr>
          <p:cNvPr id="19" name="Text 17"/>
          <p:cNvSpPr/>
          <p:nvPr/>
        </p:nvSpPr>
        <p:spPr>
          <a:xfrm>
            <a:off x="4414418" y="2011680"/>
            <a:ext cx="3362858"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Microsoft GCC High</a:t>
            </a:r>
            <a:endParaRPr lang="en-US" sz="1400" dirty="0"/>
          </a:p>
        </p:txBody>
      </p:sp>
      <p:sp>
        <p:nvSpPr>
          <p:cNvPr id="20" name="Text 18"/>
          <p:cNvSpPr/>
          <p:nvPr/>
        </p:nvSpPr>
        <p:spPr>
          <a:xfrm>
            <a:off x="4414418" y="2514600"/>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Microsoft 365 environment built on Azure Government for ITAR/CUI. Holds FedRAMP High ATO.</a:t>
            </a:r>
            <a:endParaRPr lang="en-US" sz="950" dirty="0"/>
          </a:p>
        </p:txBody>
      </p:sp>
      <p:sp>
        <p:nvSpPr>
          <p:cNvPr id="21" name="Text 19"/>
          <p:cNvSpPr/>
          <p:nvPr/>
        </p:nvSpPr>
        <p:spPr>
          <a:xfrm>
            <a:off x="4414418" y="3200400"/>
            <a:ext cx="3362858" cy="640080"/>
          </a:xfrm>
          <a:prstGeom prst="rect">
            <a:avLst/>
          </a:prstGeom>
          <a:noFill/>
          <a:ln/>
        </p:spPr>
        <p:txBody>
          <a:bodyPr wrap="square" lIns="0" tIns="0" rIns="0" bIns="0" rtlCol="0" anchor="ctr"/>
          <a:lstStyle/>
          <a:p>
            <a:pPr marL="0" indent="0">
              <a:buNone/>
            </a:pPr>
            <a:r>
              <a:rPr lang="en-US" sz="900" i="1" dirty="0">
                <a:solidFill>
                  <a:srgbClr val="60A3F1"/>
                </a:solidFill>
                <a:latin typeface="Calibri" pitchFamily="34" charset="0"/>
                <a:ea typeface="Calibri" pitchFamily="34" charset="-122"/>
                <a:cs typeface="Calibri" pitchFamily="34" charset="-120"/>
              </a:rPr>
              <a:t>Microsoft 365 GCC High licenses (Microsoft is the only provider). Often deployed with a CMMC-experienced MSP.</a:t>
            </a:r>
            <a:endParaRPr lang="en-US" sz="900" dirty="0"/>
          </a:p>
        </p:txBody>
      </p:sp>
      <p:sp>
        <p:nvSpPr>
          <p:cNvPr id="22" name="Text 20"/>
          <p:cNvSpPr/>
          <p:nvPr/>
        </p:nvSpPr>
        <p:spPr>
          <a:xfrm>
            <a:off x="4414418" y="3840480"/>
            <a:ext cx="3362858" cy="201168"/>
          </a:xfrm>
          <a:prstGeom prst="rect">
            <a:avLst/>
          </a:prstGeom>
          <a:noFill/>
          <a:ln/>
        </p:spPr>
        <p:txBody>
          <a:bodyPr wrap="square" lIns="0" tIns="0" rIns="0" bIns="0" rtlCol="0" anchor="ctr"/>
          <a:lstStyle/>
          <a:p>
            <a:pPr marL="0" indent="0">
              <a:buNone/>
            </a:pPr>
            <a:r>
              <a:rPr lang="en-US" sz="800" b="1" kern="0" spc="200" dirty="0">
                <a:solidFill>
                  <a:srgbClr val="10B981"/>
                </a:solidFill>
                <a:latin typeface="Calibri" pitchFamily="34" charset="0"/>
                <a:ea typeface="Calibri" pitchFamily="34" charset="-122"/>
                <a:cs typeface="Calibri" pitchFamily="34" charset="-120"/>
              </a:rPr>
              <a:t>PROS</a:t>
            </a:r>
            <a:endParaRPr lang="en-US" sz="800" dirty="0"/>
          </a:p>
        </p:txBody>
      </p:sp>
      <p:sp>
        <p:nvSpPr>
          <p:cNvPr id="23" name="Text 21"/>
          <p:cNvSpPr/>
          <p:nvPr/>
        </p:nvSpPr>
        <p:spPr>
          <a:xfrm>
            <a:off x="4414418" y="404164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Full M365 functionality (Teams, SharePoint, Exchange, Intune). FedRAMP High. ITAR-eligible. Largest support ecosystem.</a:t>
            </a:r>
            <a:endParaRPr lang="en-US" sz="950" dirty="0"/>
          </a:p>
        </p:txBody>
      </p:sp>
      <p:sp>
        <p:nvSpPr>
          <p:cNvPr id="24" name="Text 22"/>
          <p:cNvSpPr/>
          <p:nvPr/>
        </p:nvSpPr>
        <p:spPr>
          <a:xfrm>
            <a:off x="4414418" y="4709160"/>
            <a:ext cx="3362858" cy="201168"/>
          </a:xfrm>
          <a:prstGeom prst="rect">
            <a:avLst/>
          </a:prstGeom>
          <a:noFill/>
          <a:ln/>
        </p:spPr>
        <p:txBody>
          <a:bodyPr wrap="square" lIns="0" tIns="0" rIns="0" bIns="0" rtlCol="0" anchor="ctr"/>
          <a:lstStyle/>
          <a:p>
            <a:pPr marL="0" indent="0">
              <a:buNone/>
            </a:pPr>
            <a:r>
              <a:rPr lang="en-US" sz="800" b="1" kern="0" spc="200" dirty="0">
                <a:solidFill>
                  <a:srgbClr val="EF4444"/>
                </a:solidFill>
                <a:latin typeface="Calibri" pitchFamily="34" charset="0"/>
                <a:ea typeface="Calibri" pitchFamily="34" charset="-122"/>
                <a:cs typeface="Calibri" pitchFamily="34" charset="-120"/>
              </a:rPr>
              <a:t>CONS</a:t>
            </a:r>
            <a:endParaRPr lang="en-US" sz="800" dirty="0"/>
          </a:p>
        </p:txBody>
      </p:sp>
      <p:sp>
        <p:nvSpPr>
          <p:cNvPr id="25" name="Text 23"/>
          <p:cNvSpPr/>
          <p:nvPr/>
        </p:nvSpPr>
        <p:spPr>
          <a:xfrm>
            <a:off x="4414418" y="491032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Licensing complexity. Higher per-user cost than commercial M365. Migration effort can be significant.</a:t>
            </a:r>
            <a:endParaRPr lang="en-US" sz="950" dirty="0"/>
          </a:p>
        </p:txBody>
      </p:sp>
      <p:sp>
        <p:nvSpPr>
          <p:cNvPr id="26" name="Text 24"/>
          <p:cNvSpPr/>
          <p:nvPr/>
        </p:nvSpPr>
        <p:spPr>
          <a:xfrm>
            <a:off x="4414418" y="5532120"/>
            <a:ext cx="3362858" cy="228600"/>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Typical: $40–$70 per user/month + migration costs</a:t>
            </a:r>
            <a:endParaRPr lang="en-US" sz="950" dirty="0"/>
          </a:p>
        </p:txBody>
      </p:sp>
      <p:sp>
        <p:nvSpPr>
          <p:cNvPr id="27" name="Shape 25"/>
          <p:cNvSpPr/>
          <p:nvPr/>
        </p:nvSpPr>
        <p:spPr>
          <a:xfrm>
            <a:off x="8097317" y="1508760"/>
            <a:ext cx="3637178" cy="4297680"/>
          </a:xfrm>
          <a:prstGeom prst="rect">
            <a:avLst/>
          </a:prstGeom>
          <a:solidFill>
            <a:srgbClr val="131A35"/>
          </a:solidFill>
          <a:ln w="9525">
            <a:solidFill>
              <a:srgbClr val="1E2D5A"/>
            </a:solidFill>
            <a:prstDash val="solid"/>
          </a:ln>
        </p:spPr>
        <p:txBody>
          <a:bodyPr/>
          <a:lstStyle/>
          <a:p>
            <a:endParaRPr lang="en-US"/>
          </a:p>
        </p:txBody>
      </p:sp>
      <p:sp>
        <p:nvSpPr>
          <p:cNvPr id="28" name="Shape 26"/>
          <p:cNvSpPr/>
          <p:nvPr/>
        </p:nvSpPr>
        <p:spPr>
          <a:xfrm>
            <a:off x="8097317" y="1508760"/>
            <a:ext cx="3637178" cy="411480"/>
          </a:xfrm>
          <a:prstGeom prst="rect">
            <a:avLst/>
          </a:prstGeom>
          <a:solidFill>
            <a:srgbClr val="EF4444"/>
          </a:solidFill>
          <a:ln w="12700">
            <a:solidFill>
              <a:srgbClr val="EF4444"/>
            </a:solidFill>
            <a:prstDash val="solid"/>
          </a:ln>
        </p:spPr>
        <p:txBody>
          <a:bodyPr/>
          <a:lstStyle/>
          <a:p>
            <a:endParaRPr lang="en-US"/>
          </a:p>
        </p:txBody>
      </p:sp>
      <p:sp>
        <p:nvSpPr>
          <p:cNvPr id="29" name="Text 27"/>
          <p:cNvSpPr/>
          <p:nvPr/>
        </p:nvSpPr>
        <p:spPr>
          <a:xfrm>
            <a:off x="8188757" y="1508760"/>
            <a:ext cx="3454298" cy="411480"/>
          </a:xfrm>
          <a:prstGeom prst="rect">
            <a:avLst/>
          </a:prstGeom>
          <a:noFill/>
          <a:ln/>
        </p:spPr>
        <p:txBody>
          <a:bodyPr wrap="square" lIns="0" tIns="0" rIns="0" bIns="0" rtlCol="0" anchor="ctr"/>
          <a:lstStyle/>
          <a:p>
            <a:pPr marL="0" indent="0" algn="ctr">
              <a:buNone/>
            </a:pPr>
            <a:r>
              <a:rPr lang="en-US" sz="900" b="1" kern="0" spc="200" dirty="0">
                <a:solidFill>
                  <a:srgbClr val="0C1020"/>
                </a:solidFill>
                <a:latin typeface="Calibri" pitchFamily="34" charset="0"/>
                <a:ea typeface="Calibri" pitchFamily="34" charset="-122"/>
                <a:cs typeface="Calibri" pitchFamily="34" charset="-120"/>
              </a:rPr>
              <a:t>ONLY IF YOU HAVE REASON</a:t>
            </a:r>
            <a:endParaRPr lang="en-US" sz="900" dirty="0"/>
          </a:p>
        </p:txBody>
      </p:sp>
      <p:sp>
        <p:nvSpPr>
          <p:cNvPr id="30" name="Text 28"/>
          <p:cNvSpPr/>
          <p:nvPr/>
        </p:nvSpPr>
        <p:spPr>
          <a:xfrm>
            <a:off x="8234477" y="2011680"/>
            <a:ext cx="3362858"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Build-Your-Own Enclave</a:t>
            </a:r>
            <a:endParaRPr lang="en-US" sz="1400" dirty="0"/>
          </a:p>
        </p:txBody>
      </p:sp>
      <p:sp>
        <p:nvSpPr>
          <p:cNvPr id="31" name="Text 29"/>
          <p:cNvSpPr/>
          <p:nvPr/>
        </p:nvSpPr>
        <p:spPr>
          <a:xfrm>
            <a:off x="8234477" y="2514600"/>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Self-architected on-prem or private cloud (AWS GovCloud, Azure Government, Google Assured Workloads).</a:t>
            </a:r>
            <a:endParaRPr lang="en-US" sz="950" dirty="0"/>
          </a:p>
        </p:txBody>
      </p:sp>
      <p:sp>
        <p:nvSpPr>
          <p:cNvPr id="32" name="Text 30"/>
          <p:cNvSpPr/>
          <p:nvPr/>
        </p:nvSpPr>
        <p:spPr>
          <a:xfrm>
            <a:off x="8234477" y="3200400"/>
            <a:ext cx="3362858" cy="640080"/>
          </a:xfrm>
          <a:prstGeom prst="rect">
            <a:avLst/>
          </a:prstGeom>
          <a:noFill/>
          <a:ln/>
        </p:spPr>
        <p:txBody>
          <a:bodyPr wrap="square" lIns="0" tIns="0" rIns="0" bIns="0" rtlCol="0" anchor="ctr"/>
          <a:lstStyle/>
          <a:p>
            <a:pPr marL="0" indent="0">
              <a:buNone/>
            </a:pPr>
            <a:r>
              <a:rPr lang="en-US" sz="900" i="1" dirty="0">
                <a:solidFill>
                  <a:srgbClr val="60A3F1"/>
                </a:solidFill>
                <a:latin typeface="Calibri" pitchFamily="34" charset="0"/>
                <a:ea typeface="Calibri" pitchFamily="34" charset="-122"/>
                <a:cs typeface="Calibri" pitchFamily="34" charset="-120"/>
              </a:rPr>
              <a:t>Custom segmented VLAN, GovCloud tenant, hardened on-prem domain. Built and maintained by you.</a:t>
            </a:r>
            <a:endParaRPr lang="en-US" sz="900" dirty="0"/>
          </a:p>
        </p:txBody>
      </p:sp>
      <p:sp>
        <p:nvSpPr>
          <p:cNvPr id="33" name="Text 31"/>
          <p:cNvSpPr/>
          <p:nvPr/>
        </p:nvSpPr>
        <p:spPr>
          <a:xfrm>
            <a:off x="8234477" y="3840480"/>
            <a:ext cx="3362858" cy="201168"/>
          </a:xfrm>
          <a:prstGeom prst="rect">
            <a:avLst/>
          </a:prstGeom>
          <a:noFill/>
          <a:ln/>
        </p:spPr>
        <p:txBody>
          <a:bodyPr wrap="square" lIns="0" tIns="0" rIns="0" bIns="0" rtlCol="0" anchor="ctr"/>
          <a:lstStyle/>
          <a:p>
            <a:pPr marL="0" indent="0">
              <a:buNone/>
            </a:pPr>
            <a:r>
              <a:rPr lang="en-US" sz="800" b="1" kern="0" spc="200" dirty="0">
                <a:solidFill>
                  <a:srgbClr val="10B981"/>
                </a:solidFill>
                <a:latin typeface="Calibri" pitchFamily="34" charset="0"/>
                <a:ea typeface="Calibri" pitchFamily="34" charset="-122"/>
                <a:cs typeface="Calibri" pitchFamily="34" charset="-120"/>
              </a:rPr>
              <a:t>PROS</a:t>
            </a:r>
            <a:endParaRPr lang="en-US" sz="800" dirty="0"/>
          </a:p>
        </p:txBody>
      </p:sp>
      <p:sp>
        <p:nvSpPr>
          <p:cNvPr id="34" name="Text 32"/>
          <p:cNvSpPr/>
          <p:nvPr/>
        </p:nvSpPr>
        <p:spPr>
          <a:xfrm>
            <a:off x="8234477" y="404164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Maximum control. Can fit unusual workflows (special manufacturing systems, classified-adjacent labs).</a:t>
            </a:r>
            <a:endParaRPr lang="en-US" sz="950" dirty="0"/>
          </a:p>
        </p:txBody>
      </p:sp>
      <p:sp>
        <p:nvSpPr>
          <p:cNvPr id="35" name="Text 33"/>
          <p:cNvSpPr/>
          <p:nvPr/>
        </p:nvSpPr>
        <p:spPr>
          <a:xfrm>
            <a:off x="8234477" y="4709160"/>
            <a:ext cx="3362858" cy="201168"/>
          </a:xfrm>
          <a:prstGeom prst="rect">
            <a:avLst/>
          </a:prstGeom>
          <a:noFill/>
          <a:ln/>
        </p:spPr>
        <p:txBody>
          <a:bodyPr wrap="square" lIns="0" tIns="0" rIns="0" bIns="0" rtlCol="0" anchor="ctr"/>
          <a:lstStyle/>
          <a:p>
            <a:pPr marL="0" indent="0">
              <a:buNone/>
            </a:pPr>
            <a:r>
              <a:rPr lang="en-US" sz="800" b="1" kern="0" spc="200" dirty="0">
                <a:solidFill>
                  <a:srgbClr val="EF4444"/>
                </a:solidFill>
                <a:latin typeface="Calibri" pitchFamily="34" charset="0"/>
                <a:ea typeface="Calibri" pitchFamily="34" charset="-122"/>
                <a:cs typeface="Calibri" pitchFamily="34" charset="-120"/>
              </a:rPr>
              <a:t>CONS</a:t>
            </a:r>
            <a:endParaRPr lang="en-US" sz="800" dirty="0"/>
          </a:p>
        </p:txBody>
      </p:sp>
      <p:sp>
        <p:nvSpPr>
          <p:cNvPr id="36" name="Text 34"/>
          <p:cNvSpPr/>
          <p:nvPr/>
        </p:nvSpPr>
        <p:spPr>
          <a:xfrm>
            <a:off x="8234477" y="4910328"/>
            <a:ext cx="3362858" cy="64008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You own every control. Highest documentation burden. Easiest path to a failed assessment if under-resourced.</a:t>
            </a:r>
            <a:endParaRPr lang="en-US" sz="950" dirty="0"/>
          </a:p>
        </p:txBody>
      </p:sp>
      <p:sp>
        <p:nvSpPr>
          <p:cNvPr id="37" name="Text 35"/>
          <p:cNvSpPr/>
          <p:nvPr/>
        </p:nvSpPr>
        <p:spPr>
          <a:xfrm>
            <a:off x="8234477" y="5532120"/>
            <a:ext cx="3362858" cy="228600"/>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Typical: $50K–$200K+ build, then ongoing operations</a:t>
            </a:r>
            <a:endParaRPr lang="en-US" sz="950" dirty="0"/>
          </a:p>
        </p:txBody>
      </p:sp>
      <p:sp>
        <p:nvSpPr>
          <p:cNvPr id="38" name="Shape 36"/>
          <p:cNvSpPr/>
          <p:nvPr/>
        </p:nvSpPr>
        <p:spPr>
          <a:xfrm>
            <a:off x="457200" y="5760720"/>
            <a:ext cx="11277295" cy="658368"/>
          </a:xfrm>
          <a:prstGeom prst="rect">
            <a:avLst/>
          </a:prstGeom>
          <a:solidFill>
            <a:srgbClr val="131A35"/>
          </a:solidFill>
          <a:ln w="9525">
            <a:solidFill>
              <a:srgbClr val="1E2D5A"/>
            </a:solidFill>
            <a:prstDash val="solid"/>
          </a:ln>
        </p:spPr>
        <p:txBody>
          <a:bodyPr/>
          <a:lstStyle/>
          <a:p>
            <a:endParaRPr lang="en-US"/>
          </a:p>
        </p:txBody>
      </p:sp>
      <p:sp>
        <p:nvSpPr>
          <p:cNvPr id="39" name="Shape 37"/>
          <p:cNvSpPr/>
          <p:nvPr/>
        </p:nvSpPr>
        <p:spPr>
          <a:xfrm>
            <a:off x="457200" y="5760720"/>
            <a:ext cx="73152" cy="658368"/>
          </a:xfrm>
          <a:prstGeom prst="rect">
            <a:avLst/>
          </a:prstGeom>
          <a:solidFill>
            <a:srgbClr val="EF4444"/>
          </a:solidFill>
          <a:ln w="12700">
            <a:solidFill>
              <a:srgbClr val="EF4444"/>
            </a:solidFill>
            <a:prstDash val="solid"/>
          </a:ln>
        </p:spPr>
        <p:txBody>
          <a:bodyPr/>
          <a:lstStyle/>
          <a:p>
            <a:endParaRPr lang="en-US"/>
          </a:p>
        </p:txBody>
      </p:sp>
      <p:sp>
        <p:nvSpPr>
          <p:cNvPr id="40" name="Text 38"/>
          <p:cNvSpPr/>
          <p:nvPr/>
        </p:nvSpPr>
        <p:spPr>
          <a:xfrm>
            <a:off x="685800" y="583387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DON'T LET A VENDOR PICK YOUR ARCHITECTURE</a:t>
            </a:r>
            <a:endParaRPr lang="en-US" sz="1000" dirty="0"/>
          </a:p>
        </p:txBody>
      </p:sp>
      <p:sp>
        <p:nvSpPr>
          <p:cNvPr id="41" name="Text 39"/>
          <p:cNvSpPr/>
          <p:nvPr/>
        </p:nvSpPr>
        <p:spPr>
          <a:xfrm>
            <a:off x="685800" y="6062472"/>
            <a:ext cx="10911535" cy="310896"/>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Most enclave vendors only sell one solution. Their architecture recommendation will always be the thing they sell. Talk to two or three before deciding. Cost ranges shown are industry typicals; confirm with current quotes.</a:t>
            </a:r>
            <a:endParaRPr lang="en-US" sz="1050" dirty="0"/>
          </a:p>
        </p:txBody>
      </p:sp>
      <p:sp>
        <p:nvSpPr>
          <p:cNvPr id="42" name="Shape 40"/>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43" name="Text 41"/>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4" name="Text 42"/>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12 / 23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Buy in the Right Order (Or Pay Twice)</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SMBs routinely buy in the wrong sequence and pay for the same work twice. Here is the order that saves the most money.</a:t>
            </a:r>
            <a:endParaRPr lang="en-US" sz="1300" dirty="0"/>
          </a:p>
        </p:txBody>
      </p:sp>
      <p:sp>
        <p:nvSpPr>
          <p:cNvPr id="5" name="Shape 3"/>
          <p:cNvSpPr/>
          <p:nvPr/>
        </p:nvSpPr>
        <p:spPr>
          <a:xfrm>
            <a:off x="457200"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691640"/>
            <a:ext cx="1765249" cy="73152"/>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594360" y="1874520"/>
            <a:ext cx="1490929" cy="502920"/>
          </a:xfrm>
          <a:prstGeom prst="rect">
            <a:avLst/>
          </a:prstGeom>
          <a:noFill/>
          <a:ln/>
        </p:spPr>
        <p:txBody>
          <a:bodyPr wrap="square" lIns="0" tIns="0" rIns="0" bIns="0" rtlCol="0" anchor="ctr"/>
          <a:lstStyle/>
          <a:p>
            <a:pPr marL="0" indent="0">
              <a:buNone/>
            </a:pPr>
            <a:r>
              <a:rPr lang="en-US" sz="3000" b="1" dirty="0">
                <a:solidFill>
                  <a:srgbClr val="38BDF8"/>
                </a:solidFill>
                <a:latin typeface="Calibri" pitchFamily="34" charset="0"/>
                <a:ea typeface="Calibri" pitchFamily="34" charset="-122"/>
                <a:cs typeface="Calibri" pitchFamily="34" charset="-120"/>
              </a:rPr>
              <a:t>01</a:t>
            </a:r>
            <a:endParaRPr lang="en-US" sz="3000" dirty="0"/>
          </a:p>
        </p:txBody>
      </p:sp>
      <p:sp>
        <p:nvSpPr>
          <p:cNvPr id="8" name="Text 6"/>
          <p:cNvSpPr/>
          <p:nvPr/>
        </p:nvSpPr>
        <p:spPr>
          <a:xfrm>
            <a:off x="594360"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Identify your CUI</a:t>
            </a:r>
            <a:endParaRPr lang="en-US" sz="1200" dirty="0"/>
          </a:p>
        </p:txBody>
      </p:sp>
      <p:sp>
        <p:nvSpPr>
          <p:cNvPr id="9" name="Text 7"/>
          <p:cNvSpPr/>
          <p:nvPr/>
        </p:nvSpPr>
        <p:spPr>
          <a:xfrm>
            <a:off x="594360" y="3154680"/>
            <a:ext cx="1490929" cy="173736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Where does CUI live in your business right now? Email, file shares, ERP, CAD, contractors' laptops? Free. Done in-house with the help of your contracts.</a:t>
            </a:r>
            <a:endParaRPr lang="en-US" sz="950" dirty="0"/>
          </a:p>
        </p:txBody>
      </p:sp>
      <p:sp>
        <p:nvSpPr>
          <p:cNvPr id="10" name="Shape 8"/>
          <p:cNvSpPr/>
          <p:nvPr/>
        </p:nvSpPr>
        <p:spPr>
          <a:xfrm>
            <a:off x="2359609"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11" name="Shape 9"/>
          <p:cNvSpPr/>
          <p:nvPr/>
        </p:nvSpPr>
        <p:spPr>
          <a:xfrm>
            <a:off x="2359609" y="1691640"/>
            <a:ext cx="1765249" cy="73152"/>
          </a:xfrm>
          <a:prstGeom prst="rect">
            <a:avLst/>
          </a:prstGeom>
          <a:solidFill>
            <a:srgbClr val="818CF8"/>
          </a:solidFill>
          <a:ln w="12700">
            <a:solidFill>
              <a:srgbClr val="818CF8"/>
            </a:solidFill>
            <a:prstDash val="solid"/>
          </a:ln>
        </p:spPr>
        <p:txBody>
          <a:bodyPr/>
          <a:lstStyle/>
          <a:p>
            <a:endParaRPr lang="en-US"/>
          </a:p>
        </p:txBody>
      </p:sp>
      <p:sp>
        <p:nvSpPr>
          <p:cNvPr id="12" name="Text 10"/>
          <p:cNvSpPr/>
          <p:nvPr/>
        </p:nvSpPr>
        <p:spPr>
          <a:xfrm>
            <a:off x="2496769" y="1874520"/>
            <a:ext cx="1490929" cy="502920"/>
          </a:xfrm>
          <a:prstGeom prst="rect">
            <a:avLst/>
          </a:prstGeom>
          <a:noFill/>
          <a:ln/>
        </p:spPr>
        <p:txBody>
          <a:bodyPr wrap="square" lIns="0" tIns="0" rIns="0" bIns="0" rtlCol="0" anchor="ctr"/>
          <a:lstStyle/>
          <a:p>
            <a:pPr marL="0" indent="0">
              <a:buNone/>
            </a:pPr>
            <a:r>
              <a:rPr lang="en-US" sz="3000" b="1" dirty="0">
                <a:solidFill>
                  <a:srgbClr val="818CF8"/>
                </a:solidFill>
                <a:latin typeface="Calibri" pitchFamily="34" charset="0"/>
                <a:ea typeface="Calibri" pitchFamily="34" charset="-122"/>
                <a:cs typeface="Calibri" pitchFamily="34" charset="-120"/>
              </a:rPr>
              <a:t>02</a:t>
            </a:r>
            <a:endParaRPr lang="en-US" sz="3000" dirty="0"/>
          </a:p>
        </p:txBody>
      </p:sp>
      <p:sp>
        <p:nvSpPr>
          <p:cNvPr id="13" name="Text 11"/>
          <p:cNvSpPr/>
          <p:nvPr/>
        </p:nvSpPr>
        <p:spPr>
          <a:xfrm>
            <a:off x="2496769"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Gap-assess against 800-171</a:t>
            </a:r>
            <a:endParaRPr lang="en-US" sz="1200" dirty="0"/>
          </a:p>
        </p:txBody>
      </p:sp>
      <p:sp>
        <p:nvSpPr>
          <p:cNvPr id="14" name="Text 12"/>
          <p:cNvSpPr/>
          <p:nvPr/>
        </p:nvSpPr>
        <p:spPr>
          <a:xfrm>
            <a:off x="2496769" y="3154680"/>
            <a:ext cx="1490929" cy="1737360"/>
          </a:xfrm>
          <a:prstGeom prst="rect">
            <a:avLst/>
          </a:prstGeom>
          <a:noFill/>
          <a:ln/>
        </p:spPr>
        <p:txBody>
          <a:bodyPr wrap="square" lIns="0" tIns="0" rIns="0" bIns="0" rtlCol="0" anchor="t"/>
          <a:lstStyle/>
          <a:p>
            <a:r>
              <a:rPr lang="en-US" sz="950" dirty="0">
                <a:solidFill>
                  <a:srgbClr val="E2E8F0"/>
                </a:solidFill>
                <a:latin typeface="Calibri" pitchFamily="34" charset="0"/>
                <a:ea typeface="Calibri" pitchFamily="34" charset="-122"/>
                <a:cs typeface="Calibri" pitchFamily="34" charset="-120"/>
              </a:rPr>
              <a:t>What's already in place, what isn't, what's your real SPRS score? This is the first thing you should pay a qualified (RP or qualified security professional) CMMC consultant for. Never an enclave vendor.</a:t>
            </a:r>
          </a:p>
        </p:txBody>
      </p:sp>
      <p:sp>
        <p:nvSpPr>
          <p:cNvPr id="15" name="Shape 13"/>
          <p:cNvSpPr/>
          <p:nvPr/>
        </p:nvSpPr>
        <p:spPr>
          <a:xfrm>
            <a:off x="4262018"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16" name="Shape 14"/>
          <p:cNvSpPr/>
          <p:nvPr/>
        </p:nvSpPr>
        <p:spPr>
          <a:xfrm>
            <a:off x="4262018" y="1691640"/>
            <a:ext cx="1765249" cy="73152"/>
          </a:xfrm>
          <a:prstGeom prst="rect">
            <a:avLst/>
          </a:prstGeom>
          <a:solidFill>
            <a:srgbClr val="C084FC"/>
          </a:solidFill>
          <a:ln w="12700">
            <a:solidFill>
              <a:srgbClr val="C084FC"/>
            </a:solidFill>
            <a:prstDash val="solid"/>
          </a:ln>
        </p:spPr>
        <p:txBody>
          <a:bodyPr/>
          <a:lstStyle/>
          <a:p>
            <a:endParaRPr lang="en-US"/>
          </a:p>
        </p:txBody>
      </p:sp>
      <p:sp>
        <p:nvSpPr>
          <p:cNvPr id="17" name="Text 15"/>
          <p:cNvSpPr/>
          <p:nvPr/>
        </p:nvSpPr>
        <p:spPr>
          <a:xfrm>
            <a:off x="4399178" y="1874520"/>
            <a:ext cx="1490929" cy="502920"/>
          </a:xfrm>
          <a:prstGeom prst="rect">
            <a:avLst/>
          </a:prstGeom>
          <a:noFill/>
          <a:ln/>
        </p:spPr>
        <p:txBody>
          <a:bodyPr wrap="square" lIns="0" tIns="0" rIns="0" bIns="0" rtlCol="0" anchor="ctr"/>
          <a:lstStyle/>
          <a:p>
            <a:pPr marL="0" indent="0">
              <a:buNone/>
            </a:pPr>
            <a:r>
              <a:rPr lang="en-US" sz="3000" b="1" dirty="0">
                <a:solidFill>
                  <a:srgbClr val="C084FC"/>
                </a:solidFill>
                <a:latin typeface="Calibri" pitchFamily="34" charset="0"/>
                <a:ea typeface="Calibri" pitchFamily="34" charset="-122"/>
                <a:cs typeface="Calibri" pitchFamily="34" charset="-120"/>
              </a:rPr>
              <a:t>03</a:t>
            </a:r>
            <a:endParaRPr lang="en-US" sz="3000" dirty="0"/>
          </a:p>
        </p:txBody>
      </p:sp>
      <p:sp>
        <p:nvSpPr>
          <p:cNvPr id="18" name="Text 16"/>
          <p:cNvSpPr/>
          <p:nvPr/>
        </p:nvSpPr>
        <p:spPr>
          <a:xfrm>
            <a:off x="4399178"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Decide scope &amp; architecture</a:t>
            </a:r>
            <a:endParaRPr lang="en-US" sz="1200" dirty="0"/>
          </a:p>
        </p:txBody>
      </p:sp>
      <p:sp>
        <p:nvSpPr>
          <p:cNvPr id="19" name="Text 17"/>
          <p:cNvSpPr/>
          <p:nvPr/>
        </p:nvSpPr>
        <p:spPr>
          <a:xfrm>
            <a:off x="4399178" y="3154680"/>
            <a:ext cx="1490929" cy="173736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Will CUI live in a separate enclave? Which kind? What stays out of scope? This decision drives every cost downstream.</a:t>
            </a:r>
            <a:endParaRPr lang="en-US" sz="950" dirty="0"/>
          </a:p>
        </p:txBody>
      </p:sp>
      <p:sp>
        <p:nvSpPr>
          <p:cNvPr id="20" name="Shape 18"/>
          <p:cNvSpPr/>
          <p:nvPr/>
        </p:nvSpPr>
        <p:spPr>
          <a:xfrm>
            <a:off x="6164428"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21" name="Shape 19"/>
          <p:cNvSpPr/>
          <p:nvPr/>
        </p:nvSpPr>
        <p:spPr>
          <a:xfrm>
            <a:off x="6164428" y="1691640"/>
            <a:ext cx="1765249" cy="73152"/>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6301588" y="1874520"/>
            <a:ext cx="1490929" cy="502920"/>
          </a:xfrm>
          <a:prstGeom prst="rect">
            <a:avLst/>
          </a:prstGeom>
          <a:noFill/>
          <a:ln/>
        </p:spPr>
        <p:txBody>
          <a:bodyPr wrap="square" lIns="0" tIns="0" rIns="0" bIns="0" rtlCol="0" anchor="ctr"/>
          <a:lstStyle/>
          <a:p>
            <a:pPr marL="0" indent="0">
              <a:buNone/>
            </a:pPr>
            <a:r>
              <a:rPr lang="en-US" sz="3000" b="1" dirty="0">
                <a:solidFill>
                  <a:srgbClr val="F59E0B"/>
                </a:solidFill>
                <a:latin typeface="Calibri" pitchFamily="34" charset="0"/>
                <a:ea typeface="Calibri" pitchFamily="34" charset="-122"/>
                <a:cs typeface="Calibri" pitchFamily="34" charset="-120"/>
              </a:rPr>
              <a:t>04</a:t>
            </a:r>
            <a:endParaRPr lang="en-US" sz="3000" dirty="0"/>
          </a:p>
        </p:txBody>
      </p:sp>
      <p:sp>
        <p:nvSpPr>
          <p:cNvPr id="23" name="Text 21"/>
          <p:cNvSpPr/>
          <p:nvPr/>
        </p:nvSpPr>
        <p:spPr>
          <a:xfrm>
            <a:off x="6301588"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Remediate the gaps</a:t>
            </a:r>
            <a:endParaRPr lang="en-US" sz="1200" dirty="0"/>
          </a:p>
        </p:txBody>
      </p:sp>
      <p:sp>
        <p:nvSpPr>
          <p:cNvPr id="24" name="Text 22"/>
          <p:cNvSpPr/>
          <p:nvPr/>
        </p:nvSpPr>
        <p:spPr>
          <a:xfrm>
            <a:off x="6301588" y="3154680"/>
            <a:ext cx="1490929" cy="173736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Close the 3- and 5-point gaps first. Build policies, SSP, POA&amp;M. Stand up the controls. Most expensive line item, but now scoped to what you actually need.</a:t>
            </a:r>
            <a:endParaRPr lang="en-US" sz="950" dirty="0"/>
          </a:p>
        </p:txBody>
      </p:sp>
      <p:sp>
        <p:nvSpPr>
          <p:cNvPr id="25" name="Shape 23"/>
          <p:cNvSpPr/>
          <p:nvPr/>
        </p:nvSpPr>
        <p:spPr>
          <a:xfrm>
            <a:off x="8066837"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26" name="Shape 24"/>
          <p:cNvSpPr/>
          <p:nvPr/>
        </p:nvSpPr>
        <p:spPr>
          <a:xfrm>
            <a:off x="8066837" y="1691640"/>
            <a:ext cx="1765249" cy="73152"/>
          </a:xfrm>
          <a:prstGeom prst="rect">
            <a:avLst/>
          </a:prstGeom>
          <a:solidFill>
            <a:srgbClr val="FB923C"/>
          </a:solidFill>
          <a:ln w="12700">
            <a:solidFill>
              <a:srgbClr val="FB923C"/>
            </a:solidFill>
            <a:prstDash val="solid"/>
          </a:ln>
        </p:spPr>
        <p:txBody>
          <a:bodyPr/>
          <a:lstStyle/>
          <a:p>
            <a:endParaRPr lang="en-US"/>
          </a:p>
        </p:txBody>
      </p:sp>
      <p:sp>
        <p:nvSpPr>
          <p:cNvPr id="27" name="Text 25"/>
          <p:cNvSpPr/>
          <p:nvPr/>
        </p:nvSpPr>
        <p:spPr>
          <a:xfrm>
            <a:off x="8203997" y="1874520"/>
            <a:ext cx="1490929" cy="502920"/>
          </a:xfrm>
          <a:prstGeom prst="rect">
            <a:avLst/>
          </a:prstGeom>
          <a:noFill/>
          <a:ln/>
        </p:spPr>
        <p:txBody>
          <a:bodyPr wrap="square" lIns="0" tIns="0" rIns="0" bIns="0" rtlCol="0" anchor="ctr"/>
          <a:lstStyle/>
          <a:p>
            <a:pPr marL="0" indent="0">
              <a:buNone/>
            </a:pPr>
            <a:r>
              <a:rPr lang="en-US" sz="3000" b="1" dirty="0">
                <a:solidFill>
                  <a:srgbClr val="FB923C"/>
                </a:solidFill>
                <a:latin typeface="Calibri" pitchFamily="34" charset="0"/>
                <a:ea typeface="Calibri" pitchFamily="34" charset="-122"/>
                <a:cs typeface="Calibri" pitchFamily="34" charset="-120"/>
              </a:rPr>
              <a:t>05</a:t>
            </a:r>
            <a:endParaRPr lang="en-US" sz="3000" dirty="0"/>
          </a:p>
        </p:txBody>
      </p:sp>
      <p:sp>
        <p:nvSpPr>
          <p:cNvPr id="28" name="Text 26"/>
          <p:cNvSpPr/>
          <p:nvPr/>
        </p:nvSpPr>
        <p:spPr>
          <a:xfrm>
            <a:off x="8203997"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Buy your enclave &amp; tools</a:t>
            </a:r>
            <a:endParaRPr lang="en-US" sz="1200" dirty="0"/>
          </a:p>
        </p:txBody>
      </p:sp>
      <p:sp>
        <p:nvSpPr>
          <p:cNvPr id="29" name="Text 27"/>
          <p:cNvSpPr/>
          <p:nvPr/>
        </p:nvSpPr>
        <p:spPr>
          <a:xfrm>
            <a:off x="8203997" y="3154680"/>
            <a:ext cx="1490929" cy="173736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Only after scope is set. By now you know exactly which licenses, how many users, what tools. You won't over-buy.</a:t>
            </a:r>
            <a:endParaRPr lang="en-US" sz="950" dirty="0"/>
          </a:p>
        </p:txBody>
      </p:sp>
      <p:sp>
        <p:nvSpPr>
          <p:cNvPr id="30" name="Shape 28"/>
          <p:cNvSpPr/>
          <p:nvPr/>
        </p:nvSpPr>
        <p:spPr>
          <a:xfrm>
            <a:off x="9969246" y="1691640"/>
            <a:ext cx="1765249" cy="3291840"/>
          </a:xfrm>
          <a:prstGeom prst="rect">
            <a:avLst/>
          </a:prstGeom>
          <a:solidFill>
            <a:srgbClr val="131A35"/>
          </a:solidFill>
          <a:ln w="9525">
            <a:solidFill>
              <a:srgbClr val="1E2D5A"/>
            </a:solidFill>
            <a:prstDash val="solid"/>
          </a:ln>
        </p:spPr>
        <p:txBody>
          <a:bodyPr/>
          <a:lstStyle/>
          <a:p>
            <a:endParaRPr lang="en-US"/>
          </a:p>
        </p:txBody>
      </p:sp>
      <p:sp>
        <p:nvSpPr>
          <p:cNvPr id="31" name="Shape 29"/>
          <p:cNvSpPr/>
          <p:nvPr/>
        </p:nvSpPr>
        <p:spPr>
          <a:xfrm>
            <a:off x="9969246" y="1691640"/>
            <a:ext cx="1765249" cy="73152"/>
          </a:xfrm>
          <a:prstGeom prst="rect">
            <a:avLst/>
          </a:prstGeom>
          <a:solidFill>
            <a:srgbClr val="10B981"/>
          </a:solidFill>
          <a:ln w="12700">
            <a:solidFill>
              <a:srgbClr val="10B981"/>
            </a:solidFill>
            <a:prstDash val="solid"/>
          </a:ln>
        </p:spPr>
        <p:txBody>
          <a:bodyPr/>
          <a:lstStyle/>
          <a:p>
            <a:endParaRPr lang="en-US"/>
          </a:p>
        </p:txBody>
      </p:sp>
      <p:sp>
        <p:nvSpPr>
          <p:cNvPr id="32" name="Text 30"/>
          <p:cNvSpPr/>
          <p:nvPr/>
        </p:nvSpPr>
        <p:spPr>
          <a:xfrm>
            <a:off x="10106406" y="1874520"/>
            <a:ext cx="1490929" cy="502920"/>
          </a:xfrm>
          <a:prstGeom prst="rect">
            <a:avLst/>
          </a:prstGeom>
          <a:noFill/>
          <a:ln/>
        </p:spPr>
        <p:txBody>
          <a:bodyPr wrap="square" lIns="0" tIns="0" rIns="0" bIns="0" rtlCol="0" anchor="ctr"/>
          <a:lstStyle/>
          <a:p>
            <a:pPr marL="0" indent="0">
              <a:buNone/>
            </a:pPr>
            <a:r>
              <a:rPr lang="en-US" sz="3000" b="1" dirty="0">
                <a:solidFill>
                  <a:srgbClr val="10B981"/>
                </a:solidFill>
                <a:latin typeface="Calibri" pitchFamily="34" charset="0"/>
                <a:ea typeface="Calibri" pitchFamily="34" charset="-122"/>
                <a:cs typeface="Calibri" pitchFamily="34" charset="-120"/>
              </a:rPr>
              <a:t>06</a:t>
            </a:r>
            <a:endParaRPr lang="en-US" sz="3000" dirty="0"/>
          </a:p>
        </p:txBody>
      </p:sp>
      <p:sp>
        <p:nvSpPr>
          <p:cNvPr id="33" name="Text 31"/>
          <p:cNvSpPr/>
          <p:nvPr/>
        </p:nvSpPr>
        <p:spPr>
          <a:xfrm>
            <a:off x="10106406" y="2468880"/>
            <a:ext cx="1490929" cy="6400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Engage a C3PAO</a:t>
            </a:r>
            <a:endParaRPr lang="en-US" sz="1200" dirty="0"/>
          </a:p>
        </p:txBody>
      </p:sp>
      <p:sp>
        <p:nvSpPr>
          <p:cNvPr id="34" name="Text 32"/>
          <p:cNvSpPr/>
          <p:nvPr/>
        </p:nvSpPr>
        <p:spPr>
          <a:xfrm>
            <a:off x="10106406" y="3154680"/>
            <a:ext cx="1490929" cy="173736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Last step, not first. With clean documentation and remediated controls, the assessment runs faster and costs less.</a:t>
            </a:r>
            <a:endParaRPr lang="en-US" sz="950" dirty="0"/>
          </a:p>
        </p:txBody>
      </p:sp>
      <p:sp>
        <p:nvSpPr>
          <p:cNvPr id="35" name="Shape 33"/>
          <p:cNvSpPr/>
          <p:nvPr/>
        </p:nvSpPr>
        <p:spPr>
          <a:xfrm>
            <a:off x="457200" y="5303520"/>
            <a:ext cx="11277295" cy="685800"/>
          </a:xfrm>
          <a:prstGeom prst="rect">
            <a:avLst/>
          </a:prstGeom>
          <a:solidFill>
            <a:srgbClr val="131A35"/>
          </a:solidFill>
          <a:ln w="9525">
            <a:solidFill>
              <a:srgbClr val="1E2D5A"/>
            </a:solidFill>
            <a:prstDash val="solid"/>
          </a:ln>
        </p:spPr>
        <p:txBody>
          <a:bodyPr/>
          <a:lstStyle/>
          <a:p>
            <a:endParaRPr lang="en-US"/>
          </a:p>
        </p:txBody>
      </p:sp>
      <p:sp>
        <p:nvSpPr>
          <p:cNvPr id="36" name="Shape 34"/>
          <p:cNvSpPr/>
          <p:nvPr/>
        </p:nvSpPr>
        <p:spPr>
          <a:xfrm>
            <a:off x="457200" y="5303520"/>
            <a:ext cx="73152" cy="685800"/>
          </a:xfrm>
          <a:prstGeom prst="rect">
            <a:avLst/>
          </a:prstGeom>
          <a:solidFill>
            <a:srgbClr val="EF4444"/>
          </a:solidFill>
          <a:ln w="12700">
            <a:solidFill>
              <a:srgbClr val="EF4444"/>
            </a:solidFill>
            <a:prstDash val="solid"/>
          </a:ln>
        </p:spPr>
        <p:txBody>
          <a:bodyPr/>
          <a:lstStyle/>
          <a:p>
            <a:endParaRPr lang="en-US"/>
          </a:p>
        </p:txBody>
      </p:sp>
      <p:sp>
        <p:nvSpPr>
          <p:cNvPr id="37" name="Text 35"/>
          <p:cNvSpPr/>
          <p:nvPr/>
        </p:nvSpPr>
        <p:spPr>
          <a:xfrm>
            <a:off x="685800" y="537667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THE EXPENSIVE WRONG ORDER</a:t>
            </a:r>
            <a:endParaRPr lang="en-US" sz="1000" dirty="0"/>
          </a:p>
        </p:txBody>
      </p:sp>
      <p:sp>
        <p:nvSpPr>
          <p:cNvPr id="38" name="Text 36"/>
          <p:cNvSpPr/>
          <p:nvPr/>
        </p:nvSpPr>
        <p:spPr>
          <a:xfrm>
            <a:off x="685800" y="5605272"/>
            <a:ext cx="10911535" cy="338328"/>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Common path that costs SMBs $30K–$80K extra: buy GCC High first (because a vendor pitched it) → realize you over-licensed → hire a consultant → discover scope was wrong → buy different tools → engage a C3PAO who fails you for inconsistent documentation. The fix is sequence, not money.</a:t>
            </a:r>
            <a:endParaRPr lang="en-US" sz="1050" dirty="0"/>
          </a:p>
        </p:txBody>
      </p:sp>
      <p:sp>
        <p:nvSpPr>
          <p:cNvPr id="39" name="Text 37"/>
          <p:cNvSpPr/>
          <p:nvPr/>
        </p:nvSpPr>
        <p:spPr>
          <a:xfrm>
            <a:off x="457200" y="6126480"/>
            <a:ext cx="11277295" cy="274320"/>
          </a:xfrm>
          <a:prstGeom prst="rect">
            <a:avLst/>
          </a:prstGeom>
          <a:noFill/>
          <a:ln/>
        </p:spPr>
        <p:txBody>
          <a:bodyPr wrap="square" lIns="0" tIns="0" rIns="0" bIns="0" rtlCol="0" anchor="ctr"/>
          <a:lstStyle/>
          <a:p>
            <a:pPr marL="0" indent="0" algn="ctr">
              <a:buNone/>
            </a:pPr>
            <a:r>
              <a:rPr lang="en-US" sz="1100" b="1" i="1" dirty="0">
                <a:solidFill>
                  <a:srgbClr val="8844DD"/>
                </a:solidFill>
                <a:latin typeface="Calibri" pitchFamily="34" charset="0"/>
                <a:ea typeface="Calibri" pitchFamily="34" charset="-122"/>
                <a:cs typeface="Calibri" pitchFamily="34" charset="-120"/>
              </a:rPr>
              <a:t>Steps 01–03 cost relatively little. Step 04 is your biggest variable. Steps 05–06 should be the LAST money you commit, not the first.</a:t>
            </a:r>
            <a:endParaRPr lang="en-US" sz="1100" dirty="0"/>
          </a:p>
        </p:txBody>
      </p:sp>
      <p:sp>
        <p:nvSpPr>
          <p:cNvPr id="40" name="Shape 38"/>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41" name="Text 3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2" name="Text 40"/>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13 / 23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 Bought GCC High" Isn't Enough</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Every cloud or enclave covers some of the 110 controls. You own the rest. The split is documented in a Customer Responsibility Matrix (CRM).</a:t>
            </a:r>
            <a:endParaRPr lang="en-US" sz="1300" dirty="0"/>
          </a:p>
        </p:txBody>
      </p:sp>
      <p:sp>
        <p:nvSpPr>
          <p:cNvPr id="5" name="Shape 3"/>
          <p:cNvSpPr/>
          <p:nvPr/>
        </p:nvSpPr>
        <p:spPr>
          <a:xfrm>
            <a:off x="457200" y="1554480"/>
            <a:ext cx="5760720" cy="448056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640080" y="1737360"/>
            <a:ext cx="4402836" cy="256032"/>
          </a:xfrm>
          <a:prstGeom prst="rect">
            <a:avLst/>
          </a:prstGeom>
          <a:solidFill>
            <a:srgbClr val="1E2D5A"/>
          </a:solidFill>
          <a:ln w="9525">
            <a:solidFill>
              <a:srgbClr val="60A3F1"/>
            </a:solidFill>
            <a:prstDash val="solid"/>
          </a:ln>
        </p:spPr>
        <p:txBody>
          <a:bodyPr/>
          <a:lstStyle/>
          <a:p>
            <a:endParaRPr lang="en-US"/>
          </a:p>
        </p:txBody>
      </p:sp>
      <p:sp>
        <p:nvSpPr>
          <p:cNvPr id="7" name="Text 5"/>
          <p:cNvSpPr/>
          <p:nvPr/>
        </p:nvSpPr>
        <p:spPr>
          <a:xfrm>
            <a:off x="640080" y="1737360"/>
            <a:ext cx="4402836" cy="256032"/>
          </a:xfrm>
          <a:prstGeom prst="rect">
            <a:avLst/>
          </a:prstGeom>
          <a:noFill/>
          <a:ln/>
        </p:spPr>
        <p:txBody>
          <a:bodyPr wrap="square" lIns="0" tIns="0" rIns="0" bIns="0" rtlCol="0" anchor="ctr"/>
          <a:lstStyle/>
          <a:p>
            <a:pPr marL="0" indent="0" algn="ctr">
              <a:buNone/>
            </a:pPr>
            <a:r>
              <a:rPr lang="en-US" sz="900" b="1" kern="0" spc="200" dirty="0">
                <a:solidFill>
                  <a:srgbClr val="60A3F1"/>
                </a:solidFill>
                <a:latin typeface="Calibri" pitchFamily="34" charset="0"/>
                <a:ea typeface="Calibri" pitchFamily="34" charset="-122"/>
                <a:cs typeface="Calibri" pitchFamily="34" charset="-120"/>
              </a:rPr>
              <a:t>TYPICAL RESPONSIBILITY SPLIT (GCC HIGH EXAMPLE)</a:t>
            </a:r>
            <a:endParaRPr lang="en-US" sz="900" dirty="0"/>
          </a:p>
        </p:txBody>
      </p:sp>
      <p:sp>
        <p:nvSpPr>
          <p:cNvPr id="8" name="Text 6"/>
          <p:cNvSpPr/>
          <p:nvPr/>
        </p:nvSpPr>
        <p:spPr>
          <a:xfrm>
            <a:off x="640080" y="2103120"/>
            <a:ext cx="5486400" cy="32004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Microsoft GCC High example. Exact splits vary by enclave; always check the vendor's CRM.</a:t>
            </a:r>
            <a:endParaRPr lang="en-US" sz="1000" dirty="0"/>
          </a:p>
        </p:txBody>
      </p:sp>
      <p:sp>
        <p:nvSpPr>
          <p:cNvPr id="9" name="Text 7"/>
          <p:cNvSpPr/>
          <p:nvPr/>
        </p:nvSpPr>
        <p:spPr>
          <a:xfrm>
            <a:off x="640080" y="2606040"/>
            <a:ext cx="5486400" cy="228600"/>
          </a:xfrm>
          <a:prstGeom prst="rect">
            <a:avLst/>
          </a:prstGeom>
          <a:noFill/>
          <a:ln/>
        </p:spPr>
        <p:txBody>
          <a:bodyPr wrap="square" lIns="0" tIns="0" rIns="0" bIns="0" rtlCol="0" anchor="ctr"/>
          <a:lstStyle/>
          <a:p>
            <a:pPr marL="0" indent="0">
              <a:buNone/>
            </a:pPr>
            <a:r>
              <a:rPr lang="en-US" sz="1000" b="1" kern="0" spc="200" dirty="0">
                <a:solidFill>
                  <a:srgbClr val="60A3F1"/>
                </a:solidFill>
                <a:latin typeface="Calibri" pitchFamily="34" charset="0"/>
                <a:ea typeface="Calibri" pitchFamily="34" charset="-122"/>
                <a:cs typeface="Calibri" pitchFamily="34" charset="-120"/>
              </a:rPr>
              <a:t>CSP / ENCLAVE VENDOR COVERS</a:t>
            </a:r>
            <a:endParaRPr lang="en-US" sz="1000" dirty="0"/>
          </a:p>
        </p:txBody>
      </p:sp>
      <p:sp>
        <p:nvSpPr>
          <p:cNvPr id="10" name="Shape 8"/>
          <p:cNvSpPr/>
          <p:nvPr/>
        </p:nvSpPr>
        <p:spPr>
          <a:xfrm>
            <a:off x="640080" y="2880360"/>
            <a:ext cx="3291840" cy="502920"/>
          </a:xfrm>
          <a:prstGeom prst="rect">
            <a:avLst/>
          </a:prstGeom>
          <a:solidFill>
            <a:srgbClr val="60A3F1"/>
          </a:solidFill>
          <a:ln w="12700">
            <a:solidFill>
              <a:srgbClr val="60A3F1"/>
            </a:solidFill>
            <a:prstDash val="solid"/>
          </a:ln>
        </p:spPr>
        <p:txBody>
          <a:bodyPr/>
          <a:lstStyle/>
          <a:p>
            <a:endParaRPr lang="en-US"/>
          </a:p>
        </p:txBody>
      </p:sp>
      <p:sp>
        <p:nvSpPr>
          <p:cNvPr id="11" name="Shape 9"/>
          <p:cNvSpPr/>
          <p:nvPr/>
        </p:nvSpPr>
        <p:spPr>
          <a:xfrm>
            <a:off x="3931920" y="2880360"/>
            <a:ext cx="2194560" cy="502920"/>
          </a:xfrm>
          <a:prstGeom prst="rect">
            <a:avLst/>
          </a:prstGeom>
          <a:solidFill>
            <a:srgbClr val="1E2D5A"/>
          </a:solidFill>
          <a:ln w="12700">
            <a:solidFill>
              <a:srgbClr val="1E2D5A"/>
            </a:solidFill>
            <a:prstDash val="solid"/>
          </a:ln>
        </p:spPr>
        <p:txBody>
          <a:bodyPr/>
          <a:lstStyle/>
          <a:p>
            <a:endParaRPr lang="en-US"/>
          </a:p>
        </p:txBody>
      </p:sp>
      <p:sp>
        <p:nvSpPr>
          <p:cNvPr id="12" name="Text 10"/>
          <p:cNvSpPr/>
          <p:nvPr/>
        </p:nvSpPr>
        <p:spPr>
          <a:xfrm>
            <a:off x="640080" y="2880360"/>
            <a:ext cx="54864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~60% of controls (physical, infrastructure, FedRAMP-covered)</a:t>
            </a:r>
            <a:endParaRPr lang="en-US" sz="1000" dirty="0"/>
          </a:p>
        </p:txBody>
      </p:sp>
      <p:sp>
        <p:nvSpPr>
          <p:cNvPr id="13" name="Text 11"/>
          <p:cNvSpPr/>
          <p:nvPr/>
        </p:nvSpPr>
        <p:spPr>
          <a:xfrm>
            <a:off x="640080" y="3703320"/>
            <a:ext cx="5486400"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YOU STILL OWN</a:t>
            </a:r>
            <a:endParaRPr lang="en-US" sz="1000" dirty="0"/>
          </a:p>
        </p:txBody>
      </p:sp>
      <p:sp>
        <p:nvSpPr>
          <p:cNvPr id="14" name="Shape 12"/>
          <p:cNvSpPr/>
          <p:nvPr/>
        </p:nvSpPr>
        <p:spPr>
          <a:xfrm>
            <a:off x="640080" y="3977640"/>
            <a:ext cx="2194560" cy="502920"/>
          </a:xfrm>
          <a:prstGeom prst="rect">
            <a:avLst/>
          </a:prstGeom>
          <a:solidFill>
            <a:srgbClr val="EF4444"/>
          </a:solidFill>
          <a:ln w="12700">
            <a:solidFill>
              <a:srgbClr val="EF4444"/>
            </a:solidFill>
            <a:prstDash val="solid"/>
          </a:ln>
        </p:spPr>
        <p:txBody>
          <a:bodyPr/>
          <a:lstStyle/>
          <a:p>
            <a:endParaRPr lang="en-US"/>
          </a:p>
        </p:txBody>
      </p:sp>
      <p:sp>
        <p:nvSpPr>
          <p:cNvPr id="15" name="Shape 13"/>
          <p:cNvSpPr/>
          <p:nvPr/>
        </p:nvSpPr>
        <p:spPr>
          <a:xfrm>
            <a:off x="2834640" y="3977640"/>
            <a:ext cx="3291840" cy="502920"/>
          </a:xfrm>
          <a:prstGeom prst="rect">
            <a:avLst/>
          </a:prstGeom>
          <a:solidFill>
            <a:srgbClr val="1E2D5A"/>
          </a:solidFill>
          <a:ln w="12700">
            <a:solidFill>
              <a:srgbClr val="1E2D5A"/>
            </a:solidFill>
            <a:prstDash val="solid"/>
          </a:ln>
        </p:spPr>
        <p:txBody>
          <a:bodyPr/>
          <a:lstStyle/>
          <a:p>
            <a:endParaRPr lang="en-US"/>
          </a:p>
        </p:txBody>
      </p:sp>
      <p:sp>
        <p:nvSpPr>
          <p:cNvPr id="16" name="Text 14"/>
          <p:cNvSpPr/>
          <p:nvPr/>
        </p:nvSpPr>
        <p:spPr>
          <a:xfrm>
            <a:off x="640080" y="3977640"/>
            <a:ext cx="548640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~40% of controls (your people, policies, workstations, processes)</a:t>
            </a:r>
            <a:endParaRPr lang="en-US" sz="1000" dirty="0"/>
          </a:p>
        </p:txBody>
      </p:sp>
      <p:sp>
        <p:nvSpPr>
          <p:cNvPr id="17" name="Text 15"/>
          <p:cNvSpPr/>
          <p:nvPr/>
        </p:nvSpPr>
        <p:spPr>
          <a:xfrm>
            <a:off x="640080" y="4572000"/>
            <a:ext cx="5486400" cy="640080"/>
          </a:xfrm>
          <a:prstGeom prst="rect">
            <a:avLst/>
          </a:prstGeom>
          <a:noFill/>
          <a:ln/>
        </p:spPr>
        <p:txBody>
          <a:bodyPr wrap="square" lIns="0" tIns="0" rIns="0" bIns="0" rtlCol="0" anchor="ctr"/>
          <a:lstStyle/>
          <a:p>
            <a:pPr marL="0" indent="0">
              <a:buNone/>
            </a:pPr>
            <a:r>
              <a:rPr lang="en-US" sz="1050" i="1" dirty="0">
                <a:solidFill>
                  <a:srgbClr val="E2E8F0"/>
                </a:solidFill>
                <a:latin typeface="Calibri" pitchFamily="34" charset="0"/>
                <a:ea typeface="Calibri" pitchFamily="34" charset="-122"/>
                <a:cs typeface="Calibri" pitchFamily="34" charset="-120"/>
              </a:rPr>
              <a:t>The split is approximate. The exact percentages and which controls fall where are spelled out in each vendor's CRM document. Request it before you buy.</a:t>
            </a:r>
            <a:endParaRPr lang="en-US" sz="1050" dirty="0"/>
          </a:p>
        </p:txBody>
      </p:sp>
      <p:sp>
        <p:nvSpPr>
          <p:cNvPr id="18" name="Text 16"/>
          <p:cNvSpPr/>
          <p:nvPr/>
        </p:nvSpPr>
        <p:spPr>
          <a:xfrm>
            <a:off x="640080" y="5303520"/>
            <a:ext cx="5486400" cy="54864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Sources: Microsoft GCC High CRM (commonly cited splits 55–65% vendor / 35–45% customer); PreVeil CRM; Kiteworks CRM. Numbers vary.</a:t>
            </a:r>
            <a:endParaRPr lang="en-US" sz="900" dirty="0"/>
          </a:p>
        </p:txBody>
      </p:sp>
      <p:sp>
        <p:nvSpPr>
          <p:cNvPr id="19" name="Shape 17"/>
          <p:cNvSpPr/>
          <p:nvPr/>
        </p:nvSpPr>
        <p:spPr>
          <a:xfrm>
            <a:off x="6400800" y="1737360"/>
            <a:ext cx="2839212" cy="256032"/>
          </a:xfrm>
          <a:prstGeom prst="rect">
            <a:avLst/>
          </a:prstGeom>
          <a:solidFill>
            <a:srgbClr val="1E2D5A"/>
          </a:solidFill>
          <a:ln w="9525">
            <a:solidFill>
              <a:srgbClr val="EF4444"/>
            </a:solidFill>
            <a:prstDash val="solid"/>
          </a:ln>
        </p:spPr>
        <p:txBody>
          <a:bodyPr/>
          <a:lstStyle/>
          <a:p>
            <a:endParaRPr lang="en-US"/>
          </a:p>
        </p:txBody>
      </p:sp>
      <p:sp>
        <p:nvSpPr>
          <p:cNvPr id="20" name="Text 18"/>
          <p:cNvSpPr/>
          <p:nvPr/>
        </p:nvSpPr>
        <p:spPr>
          <a:xfrm>
            <a:off x="6400800" y="1737360"/>
            <a:ext cx="2839212" cy="256032"/>
          </a:xfrm>
          <a:prstGeom prst="rect">
            <a:avLst/>
          </a:prstGeom>
          <a:noFill/>
          <a:ln/>
        </p:spPr>
        <p:txBody>
          <a:bodyPr wrap="square" lIns="0" tIns="0" rIns="0" bIns="0" rtlCol="0" anchor="ctr"/>
          <a:lstStyle/>
          <a:p>
            <a:pPr marL="0" indent="0" algn="ctr">
              <a:buNone/>
            </a:pPr>
            <a:r>
              <a:rPr lang="en-US" sz="900" b="1" kern="0" spc="200" dirty="0">
                <a:solidFill>
                  <a:srgbClr val="EF4444"/>
                </a:solidFill>
                <a:latin typeface="Calibri" pitchFamily="34" charset="0"/>
                <a:ea typeface="Calibri" pitchFamily="34" charset="-122"/>
                <a:cs typeface="Calibri" pitchFamily="34" charset="-120"/>
              </a:rPr>
              <a:t>WHAT THE CUSTOMER ALWAYS OWNS</a:t>
            </a:r>
            <a:endParaRPr lang="en-US" sz="900" dirty="0"/>
          </a:p>
        </p:txBody>
      </p:sp>
      <p:sp>
        <p:nvSpPr>
          <p:cNvPr id="21" name="Text 19"/>
          <p:cNvSpPr/>
          <p:nvPr/>
        </p:nvSpPr>
        <p:spPr>
          <a:xfrm>
            <a:off x="6400800" y="210312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Your users and identity</a:t>
            </a:r>
            <a:endParaRPr lang="en-US" sz="1150" dirty="0"/>
          </a:p>
        </p:txBody>
      </p:sp>
      <p:sp>
        <p:nvSpPr>
          <p:cNvPr id="22" name="Text 20"/>
          <p:cNvSpPr/>
          <p:nvPr/>
        </p:nvSpPr>
        <p:spPr>
          <a:xfrm>
            <a:off x="6400800" y="2377440"/>
            <a:ext cx="5303520" cy="5029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Account provisioning, MFA enforcement, privileged access, user training, offboarding.</a:t>
            </a:r>
            <a:endParaRPr lang="en-US" sz="1000" dirty="0"/>
          </a:p>
        </p:txBody>
      </p:sp>
      <p:sp>
        <p:nvSpPr>
          <p:cNvPr id="23" name="Text 21"/>
          <p:cNvSpPr/>
          <p:nvPr/>
        </p:nvSpPr>
        <p:spPr>
          <a:xfrm>
            <a:off x="6400800" y="292608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Your endpoints</a:t>
            </a:r>
            <a:endParaRPr lang="en-US" sz="1150" dirty="0"/>
          </a:p>
        </p:txBody>
      </p:sp>
      <p:sp>
        <p:nvSpPr>
          <p:cNvPr id="24" name="Text 22"/>
          <p:cNvSpPr/>
          <p:nvPr/>
        </p:nvSpPr>
        <p:spPr>
          <a:xfrm>
            <a:off x="6400800" y="3200400"/>
            <a:ext cx="5303520" cy="5029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Workstations, laptops, mobile devices: hardening, patching, EDR, disk encryption, configuration baselines.</a:t>
            </a:r>
            <a:endParaRPr lang="en-US" sz="1000" dirty="0"/>
          </a:p>
        </p:txBody>
      </p:sp>
      <p:sp>
        <p:nvSpPr>
          <p:cNvPr id="25" name="Text 23"/>
          <p:cNvSpPr/>
          <p:nvPr/>
        </p:nvSpPr>
        <p:spPr>
          <a:xfrm>
            <a:off x="6400800" y="374904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Your policies and procedures</a:t>
            </a:r>
            <a:endParaRPr lang="en-US" sz="1150" dirty="0"/>
          </a:p>
        </p:txBody>
      </p:sp>
      <p:sp>
        <p:nvSpPr>
          <p:cNvPr id="26" name="Text 24"/>
          <p:cNvSpPr/>
          <p:nvPr/>
        </p:nvSpPr>
        <p:spPr>
          <a:xfrm>
            <a:off x="6400800" y="4023360"/>
            <a:ext cx="5303520" cy="5029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SSP, POA&amp;M, incident response plan, configuration management plan, media handling, sanitization.</a:t>
            </a:r>
            <a:endParaRPr lang="en-US" sz="1000" dirty="0"/>
          </a:p>
        </p:txBody>
      </p:sp>
      <p:sp>
        <p:nvSpPr>
          <p:cNvPr id="27" name="Text 25"/>
          <p:cNvSpPr/>
          <p:nvPr/>
        </p:nvSpPr>
        <p:spPr>
          <a:xfrm>
            <a:off x="6400800" y="457200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Your data classification &amp; flow</a:t>
            </a:r>
            <a:endParaRPr lang="en-US" sz="1150" dirty="0"/>
          </a:p>
        </p:txBody>
      </p:sp>
      <p:sp>
        <p:nvSpPr>
          <p:cNvPr id="28" name="Text 26"/>
          <p:cNvSpPr/>
          <p:nvPr/>
        </p:nvSpPr>
        <p:spPr>
          <a:xfrm>
            <a:off x="6400800" y="4846320"/>
            <a:ext cx="5303520" cy="5029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Marking CUI, ensuring it stays in the enclave, monitoring exfiltration, controlling shadow IT.</a:t>
            </a:r>
            <a:endParaRPr lang="en-US" sz="1000" dirty="0"/>
          </a:p>
        </p:txBody>
      </p:sp>
      <p:sp>
        <p:nvSpPr>
          <p:cNvPr id="29" name="Text 27"/>
          <p:cNvSpPr/>
          <p:nvPr/>
        </p:nvSpPr>
        <p:spPr>
          <a:xfrm>
            <a:off x="6400800" y="5394960"/>
            <a:ext cx="5303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Your incident response</a:t>
            </a:r>
            <a:endParaRPr lang="en-US" sz="1150" dirty="0"/>
          </a:p>
        </p:txBody>
      </p:sp>
      <p:sp>
        <p:nvSpPr>
          <p:cNvPr id="30" name="Text 28"/>
          <p:cNvSpPr/>
          <p:nvPr/>
        </p:nvSpPr>
        <p:spPr>
          <a:xfrm>
            <a:off x="6400800" y="5669280"/>
            <a:ext cx="5303520" cy="502920"/>
          </a:xfrm>
          <a:prstGeom prst="rect">
            <a:avLst/>
          </a:prstGeom>
          <a:noFill/>
          <a:ln/>
        </p:spPr>
        <p:txBody>
          <a:bodyPr wrap="square" lIns="0" tIns="0" rIns="0" bIns="0" rtlCol="0" anchor="ctr"/>
          <a:lstStyle/>
          <a:p>
            <a:pPr marL="0" indent="0">
              <a:buNone/>
            </a:pPr>
            <a:r>
              <a:rPr lang="en-US" sz="1000" dirty="0">
                <a:solidFill>
                  <a:srgbClr val="E2E8F0"/>
                </a:solidFill>
                <a:latin typeface="Calibri" pitchFamily="34" charset="0"/>
                <a:ea typeface="Calibri" pitchFamily="34" charset="-122"/>
                <a:cs typeface="Calibri" pitchFamily="34" charset="-120"/>
              </a:rPr>
              <a:t>The 72-hour DIBNet reporting clock starts the moment YOU know. Not the moment the vendor tells you.</a:t>
            </a:r>
            <a:endParaRPr lang="en-US" sz="1000" dirty="0"/>
          </a:p>
        </p:txBody>
      </p:sp>
      <p:sp>
        <p:nvSpPr>
          <p:cNvPr id="31" name="Shape 29"/>
          <p:cNvSpPr/>
          <p:nvPr/>
        </p:nvSpPr>
        <p:spPr>
          <a:xfrm>
            <a:off x="457200" y="5943600"/>
            <a:ext cx="11277295" cy="457200"/>
          </a:xfrm>
          <a:prstGeom prst="rect">
            <a:avLst/>
          </a:prstGeom>
          <a:solidFill>
            <a:srgbClr val="131A35"/>
          </a:solidFill>
          <a:ln w="9525">
            <a:solidFill>
              <a:srgbClr val="1E2D5A"/>
            </a:solidFill>
            <a:prstDash val="solid"/>
          </a:ln>
        </p:spPr>
        <p:txBody>
          <a:bodyPr/>
          <a:lstStyle/>
          <a:p>
            <a:endParaRPr lang="en-US"/>
          </a:p>
        </p:txBody>
      </p:sp>
      <p:sp>
        <p:nvSpPr>
          <p:cNvPr id="32" name="Shape 30"/>
          <p:cNvSpPr/>
          <p:nvPr/>
        </p:nvSpPr>
        <p:spPr>
          <a:xfrm>
            <a:off x="457200" y="5943600"/>
            <a:ext cx="73152" cy="457200"/>
          </a:xfrm>
          <a:prstGeom prst="rect">
            <a:avLst/>
          </a:prstGeom>
          <a:solidFill>
            <a:srgbClr val="EF4444"/>
          </a:solidFill>
          <a:ln w="12700">
            <a:solidFill>
              <a:srgbClr val="EF4444"/>
            </a:solidFill>
            <a:prstDash val="solid"/>
          </a:ln>
        </p:spPr>
        <p:txBody>
          <a:bodyPr/>
          <a:lstStyle/>
          <a:p>
            <a:endParaRPr lang="en-US"/>
          </a:p>
        </p:txBody>
      </p:sp>
      <p:sp>
        <p:nvSpPr>
          <p:cNvPr id="33" name="Text 31"/>
          <p:cNvSpPr/>
          <p:nvPr/>
        </p:nvSpPr>
        <p:spPr>
          <a:xfrm>
            <a:off x="685800" y="601675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ASK FOR THE CRM IN WRITING</a:t>
            </a:r>
            <a:endParaRPr lang="en-US" sz="1000" dirty="0"/>
          </a:p>
        </p:txBody>
      </p:sp>
      <p:sp>
        <p:nvSpPr>
          <p:cNvPr id="34" name="Text 32"/>
          <p:cNvSpPr/>
          <p:nvPr/>
        </p:nvSpPr>
        <p:spPr>
          <a:xfrm>
            <a:off x="685800" y="6245352"/>
            <a:ext cx="10911535" cy="109728"/>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If your vendor can't produce a documented Customer Responsibility Matrix, that's a red flag. Without one, neither you nor your assessor can tell where their controls end and yours begin.</a:t>
            </a:r>
            <a:endParaRPr lang="en-US" sz="1050" dirty="0"/>
          </a:p>
        </p:txBody>
      </p:sp>
      <p:sp>
        <p:nvSpPr>
          <p:cNvPr id="35" name="Shape 33"/>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6" name="Text 34"/>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7" name="Text 35"/>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14 / 23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You're Probably the Sub, Not the Prime</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Most SMBs aren't holding the prime contract. They're delivering to one. The flow-down dynamic is reversed, and primes aren't waiting for the DoD's deadlines.</a:t>
            </a:r>
            <a:endParaRPr lang="en-US" sz="1300" dirty="0"/>
          </a:p>
        </p:txBody>
      </p:sp>
      <p:sp>
        <p:nvSpPr>
          <p:cNvPr id="5" name="Shape 3"/>
          <p:cNvSpPr/>
          <p:nvPr/>
        </p:nvSpPr>
        <p:spPr>
          <a:xfrm>
            <a:off x="457200" y="1554480"/>
            <a:ext cx="11277295" cy="7772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73152" cy="777240"/>
          </a:xfrm>
          <a:prstGeom prst="rect">
            <a:avLst/>
          </a:prstGeom>
          <a:solidFill>
            <a:srgbClr val="60A3F1"/>
          </a:solidFill>
          <a:ln w="12700">
            <a:solidFill>
              <a:srgbClr val="60A3F1"/>
            </a:solidFill>
            <a:prstDash val="solid"/>
          </a:ln>
        </p:spPr>
        <p:txBody>
          <a:bodyPr/>
          <a:lstStyle/>
          <a:p>
            <a:endParaRPr lang="en-US"/>
          </a:p>
        </p:txBody>
      </p:sp>
      <p:sp>
        <p:nvSpPr>
          <p:cNvPr id="7" name="Text 5"/>
          <p:cNvSpPr/>
          <p:nvPr/>
        </p:nvSpPr>
        <p:spPr>
          <a:xfrm>
            <a:off x="640080" y="1600200"/>
            <a:ext cx="10911535"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DFARS 252.204-7012 flows down. </a:t>
            </a:r>
            <a:r>
              <a:rPr lang="en-US" sz="1150" dirty="0">
                <a:solidFill>
                  <a:srgbClr val="E2E8F0"/>
                </a:solidFill>
                <a:latin typeface="Calibri" pitchFamily="34" charset="0"/>
                <a:ea typeface="Calibri" pitchFamily="34" charset="-122"/>
                <a:cs typeface="Calibri" pitchFamily="34" charset="-120"/>
              </a:rPr>
              <a:t>If a prime's contract includes 7012 and they pass CUI to you, your subcontract gets 7012 too. Same for DFARS 7019, 7020, and 7021. </a:t>
            </a:r>
            <a:r>
              <a:rPr lang="en-US" sz="1150" b="1" dirty="0">
                <a:solidFill>
                  <a:srgbClr val="FFFFFF"/>
                </a:solidFill>
                <a:latin typeface="Calibri" pitchFamily="34" charset="0"/>
                <a:ea typeface="Calibri" pitchFamily="34" charset="-122"/>
                <a:cs typeface="Calibri" pitchFamily="34" charset="-120"/>
              </a:rPr>
              <a:t>That means primes have a direct financial incentive to verify their subs' readiness, and they are not waiting for Phase 2.</a:t>
            </a:r>
            <a:endParaRPr lang="en-US" sz="1150" dirty="0"/>
          </a:p>
        </p:txBody>
      </p:sp>
      <p:sp>
        <p:nvSpPr>
          <p:cNvPr id="8" name="Shape 6"/>
          <p:cNvSpPr/>
          <p:nvPr/>
        </p:nvSpPr>
        <p:spPr>
          <a:xfrm>
            <a:off x="457200" y="2514600"/>
            <a:ext cx="5440680" cy="3291840"/>
          </a:xfrm>
          <a:prstGeom prst="rect">
            <a:avLst/>
          </a:prstGeom>
          <a:solidFill>
            <a:srgbClr val="131A35"/>
          </a:solidFill>
          <a:ln w="9525">
            <a:solidFill>
              <a:srgbClr val="1E2D5A"/>
            </a:solidFill>
            <a:prstDash val="solid"/>
          </a:ln>
        </p:spPr>
        <p:txBody>
          <a:bodyPr/>
          <a:lstStyle/>
          <a:p>
            <a:endParaRPr lang="en-US"/>
          </a:p>
        </p:txBody>
      </p:sp>
      <p:sp>
        <p:nvSpPr>
          <p:cNvPr id="9" name="Shape 7"/>
          <p:cNvSpPr/>
          <p:nvPr/>
        </p:nvSpPr>
        <p:spPr>
          <a:xfrm>
            <a:off x="640080" y="2697480"/>
            <a:ext cx="3012948" cy="256032"/>
          </a:xfrm>
          <a:prstGeom prst="rect">
            <a:avLst/>
          </a:prstGeom>
          <a:solidFill>
            <a:srgbClr val="1E2D5A"/>
          </a:solidFill>
          <a:ln w="9525">
            <a:solidFill>
              <a:srgbClr val="F59E0B"/>
            </a:solidFill>
            <a:prstDash val="solid"/>
          </a:ln>
        </p:spPr>
        <p:txBody>
          <a:bodyPr/>
          <a:lstStyle/>
          <a:p>
            <a:endParaRPr lang="en-US"/>
          </a:p>
        </p:txBody>
      </p:sp>
      <p:sp>
        <p:nvSpPr>
          <p:cNvPr id="10" name="Text 8"/>
          <p:cNvSpPr/>
          <p:nvPr/>
        </p:nvSpPr>
        <p:spPr>
          <a:xfrm>
            <a:off x="640080" y="2697480"/>
            <a:ext cx="3012948"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WHAT PRIMES ARE DEMANDING TODAY</a:t>
            </a:r>
            <a:endParaRPr lang="en-US" sz="900" dirty="0"/>
          </a:p>
        </p:txBody>
      </p:sp>
      <p:sp>
        <p:nvSpPr>
          <p:cNvPr id="11" name="Shape 9"/>
          <p:cNvSpPr/>
          <p:nvPr/>
        </p:nvSpPr>
        <p:spPr>
          <a:xfrm>
            <a:off x="731520" y="3273552"/>
            <a:ext cx="91440" cy="91440"/>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914400" y="31546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Current SPRS score above a stated threshold (often 88–110) before issuing a PO</a:t>
            </a:r>
            <a:endParaRPr lang="en-US" sz="1050" dirty="0"/>
          </a:p>
        </p:txBody>
      </p:sp>
      <p:sp>
        <p:nvSpPr>
          <p:cNvPr id="13" name="Shape 11"/>
          <p:cNvSpPr/>
          <p:nvPr/>
        </p:nvSpPr>
        <p:spPr>
          <a:xfrm>
            <a:off x="731520" y="3730752"/>
            <a:ext cx="91440" cy="91440"/>
          </a:xfrm>
          <a:prstGeom prst="rect">
            <a:avLst/>
          </a:prstGeom>
          <a:solidFill>
            <a:srgbClr val="F59E0B"/>
          </a:solidFill>
          <a:ln w="12700">
            <a:solidFill>
              <a:srgbClr val="F59E0B"/>
            </a:solidFill>
            <a:prstDash val="solid"/>
          </a:ln>
        </p:spPr>
        <p:txBody>
          <a:bodyPr/>
          <a:lstStyle/>
          <a:p>
            <a:endParaRPr lang="en-US"/>
          </a:p>
        </p:txBody>
      </p:sp>
      <p:sp>
        <p:nvSpPr>
          <p:cNvPr id="14" name="Text 12"/>
          <p:cNvSpPr/>
          <p:nvPr/>
        </p:nvSpPr>
        <p:spPr>
          <a:xfrm>
            <a:off x="914400" y="36118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Written attestation that you implement NIST 800-171 (or proof of CMMC L2 readiness)</a:t>
            </a:r>
            <a:endParaRPr lang="en-US" sz="1050" dirty="0"/>
          </a:p>
        </p:txBody>
      </p:sp>
      <p:sp>
        <p:nvSpPr>
          <p:cNvPr id="15" name="Shape 13"/>
          <p:cNvSpPr/>
          <p:nvPr/>
        </p:nvSpPr>
        <p:spPr>
          <a:xfrm>
            <a:off x="731520" y="4187952"/>
            <a:ext cx="91440" cy="91440"/>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914400" y="40690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Evidence of an SSP and active POA&amp;M</a:t>
            </a:r>
            <a:endParaRPr lang="en-US" sz="1050" dirty="0"/>
          </a:p>
        </p:txBody>
      </p:sp>
      <p:sp>
        <p:nvSpPr>
          <p:cNvPr id="17" name="Shape 15"/>
          <p:cNvSpPr/>
          <p:nvPr/>
        </p:nvSpPr>
        <p:spPr>
          <a:xfrm>
            <a:off x="731520" y="4645152"/>
            <a:ext cx="91440" cy="91440"/>
          </a:xfrm>
          <a:prstGeom prst="rect">
            <a:avLst/>
          </a:prstGeom>
          <a:solidFill>
            <a:srgbClr val="F59E0B"/>
          </a:solidFill>
          <a:ln w="12700">
            <a:solidFill>
              <a:srgbClr val="F59E0B"/>
            </a:solidFill>
            <a:prstDash val="solid"/>
          </a:ln>
        </p:spPr>
        <p:txBody>
          <a:bodyPr/>
          <a:lstStyle/>
          <a:p>
            <a:endParaRPr lang="en-US"/>
          </a:p>
        </p:txBody>
      </p:sp>
      <p:sp>
        <p:nvSpPr>
          <p:cNvPr id="18" name="Text 16"/>
          <p:cNvSpPr/>
          <p:nvPr/>
        </p:nvSpPr>
        <p:spPr>
          <a:xfrm>
            <a:off x="914400" y="45262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Confirmation that any CUI you handle lives in a compliant environment</a:t>
            </a:r>
            <a:endParaRPr lang="en-US" sz="1050" dirty="0"/>
          </a:p>
        </p:txBody>
      </p:sp>
      <p:sp>
        <p:nvSpPr>
          <p:cNvPr id="19" name="Shape 17"/>
          <p:cNvSpPr/>
          <p:nvPr/>
        </p:nvSpPr>
        <p:spPr>
          <a:xfrm>
            <a:off x="731520" y="5102352"/>
            <a:ext cx="91440" cy="91440"/>
          </a:xfrm>
          <a:prstGeom prst="rect">
            <a:avLst/>
          </a:prstGeom>
          <a:solidFill>
            <a:srgbClr val="F59E0B"/>
          </a:solidFill>
          <a:ln w="12700">
            <a:solidFill>
              <a:srgbClr val="F59E0B"/>
            </a:solidFill>
            <a:prstDash val="solid"/>
          </a:ln>
        </p:spPr>
        <p:txBody>
          <a:bodyPr/>
          <a:lstStyle/>
          <a:p>
            <a:endParaRPr lang="en-US"/>
          </a:p>
        </p:txBody>
      </p:sp>
      <p:sp>
        <p:nvSpPr>
          <p:cNvPr id="20" name="Text 18"/>
          <p:cNvSpPr/>
          <p:nvPr/>
        </p:nvSpPr>
        <p:spPr>
          <a:xfrm>
            <a:off x="914400" y="49834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Notification of incidents within hours, not days</a:t>
            </a:r>
            <a:endParaRPr lang="en-US" sz="1050" dirty="0"/>
          </a:p>
        </p:txBody>
      </p:sp>
      <p:sp>
        <p:nvSpPr>
          <p:cNvPr id="21" name="Shape 19"/>
          <p:cNvSpPr/>
          <p:nvPr/>
        </p:nvSpPr>
        <p:spPr>
          <a:xfrm>
            <a:off x="731520" y="5559552"/>
            <a:ext cx="91440" cy="91440"/>
          </a:xfrm>
          <a:prstGeom prst="rect">
            <a:avLst/>
          </a:prstGeom>
          <a:solidFill>
            <a:srgbClr val="F59E0B"/>
          </a:solidFill>
          <a:ln w="12700">
            <a:solidFill>
              <a:srgbClr val="F59E0B"/>
            </a:solidFill>
            <a:prstDash val="solid"/>
          </a:ln>
        </p:spPr>
        <p:txBody>
          <a:bodyPr/>
          <a:lstStyle/>
          <a:p>
            <a:endParaRPr lang="en-US"/>
          </a:p>
        </p:txBody>
      </p:sp>
      <p:sp>
        <p:nvSpPr>
          <p:cNvPr id="22" name="Text 20"/>
          <p:cNvSpPr/>
          <p:nvPr/>
        </p:nvSpPr>
        <p:spPr>
          <a:xfrm>
            <a:off x="914400" y="5440680"/>
            <a:ext cx="4800600" cy="41148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Right-to-audit or right-to-survey clauses on cyber posture</a:t>
            </a:r>
            <a:endParaRPr lang="en-US" sz="1050" dirty="0"/>
          </a:p>
        </p:txBody>
      </p:sp>
      <p:sp>
        <p:nvSpPr>
          <p:cNvPr id="23" name="Shape 21"/>
          <p:cNvSpPr/>
          <p:nvPr/>
        </p:nvSpPr>
        <p:spPr>
          <a:xfrm>
            <a:off x="6309360" y="2514600"/>
            <a:ext cx="5440680" cy="3291840"/>
          </a:xfrm>
          <a:prstGeom prst="rect">
            <a:avLst/>
          </a:prstGeom>
          <a:solidFill>
            <a:srgbClr val="131A35"/>
          </a:solidFill>
          <a:ln w="9525">
            <a:solidFill>
              <a:srgbClr val="1E2D5A"/>
            </a:solidFill>
            <a:prstDash val="solid"/>
          </a:ln>
        </p:spPr>
        <p:txBody>
          <a:bodyPr/>
          <a:lstStyle/>
          <a:p>
            <a:endParaRPr lang="en-US"/>
          </a:p>
        </p:txBody>
      </p:sp>
      <p:sp>
        <p:nvSpPr>
          <p:cNvPr id="24" name="Shape 22"/>
          <p:cNvSpPr/>
          <p:nvPr/>
        </p:nvSpPr>
        <p:spPr>
          <a:xfrm>
            <a:off x="6492240" y="2697480"/>
            <a:ext cx="2318004" cy="256032"/>
          </a:xfrm>
          <a:prstGeom prst="rect">
            <a:avLst/>
          </a:prstGeom>
          <a:solidFill>
            <a:srgbClr val="1E2D5A"/>
          </a:solidFill>
          <a:ln w="9525">
            <a:solidFill>
              <a:srgbClr val="8844DD"/>
            </a:solidFill>
            <a:prstDash val="solid"/>
          </a:ln>
        </p:spPr>
        <p:txBody>
          <a:bodyPr/>
          <a:lstStyle/>
          <a:p>
            <a:endParaRPr lang="en-US"/>
          </a:p>
        </p:txBody>
      </p:sp>
      <p:sp>
        <p:nvSpPr>
          <p:cNvPr id="25" name="Text 23"/>
          <p:cNvSpPr/>
          <p:nvPr/>
        </p:nvSpPr>
        <p:spPr>
          <a:xfrm>
            <a:off x="6492240" y="2697480"/>
            <a:ext cx="2318004" cy="256032"/>
          </a:xfrm>
          <a:prstGeom prst="rect">
            <a:avLst/>
          </a:prstGeom>
          <a:noFill/>
          <a:ln/>
        </p:spPr>
        <p:txBody>
          <a:bodyPr wrap="square" lIns="0" tIns="0" rIns="0" bIns="0" rtlCol="0" anchor="ctr"/>
          <a:lstStyle/>
          <a:p>
            <a:pPr marL="0" indent="0" algn="ctr">
              <a:buNone/>
            </a:pPr>
            <a:r>
              <a:rPr lang="en-US" sz="900" b="1" kern="0" spc="200" dirty="0">
                <a:solidFill>
                  <a:srgbClr val="8844DD"/>
                </a:solidFill>
                <a:latin typeface="Calibri" pitchFamily="34" charset="0"/>
                <a:ea typeface="Calibri" pitchFamily="34" charset="-122"/>
                <a:cs typeface="Calibri" pitchFamily="34" charset="-120"/>
              </a:rPr>
              <a:t>WHAT THIS MEANS FOR YOU</a:t>
            </a:r>
            <a:endParaRPr lang="en-US" sz="900" dirty="0"/>
          </a:p>
        </p:txBody>
      </p:sp>
      <p:sp>
        <p:nvSpPr>
          <p:cNvPr id="26" name="Text 24"/>
          <p:cNvSpPr/>
          <p:nvPr/>
        </p:nvSpPr>
        <p:spPr>
          <a:xfrm>
            <a:off x="6537960" y="3154680"/>
            <a:ext cx="49834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Your timeline isn't Nov 2026; it's the next PO</a:t>
            </a:r>
            <a:endParaRPr lang="en-US" sz="1100" dirty="0"/>
          </a:p>
        </p:txBody>
      </p:sp>
      <p:sp>
        <p:nvSpPr>
          <p:cNvPr id="27" name="Text 25"/>
          <p:cNvSpPr/>
          <p:nvPr/>
        </p:nvSpPr>
        <p:spPr>
          <a:xfrm>
            <a:off x="6537960" y="3410712"/>
            <a:ext cx="4983480" cy="36576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If your prime asks for proof at the next purchase order, that's your real deadline. It may be months earlier than the official phase dates.</a:t>
            </a:r>
            <a:endParaRPr lang="en-US" sz="950" dirty="0"/>
          </a:p>
        </p:txBody>
      </p:sp>
      <p:sp>
        <p:nvSpPr>
          <p:cNvPr id="28" name="Text 26"/>
          <p:cNvSpPr/>
          <p:nvPr/>
        </p:nvSpPr>
        <p:spPr>
          <a:xfrm>
            <a:off x="6537960" y="3813048"/>
            <a:ext cx="49834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Subs share risk for the prime's compliance</a:t>
            </a:r>
            <a:endParaRPr lang="en-US" sz="1100" dirty="0"/>
          </a:p>
        </p:txBody>
      </p:sp>
      <p:sp>
        <p:nvSpPr>
          <p:cNvPr id="29" name="Text 27"/>
          <p:cNvSpPr/>
          <p:nvPr/>
        </p:nvSpPr>
        <p:spPr>
          <a:xfrm>
            <a:off x="6537960" y="4069080"/>
            <a:ext cx="4983480" cy="36576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If you mishandle CUI, your prime's contract is at risk. That's why they screen you, and why they'll switch subs if you can't show readiness.</a:t>
            </a:r>
            <a:endParaRPr lang="en-US" sz="950" dirty="0"/>
          </a:p>
        </p:txBody>
      </p:sp>
      <p:sp>
        <p:nvSpPr>
          <p:cNvPr id="30" name="Text 28"/>
          <p:cNvSpPr/>
          <p:nvPr/>
        </p:nvSpPr>
        <p:spPr>
          <a:xfrm>
            <a:off x="6537960" y="4471416"/>
            <a:ext cx="49834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 reasonable interim posture matters</a:t>
            </a:r>
            <a:endParaRPr lang="en-US" sz="1100" dirty="0"/>
          </a:p>
        </p:txBody>
      </p:sp>
      <p:sp>
        <p:nvSpPr>
          <p:cNvPr id="31" name="Text 29"/>
          <p:cNvSpPr/>
          <p:nvPr/>
        </p:nvSpPr>
        <p:spPr>
          <a:xfrm>
            <a:off x="6537960" y="4727448"/>
            <a:ext cx="4983480" cy="36576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You don't have to be C3PAO-certified tomorrow. But a real SPRS score, a current SSP, and a credible plan get you past most prime gating today.</a:t>
            </a:r>
            <a:endParaRPr lang="en-US" sz="950" dirty="0"/>
          </a:p>
        </p:txBody>
      </p:sp>
      <p:sp>
        <p:nvSpPr>
          <p:cNvPr id="32" name="Text 30"/>
          <p:cNvSpPr/>
          <p:nvPr/>
        </p:nvSpPr>
        <p:spPr>
          <a:xfrm>
            <a:off x="6537960" y="5129784"/>
            <a:ext cx="498348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Get your CAGE code and SPRS access early</a:t>
            </a:r>
            <a:endParaRPr lang="en-US" sz="1100" dirty="0"/>
          </a:p>
        </p:txBody>
      </p:sp>
      <p:sp>
        <p:nvSpPr>
          <p:cNvPr id="33" name="Text 31"/>
          <p:cNvSpPr/>
          <p:nvPr/>
        </p:nvSpPr>
        <p:spPr>
          <a:xfrm>
            <a:off x="6537960" y="5385816"/>
            <a:ext cx="4983480" cy="365760"/>
          </a:xfrm>
          <a:prstGeom prst="rect">
            <a:avLst/>
          </a:prstGeom>
          <a:noFill/>
          <a:ln/>
        </p:spPr>
        <p:txBody>
          <a:bodyPr wrap="square" lIns="0" tIns="0" rIns="0" bIns="0" rtlCol="0" anchor="ctr"/>
          <a:lstStyle/>
          <a:p>
            <a:pPr marL="0" indent="0">
              <a:buNone/>
            </a:pPr>
            <a:r>
              <a:rPr lang="en-US" sz="950" dirty="0">
                <a:solidFill>
                  <a:srgbClr val="E2E8F0"/>
                </a:solidFill>
                <a:latin typeface="Calibri" pitchFamily="34" charset="0"/>
                <a:ea typeface="Calibri" pitchFamily="34" charset="-122"/>
                <a:cs typeface="Calibri" pitchFamily="34" charset="-120"/>
              </a:rPr>
              <a:t>You need an active CAGE code in SAM.gov and SPRS access through PIEE before you can submit anything. Set this up before you need it.</a:t>
            </a:r>
            <a:endParaRPr lang="en-US" sz="950" dirty="0"/>
          </a:p>
        </p:txBody>
      </p:sp>
      <p:sp>
        <p:nvSpPr>
          <p:cNvPr id="34" name="Shape 32"/>
          <p:cNvSpPr/>
          <p:nvPr/>
        </p:nvSpPr>
        <p:spPr>
          <a:xfrm>
            <a:off x="457200" y="5943600"/>
            <a:ext cx="11277295" cy="457200"/>
          </a:xfrm>
          <a:prstGeom prst="rect">
            <a:avLst/>
          </a:prstGeom>
          <a:solidFill>
            <a:srgbClr val="131A35"/>
          </a:solidFill>
          <a:ln w="9525">
            <a:solidFill>
              <a:srgbClr val="1E2D5A"/>
            </a:solidFill>
            <a:prstDash val="solid"/>
          </a:ln>
        </p:spPr>
        <p:txBody>
          <a:bodyPr/>
          <a:lstStyle/>
          <a:p>
            <a:endParaRPr lang="en-US"/>
          </a:p>
        </p:txBody>
      </p:sp>
      <p:sp>
        <p:nvSpPr>
          <p:cNvPr id="35" name="Shape 33"/>
          <p:cNvSpPr/>
          <p:nvPr/>
        </p:nvSpPr>
        <p:spPr>
          <a:xfrm>
            <a:off x="457200" y="5943600"/>
            <a:ext cx="73152" cy="457200"/>
          </a:xfrm>
          <a:prstGeom prst="rect">
            <a:avLst/>
          </a:prstGeom>
          <a:solidFill>
            <a:srgbClr val="EF4444"/>
          </a:solidFill>
          <a:ln w="12700">
            <a:solidFill>
              <a:srgbClr val="EF4444"/>
            </a:solidFill>
            <a:prstDash val="solid"/>
          </a:ln>
        </p:spPr>
        <p:txBody>
          <a:bodyPr/>
          <a:lstStyle/>
          <a:p>
            <a:endParaRPr lang="en-US"/>
          </a:p>
        </p:txBody>
      </p:sp>
      <p:sp>
        <p:nvSpPr>
          <p:cNvPr id="36" name="Text 34"/>
          <p:cNvSpPr/>
          <p:nvPr/>
        </p:nvSpPr>
        <p:spPr>
          <a:xfrm>
            <a:off x="685800" y="601675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THE PHASE DATES ARE NOT YOUR DEADLINE</a:t>
            </a:r>
            <a:endParaRPr lang="en-US" sz="1000" dirty="0"/>
          </a:p>
        </p:txBody>
      </p:sp>
      <p:sp>
        <p:nvSpPr>
          <p:cNvPr id="37" name="Text 35"/>
          <p:cNvSpPr/>
          <p:nvPr/>
        </p:nvSpPr>
        <p:spPr>
          <a:xfrm>
            <a:off x="685800" y="6245352"/>
            <a:ext cx="10911535" cy="109728"/>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Primes have been gating subs on cyber posture since 2024. If you're a sub waiting for Nov 2026 to start, you've likely already lost contracts you never knew you were considered for.</a:t>
            </a:r>
            <a:endParaRPr lang="en-US" sz="1050" dirty="0"/>
          </a:p>
        </p:txBody>
      </p:sp>
      <p:sp>
        <p:nvSpPr>
          <p:cNvPr id="38" name="Shape 36"/>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9" name="Text 37"/>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0" name="Text 38"/>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15 / 23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POA&amp;M and the 180-Day Clock</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Limited Plan of Action &amp; Milestones (POA&amp;M) are allowed at Level 2, but the rules are strict and the clock is short.</a:t>
            </a:r>
            <a:endParaRPr lang="en-US" sz="1300" dirty="0"/>
          </a:p>
        </p:txBody>
      </p:sp>
      <p:sp>
        <p:nvSpPr>
          <p:cNvPr id="5" name="Shape 3"/>
          <p:cNvSpPr/>
          <p:nvPr/>
        </p:nvSpPr>
        <p:spPr>
          <a:xfrm>
            <a:off x="457200" y="1554480"/>
            <a:ext cx="11277295" cy="7772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73152" cy="777240"/>
          </a:xfrm>
          <a:prstGeom prst="rect">
            <a:avLst/>
          </a:prstGeom>
          <a:solidFill>
            <a:srgbClr val="8844DD"/>
          </a:solidFill>
          <a:ln w="12700">
            <a:solidFill>
              <a:srgbClr val="8844DD"/>
            </a:solidFill>
            <a:prstDash val="solid"/>
          </a:ln>
        </p:spPr>
        <p:txBody>
          <a:bodyPr/>
          <a:lstStyle/>
          <a:p>
            <a:endParaRPr lang="en-US"/>
          </a:p>
        </p:txBody>
      </p:sp>
      <p:sp>
        <p:nvSpPr>
          <p:cNvPr id="7" name="Text 5"/>
          <p:cNvSpPr/>
          <p:nvPr/>
        </p:nvSpPr>
        <p:spPr>
          <a:xfrm>
            <a:off x="640080" y="1600200"/>
            <a:ext cx="10911535"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 POA&amp;M is a written, tracked plan for closing each control gap. </a:t>
            </a:r>
            <a:r>
              <a:rPr lang="en-US" sz="1150" dirty="0">
                <a:solidFill>
                  <a:srgbClr val="E2E8F0"/>
                </a:solidFill>
                <a:latin typeface="Calibri" pitchFamily="34" charset="0"/>
                <a:ea typeface="Calibri" pitchFamily="34" charset="-122"/>
                <a:cs typeface="Calibri" pitchFamily="34" charset="-120"/>
              </a:rPr>
              <a:t>If you score below 110 but above 88 and meet other conditions, you can receive a </a:t>
            </a:r>
            <a:r>
              <a:rPr lang="en-US" sz="1150" b="1" dirty="0">
                <a:solidFill>
                  <a:srgbClr val="60A3F1"/>
                </a:solidFill>
                <a:latin typeface="Calibri" pitchFamily="34" charset="0"/>
                <a:ea typeface="Calibri" pitchFamily="34" charset="-122"/>
                <a:cs typeface="Calibri" pitchFamily="34" charset="-120"/>
              </a:rPr>
              <a:t>conditional CMMC Level 2 certification </a:t>
            </a:r>
            <a:r>
              <a:rPr lang="en-US" sz="1150" dirty="0">
                <a:solidFill>
                  <a:srgbClr val="E2E8F0"/>
                </a:solidFill>
                <a:latin typeface="Calibri" pitchFamily="34" charset="0"/>
                <a:ea typeface="Calibri" pitchFamily="34" charset="-122"/>
                <a:cs typeface="Calibri" pitchFamily="34" charset="-120"/>
              </a:rPr>
              <a:t>and then have 180 days to close the gaps. Pass that re-check and you receive a Final Status. Fail it and you lose certification.</a:t>
            </a:r>
            <a:endParaRPr lang="en-US" sz="1150" dirty="0"/>
          </a:p>
        </p:txBody>
      </p:sp>
      <p:sp>
        <p:nvSpPr>
          <p:cNvPr id="8" name="Shape 6"/>
          <p:cNvSpPr/>
          <p:nvPr/>
        </p:nvSpPr>
        <p:spPr>
          <a:xfrm>
            <a:off x="457200" y="2514600"/>
            <a:ext cx="3637178" cy="3383280"/>
          </a:xfrm>
          <a:prstGeom prst="rect">
            <a:avLst/>
          </a:prstGeom>
          <a:solidFill>
            <a:srgbClr val="131A35"/>
          </a:solidFill>
          <a:ln w="9525">
            <a:solidFill>
              <a:srgbClr val="1E2D5A"/>
            </a:solidFill>
            <a:prstDash val="solid"/>
          </a:ln>
        </p:spPr>
        <p:txBody>
          <a:bodyPr/>
          <a:lstStyle/>
          <a:p>
            <a:endParaRPr lang="en-US"/>
          </a:p>
        </p:txBody>
      </p:sp>
      <p:sp>
        <p:nvSpPr>
          <p:cNvPr id="9" name="Shape 7"/>
          <p:cNvSpPr/>
          <p:nvPr/>
        </p:nvSpPr>
        <p:spPr>
          <a:xfrm>
            <a:off x="457200" y="2514600"/>
            <a:ext cx="73152" cy="3383280"/>
          </a:xfrm>
          <a:prstGeom prst="rect">
            <a:avLst/>
          </a:prstGeom>
          <a:solidFill>
            <a:srgbClr val="10B981"/>
          </a:solidFill>
          <a:ln w="12700">
            <a:solidFill>
              <a:srgbClr val="10B981"/>
            </a:solidFill>
            <a:prstDash val="solid"/>
          </a:ln>
        </p:spPr>
        <p:txBody>
          <a:bodyPr/>
          <a:lstStyle/>
          <a:p>
            <a:endParaRPr lang="en-US"/>
          </a:p>
        </p:txBody>
      </p:sp>
      <p:sp>
        <p:nvSpPr>
          <p:cNvPr id="10" name="Shape 8"/>
          <p:cNvSpPr/>
          <p:nvPr/>
        </p:nvSpPr>
        <p:spPr>
          <a:xfrm>
            <a:off x="685800" y="2697480"/>
            <a:ext cx="1709928" cy="256032"/>
          </a:xfrm>
          <a:prstGeom prst="rect">
            <a:avLst/>
          </a:prstGeom>
          <a:solidFill>
            <a:srgbClr val="1E2D5A"/>
          </a:solidFill>
          <a:ln w="9525">
            <a:solidFill>
              <a:srgbClr val="10B981"/>
            </a:solidFill>
            <a:prstDash val="solid"/>
          </a:ln>
        </p:spPr>
        <p:txBody>
          <a:bodyPr/>
          <a:lstStyle/>
          <a:p>
            <a:endParaRPr lang="en-US"/>
          </a:p>
        </p:txBody>
      </p:sp>
      <p:sp>
        <p:nvSpPr>
          <p:cNvPr id="11" name="Text 9"/>
          <p:cNvSpPr/>
          <p:nvPr/>
        </p:nvSpPr>
        <p:spPr>
          <a:xfrm>
            <a:off x="685800" y="2697480"/>
            <a:ext cx="1709928" cy="256032"/>
          </a:xfrm>
          <a:prstGeom prst="rect">
            <a:avLst/>
          </a:prstGeom>
          <a:noFill/>
          <a:ln/>
        </p:spPr>
        <p:txBody>
          <a:bodyPr wrap="square" lIns="0" tIns="0" rIns="0" bIns="0" rtlCol="0" anchor="ctr"/>
          <a:lstStyle/>
          <a:p>
            <a:pPr marL="0" indent="0" algn="ctr">
              <a:buNone/>
            </a:pPr>
            <a:r>
              <a:rPr lang="en-US" sz="900" b="1" kern="0" spc="200" dirty="0">
                <a:solidFill>
                  <a:srgbClr val="10B981"/>
                </a:solidFill>
                <a:latin typeface="Calibri" pitchFamily="34" charset="0"/>
                <a:ea typeface="Calibri" pitchFamily="34" charset="-122"/>
                <a:cs typeface="Calibri" pitchFamily="34" charset="-120"/>
              </a:rPr>
              <a:t>ALLOWED ON POA&amp;M</a:t>
            </a:r>
            <a:endParaRPr lang="en-US" sz="900" dirty="0"/>
          </a:p>
        </p:txBody>
      </p:sp>
      <p:sp>
        <p:nvSpPr>
          <p:cNvPr id="12" name="Text 10"/>
          <p:cNvSpPr/>
          <p:nvPr/>
        </p:nvSpPr>
        <p:spPr>
          <a:xfrm>
            <a:off x="685800" y="3017520"/>
            <a:ext cx="317997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CAN have a 180-day POA&amp;M</a:t>
            </a:r>
            <a:endParaRPr lang="en-US" sz="1300" dirty="0"/>
          </a:p>
        </p:txBody>
      </p:sp>
      <p:sp>
        <p:nvSpPr>
          <p:cNvPr id="13" name="Shape 11"/>
          <p:cNvSpPr/>
          <p:nvPr/>
        </p:nvSpPr>
        <p:spPr>
          <a:xfrm>
            <a:off x="731520" y="3593592"/>
            <a:ext cx="91440" cy="91440"/>
          </a:xfrm>
          <a:prstGeom prst="rect">
            <a:avLst/>
          </a:prstGeom>
          <a:solidFill>
            <a:srgbClr val="10B981"/>
          </a:solidFill>
          <a:ln w="12700">
            <a:solidFill>
              <a:srgbClr val="10B981"/>
            </a:solidFill>
            <a:prstDash val="solid"/>
          </a:ln>
        </p:spPr>
        <p:txBody>
          <a:bodyPr/>
          <a:lstStyle/>
          <a:p>
            <a:endParaRPr lang="en-US"/>
          </a:p>
        </p:txBody>
      </p:sp>
      <p:sp>
        <p:nvSpPr>
          <p:cNvPr id="14" name="Text 12"/>
          <p:cNvSpPr/>
          <p:nvPr/>
        </p:nvSpPr>
        <p:spPr>
          <a:xfrm>
            <a:off x="914400" y="347472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1-point controls only, and only if your SPRS score is at least 88/110.</a:t>
            </a:r>
            <a:endParaRPr lang="en-US" sz="1000" dirty="0"/>
          </a:p>
        </p:txBody>
      </p:sp>
      <p:sp>
        <p:nvSpPr>
          <p:cNvPr id="15" name="Shape 13"/>
          <p:cNvSpPr/>
          <p:nvPr/>
        </p:nvSpPr>
        <p:spPr>
          <a:xfrm>
            <a:off x="731520" y="4416552"/>
            <a:ext cx="91440" cy="91440"/>
          </a:xfrm>
          <a:prstGeom prst="rect">
            <a:avLst/>
          </a:prstGeom>
          <a:solidFill>
            <a:srgbClr val="10B981"/>
          </a:solidFill>
          <a:ln w="12700">
            <a:solidFill>
              <a:srgbClr val="10B981"/>
            </a:solidFill>
            <a:prstDash val="solid"/>
          </a:ln>
        </p:spPr>
        <p:txBody>
          <a:bodyPr/>
          <a:lstStyle/>
          <a:p>
            <a:endParaRPr lang="en-US"/>
          </a:p>
        </p:txBody>
      </p:sp>
      <p:sp>
        <p:nvSpPr>
          <p:cNvPr id="16" name="Text 14"/>
          <p:cNvSpPr/>
          <p:nvPr/>
        </p:nvSpPr>
        <p:spPr>
          <a:xfrm>
            <a:off x="914400" y="429768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Documentation gaps in lower-risk areas (e.g. minor policy updates, supplemental training records).</a:t>
            </a:r>
            <a:endParaRPr lang="en-US" sz="1000" dirty="0"/>
          </a:p>
        </p:txBody>
      </p:sp>
      <p:sp>
        <p:nvSpPr>
          <p:cNvPr id="17" name="Shape 15"/>
          <p:cNvSpPr/>
          <p:nvPr/>
        </p:nvSpPr>
        <p:spPr>
          <a:xfrm>
            <a:off x="731520" y="5239512"/>
            <a:ext cx="91440" cy="91440"/>
          </a:xfrm>
          <a:prstGeom prst="rect">
            <a:avLst/>
          </a:prstGeom>
          <a:solidFill>
            <a:srgbClr val="10B981"/>
          </a:solidFill>
          <a:ln w="12700">
            <a:solidFill>
              <a:srgbClr val="10B981"/>
            </a:solidFill>
            <a:prstDash val="solid"/>
          </a:ln>
        </p:spPr>
        <p:txBody>
          <a:bodyPr/>
          <a:lstStyle/>
          <a:p>
            <a:endParaRPr lang="en-US"/>
          </a:p>
        </p:txBody>
      </p:sp>
      <p:sp>
        <p:nvSpPr>
          <p:cNvPr id="18" name="Text 16"/>
          <p:cNvSpPr/>
          <p:nvPr/>
        </p:nvSpPr>
        <p:spPr>
          <a:xfrm>
            <a:off x="914400" y="512064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Configuration items pending vendor releases (with reasonable justification).</a:t>
            </a:r>
            <a:endParaRPr lang="en-US" sz="1000" dirty="0"/>
          </a:p>
        </p:txBody>
      </p:sp>
      <p:sp>
        <p:nvSpPr>
          <p:cNvPr id="19" name="Shape 17"/>
          <p:cNvSpPr/>
          <p:nvPr/>
        </p:nvSpPr>
        <p:spPr>
          <a:xfrm>
            <a:off x="4277258" y="2514600"/>
            <a:ext cx="3637178" cy="3383280"/>
          </a:xfrm>
          <a:prstGeom prst="rect">
            <a:avLst/>
          </a:prstGeom>
          <a:solidFill>
            <a:srgbClr val="131A35"/>
          </a:solidFill>
          <a:ln w="9525">
            <a:solidFill>
              <a:srgbClr val="1E2D5A"/>
            </a:solidFill>
            <a:prstDash val="solid"/>
          </a:ln>
        </p:spPr>
        <p:txBody>
          <a:bodyPr/>
          <a:lstStyle/>
          <a:p>
            <a:endParaRPr lang="en-US"/>
          </a:p>
        </p:txBody>
      </p:sp>
      <p:sp>
        <p:nvSpPr>
          <p:cNvPr id="20" name="Shape 18"/>
          <p:cNvSpPr/>
          <p:nvPr/>
        </p:nvSpPr>
        <p:spPr>
          <a:xfrm>
            <a:off x="4277258" y="2514600"/>
            <a:ext cx="73152" cy="3383280"/>
          </a:xfrm>
          <a:prstGeom prst="rect">
            <a:avLst/>
          </a:prstGeom>
          <a:solidFill>
            <a:srgbClr val="EF4444"/>
          </a:solidFill>
          <a:ln w="12700">
            <a:solidFill>
              <a:srgbClr val="EF4444"/>
            </a:solidFill>
            <a:prstDash val="solid"/>
          </a:ln>
        </p:spPr>
        <p:txBody>
          <a:bodyPr/>
          <a:lstStyle/>
          <a:p>
            <a:endParaRPr lang="en-US"/>
          </a:p>
        </p:txBody>
      </p:sp>
      <p:sp>
        <p:nvSpPr>
          <p:cNvPr id="21" name="Shape 19"/>
          <p:cNvSpPr/>
          <p:nvPr/>
        </p:nvSpPr>
        <p:spPr>
          <a:xfrm>
            <a:off x="4505858" y="2697480"/>
            <a:ext cx="1536192" cy="256032"/>
          </a:xfrm>
          <a:prstGeom prst="rect">
            <a:avLst/>
          </a:prstGeom>
          <a:solidFill>
            <a:srgbClr val="1E2D5A"/>
          </a:solidFill>
          <a:ln w="9525">
            <a:solidFill>
              <a:srgbClr val="EF4444"/>
            </a:solidFill>
            <a:prstDash val="solid"/>
          </a:ln>
        </p:spPr>
        <p:txBody>
          <a:bodyPr/>
          <a:lstStyle/>
          <a:p>
            <a:endParaRPr lang="en-US"/>
          </a:p>
        </p:txBody>
      </p:sp>
      <p:sp>
        <p:nvSpPr>
          <p:cNvPr id="22" name="Text 20"/>
          <p:cNvSpPr/>
          <p:nvPr/>
        </p:nvSpPr>
        <p:spPr>
          <a:xfrm>
            <a:off x="4505858" y="2697480"/>
            <a:ext cx="1536192" cy="256032"/>
          </a:xfrm>
          <a:prstGeom prst="rect">
            <a:avLst/>
          </a:prstGeom>
          <a:noFill/>
          <a:ln/>
        </p:spPr>
        <p:txBody>
          <a:bodyPr wrap="square" lIns="0" tIns="0" rIns="0" bIns="0" rtlCol="0" anchor="ctr"/>
          <a:lstStyle/>
          <a:p>
            <a:pPr marL="0" indent="0" algn="ctr">
              <a:buNone/>
            </a:pPr>
            <a:r>
              <a:rPr lang="en-US" sz="900" b="1" kern="0" spc="200" dirty="0">
                <a:solidFill>
                  <a:srgbClr val="EF4444"/>
                </a:solidFill>
                <a:latin typeface="Calibri" pitchFamily="34" charset="0"/>
                <a:ea typeface="Calibri" pitchFamily="34" charset="-122"/>
                <a:cs typeface="Calibri" pitchFamily="34" charset="-120"/>
              </a:rPr>
              <a:t>NEVER ON POA&amp;M</a:t>
            </a:r>
            <a:endParaRPr lang="en-US" sz="900" dirty="0"/>
          </a:p>
        </p:txBody>
      </p:sp>
      <p:sp>
        <p:nvSpPr>
          <p:cNvPr id="23" name="Text 21"/>
          <p:cNvSpPr/>
          <p:nvPr/>
        </p:nvSpPr>
        <p:spPr>
          <a:xfrm>
            <a:off x="4505858" y="3017520"/>
            <a:ext cx="317997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CANNOT have a POA&amp;M</a:t>
            </a:r>
            <a:endParaRPr lang="en-US" sz="1300" dirty="0"/>
          </a:p>
        </p:txBody>
      </p:sp>
      <p:sp>
        <p:nvSpPr>
          <p:cNvPr id="24" name="Shape 22"/>
          <p:cNvSpPr/>
          <p:nvPr/>
        </p:nvSpPr>
        <p:spPr>
          <a:xfrm>
            <a:off x="4551578" y="3593592"/>
            <a:ext cx="91440" cy="91440"/>
          </a:xfrm>
          <a:prstGeom prst="rect">
            <a:avLst/>
          </a:prstGeom>
          <a:solidFill>
            <a:srgbClr val="EF4444"/>
          </a:solidFill>
          <a:ln w="12700">
            <a:solidFill>
              <a:srgbClr val="EF4444"/>
            </a:solidFill>
            <a:prstDash val="solid"/>
          </a:ln>
        </p:spPr>
        <p:txBody>
          <a:bodyPr/>
          <a:lstStyle/>
          <a:p>
            <a:endParaRPr lang="en-US"/>
          </a:p>
        </p:txBody>
      </p:sp>
      <p:sp>
        <p:nvSpPr>
          <p:cNvPr id="25" name="Text 23"/>
          <p:cNvSpPr/>
          <p:nvPr/>
        </p:nvSpPr>
        <p:spPr>
          <a:xfrm>
            <a:off x="4734458" y="347472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Any 3-point control. Any 5-point control. No exceptions.</a:t>
            </a:r>
            <a:endParaRPr lang="en-US" sz="1000" dirty="0"/>
          </a:p>
        </p:txBody>
      </p:sp>
      <p:sp>
        <p:nvSpPr>
          <p:cNvPr id="26" name="Shape 24"/>
          <p:cNvSpPr/>
          <p:nvPr/>
        </p:nvSpPr>
        <p:spPr>
          <a:xfrm>
            <a:off x="4551578" y="4416552"/>
            <a:ext cx="91440" cy="91440"/>
          </a:xfrm>
          <a:prstGeom prst="rect">
            <a:avLst/>
          </a:prstGeom>
          <a:solidFill>
            <a:srgbClr val="EF4444"/>
          </a:solidFill>
          <a:ln w="12700">
            <a:solidFill>
              <a:srgbClr val="EF4444"/>
            </a:solidFill>
            <a:prstDash val="solid"/>
          </a:ln>
        </p:spPr>
        <p:txBody>
          <a:bodyPr/>
          <a:lstStyle/>
          <a:p>
            <a:endParaRPr lang="en-US"/>
          </a:p>
        </p:txBody>
      </p:sp>
      <p:sp>
        <p:nvSpPr>
          <p:cNvPr id="27" name="Text 25"/>
          <p:cNvSpPr/>
          <p:nvPr/>
        </p:nvSpPr>
        <p:spPr>
          <a:xfrm>
            <a:off x="4734458" y="429768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MFA on privileged accounts. FIPS-validated encryption for CUI at rest and in transit.</a:t>
            </a:r>
            <a:endParaRPr lang="en-US" sz="1000" dirty="0"/>
          </a:p>
        </p:txBody>
      </p:sp>
      <p:sp>
        <p:nvSpPr>
          <p:cNvPr id="28" name="Shape 26"/>
          <p:cNvSpPr/>
          <p:nvPr/>
        </p:nvSpPr>
        <p:spPr>
          <a:xfrm>
            <a:off x="4551578" y="5239512"/>
            <a:ext cx="91440" cy="91440"/>
          </a:xfrm>
          <a:prstGeom prst="rect">
            <a:avLst/>
          </a:prstGeom>
          <a:solidFill>
            <a:srgbClr val="EF4444"/>
          </a:solidFill>
          <a:ln w="12700">
            <a:solidFill>
              <a:srgbClr val="EF4444"/>
            </a:solidFill>
            <a:prstDash val="solid"/>
          </a:ln>
        </p:spPr>
        <p:txBody>
          <a:bodyPr/>
          <a:lstStyle/>
          <a:p>
            <a:endParaRPr lang="en-US"/>
          </a:p>
        </p:txBody>
      </p:sp>
      <p:sp>
        <p:nvSpPr>
          <p:cNvPr id="29" name="Text 27"/>
          <p:cNvSpPr/>
          <p:nvPr/>
        </p:nvSpPr>
        <p:spPr>
          <a:xfrm>
            <a:off x="4734458" y="512064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Audit logging, incident response, system monitoring, and external boundary protection.</a:t>
            </a:r>
            <a:endParaRPr lang="en-US" sz="1000" dirty="0"/>
          </a:p>
        </p:txBody>
      </p:sp>
      <p:sp>
        <p:nvSpPr>
          <p:cNvPr id="30" name="Shape 28"/>
          <p:cNvSpPr/>
          <p:nvPr/>
        </p:nvSpPr>
        <p:spPr>
          <a:xfrm>
            <a:off x="8097317" y="2514600"/>
            <a:ext cx="3637178" cy="3383280"/>
          </a:xfrm>
          <a:prstGeom prst="rect">
            <a:avLst/>
          </a:prstGeom>
          <a:solidFill>
            <a:srgbClr val="131A35"/>
          </a:solidFill>
          <a:ln w="9525">
            <a:solidFill>
              <a:srgbClr val="1E2D5A"/>
            </a:solidFill>
            <a:prstDash val="solid"/>
          </a:ln>
        </p:spPr>
        <p:txBody>
          <a:bodyPr/>
          <a:lstStyle/>
          <a:p>
            <a:endParaRPr lang="en-US"/>
          </a:p>
        </p:txBody>
      </p:sp>
      <p:sp>
        <p:nvSpPr>
          <p:cNvPr id="31" name="Shape 29"/>
          <p:cNvSpPr/>
          <p:nvPr/>
        </p:nvSpPr>
        <p:spPr>
          <a:xfrm>
            <a:off x="8097317" y="2514600"/>
            <a:ext cx="73152" cy="3383280"/>
          </a:xfrm>
          <a:prstGeom prst="rect">
            <a:avLst/>
          </a:prstGeom>
          <a:solidFill>
            <a:srgbClr val="F59E0B"/>
          </a:solidFill>
          <a:ln w="12700">
            <a:solidFill>
              <a:srgbClr val="F59E0B"/>
            </a:solidFill>
            <a:prstDash val="solid"/>
          </a:ln>
        </p:spPr>
        <p:txBody>
          <a:bodyPr/>
          <a:lstStyle/>
          <a:p>
            <a:endParaRPr lang="en-US"/>
          </a:p>
        </p:txBody>
      </p:sp>
      <p:sp>
        <p:nvSpPr>
          <p:cNvPr id="32" name="Shape 30"/>
          <p:cNvSpPr/>
          <p:nvPr/>
        </p:nvSpPr>
        <p:spPr>
          <a:xfrm>
            <a:off x="8325917" y="2697480"/>
            <a:ext cx="1449324" cy="256032"/>
          </a:xfrm>
          <a:prstGeom prst="rect">
            <a:avLst/>
          </a:prstGeom>
          <a:solidFill>
            <a:srgbClr val="1E2D5A"/>
          </a:solidFill>
          <a:ln w="9525">
            <a:solidFill>
              <a:srgbClr val="F59E0B"/>
            </a:solidFill>
            <a:prstDash val="solid"/>
          </a:ln>
        </p:spPr>
        <p:txBody>
          <a:bodyPr/>
          <a:lstStyle/>
          <a:p>
            <a:endParaRPr lang="en-US"/>
          </a:p>
        </p:txBody>
      </p:sp>
      <p:sp>
        <p:nvSpPr>
          <p:cNvPr id="33" name="Text 31"/>
          <p:cNvSpPr/>
          <p:nvPr/>
        </p:nvSpPr>
        <p:spPr>
          <a:xfrm>
            <a:off x="8325917" y="2697480"/>
            <a:ext cx="1449324"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WHAT IT MEANS</a:t>
            </a:r>
            <a:endParaRPr lang="en-US" sz="900" dirty="0"/>
          </a:p>
        </p:txBody>
      </p:sp>
      <p:sp>
        <p:nvSpPr>
          <p:cNvPr id="34" name="Text 32"/>
          <p:cNvSpPr/>
          <p:nvPr/>
        </p:nvSpPr>
        <p:spPr>
          <a:xfrm>
            <a:off x="8325917" y="3017520"/>
            <a:ext cx="3179978"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Practical implications for you</a:t>
            </a:r>
            <a:endParaRPr lang="en-US" sz="1300" dirty="0"/>
          </a:p>
        </p:txBody>
      </p:sp>
      <p:sp>
        <p:nvSpPr>
          <p:cNvPr id="35" name="Shape 33"/>
          <p:cNvSpPr/>
          <p:nvPr/>
        </p:nvSpPr>
        <p:spPr>
          <a:xfrm>
            <a:off x="8371637" y="3593592"/>
            <a:ext cx="91440" cy="91440"/>
          </a:xfrm>
          <a:prstGeom prst="rect">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8554517" y="347472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Plan to close every 3- and 5-point gap BEFORE your assessment. They cannot be deferred.</a:t>
            </a:r>
            <a:endParaRPr lang="en-US" sz="1000" dirty="0"/>
          </a:p>
        </p:txBody>
      </p:sp>
      <p:sp>
        <p:nvSpPr>
          <p:cNvPr id="37" name="Shape 35"/>
          <p:cNvSpPr/>
          <p:nvPr/>
        </p:nvSpPr>
        <p:spPr>
          <a:xfrm>
            <a:off x="8371637" y="4416552"/>
            <a:ext cx="91440" cy="91440"/>
          </a:xfrm>
          <a:prstGeom prst="rect">
            <a:avLst/>
          </a:prstGeom>
          <a:solidFill>
            <a:srgbClr val="F59E0B"/>
          </a:solidFill>
          <a:ln w="12700">
            <a:solidFill>
              <a:srgbClr val="F59E0B"/>
            </a:solidFill>
            <a:prstDash val="solid"/>
          </a:ln>
        </p:spPr>
        <p:txBody>
          <a:bodyPr/>
          <a:lstStyle/>
          <a:p>
            <a:endParaRPr lang="en-US"/>
          </a:p>
        </p:txBody>
      </p:sp>
      <p:sp>
        <p:nvSpPr>
          <p:cNvPr id="38" name="Text 36"/>
          <p:cNvSpPr/>
          <p:nvPr/>
        </p:nvSpPr>
        <p:spPr>
          <a:xfrm>
            <a:off x="8554517" y="429768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180 days is short. Schedule remediation BEFORE the C3PAO arrives, not after.</a:t>
            </a:r>
            <a:endParaRPr lang="en-US" sz="1000" dirty="0"/>
          </a:p>
        </p:txBody>
      </p:sp>
      <p:sp>
        <p:nvSpPr>
          <p:cNvPr id="39" name="Shape 37"/>
          <p:cNvSpPr/>
          <p:nvPr/>
        </p:nvSpPr>
        <p:spPr>
          <a:xfrm>
            <a:off x="8371637" y="5239512"/>
            <a:ext cx="91440" cy="91440"/>
          </a:xfrm>
          <a:prstGeom prst="rect">
            <a:avLst/>
          </a:prstGeom>
          <a:solidFill>
            <a:srgbClr val="F59E0B"/>
          </a:solidFill>
          <a:ln w="12700">
            <a:solidFill>
              <a:srgbClr val="F59E0B"/>
            </a:solidFill>
            <a:prstDash val="solid"/>
          </a:ln>
        </p:spPr>
        <p:txBody>
          <a:bodyPr/>
          <a:lstStyle/>
          <a:p>
            <a:endParaRPr lang="en-US"/>
          </a:p>
        </p:txBody>
      </p:sp>
      <p:sp>
        <p:nvSpPr>
          <p:cNvPr id="40" name="Text 38"/>
          <p:cNvSpPr/>
          <p:nvPr/>
        </p:nvSpPr>
        <p:spPr>
          <a:xfrm>
            <a:off x="8554517" y="5120640"/>
            <a:ext cx="2997098" cy="777240"/>
          </a:xfrm>
          <a:prstGeom prst="rect">
            <a:avLst/>
          </a:prstGeom>
          <a:noFill/>
          <a:ln/>
        </p:spPr>
        <p:txBody>
          <a:bodyPr wrap="square" lIns="0" tIns="0" rIns="0" bIns="0" rtlCol="0" anchor="t"/>
          <a:lstStyle/>
          <a:p>
            <a:pPr marL="0" indent="0">
              <a:buNone/>
            </a:pPr>
            <a:r>
              <a:rPr lang="en-US" sz="1000" dirty="0">
                <a:solidFill>
                  <a:srgbClr val="E2E8F0"/>
                </a:solidFill>
                <a:latin typeface="Calibri" pitchFamily="34" charset="0"/>
                <a:ea typeface="Calibri" pitchFamily="34" charset="-122"/>
                <a:cs typeface="Calibri" pitchFamily="34" charset="-120"/>
              </a:rPr>
              <a:t>Reassessment costs are real. Failing the 180-day re-check forces a new assessment cycle.</a:t>
            </a:r>
            <a:endParaRPr lang="en-US" sz="1000" dirty="0"/>
          </a:p>
        </p:txBody>
      </p:sp>
      <p:sp>
        <p:nvSpPr>
          <p:cNvPr id="41" name="Shape 39"/>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42" name="Text 40"/>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43" name="Text 41"/>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16 / 23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This Actually Costs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Industry-published ranges for an SMB pursuing CMMC Level 2. Treat as planning guidance. Your number depends on scoping, maturity, and choice of enclave.</a:t>
            </a:r>
            <a:endParaRPr lang="en-US" sz="1300" dirty="0"/>
          </a:p>
        </p:txBody>
      </p:sp>
      <p:sp>
        <p:nvSpPr>
          <p:cNvPr id="5" name="Text 3"/>
          <p:cNvSpPr/>
          <p:nvPr/>
        </p:nvSpPr>
        <p:spPr>
          <a:xfrm>
            <a:off x="457200" y="1463040"/>
            <a:ext cx="11277295" cy="45720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Sources: DoD 32 CFR cost analysis; March 2026 Cyber AB Town Hall data; industry C3PAO pricing surveys (Huntress, Secureframe, IBSS, Hartman) compiled May 2026. Figures shown are typical ranges for organizations under 50 employees, except where noted.</a:t>
            </a:r>
            <a:endParaRPr lang="en-US" sz="900" dirty="0"/>
          </a:p>
        </p:txBody>
      </p:sp>
      <p:sp>
        <p:nvSpPr>
          <p:cNvPr id="6" name="Shape 4"/>
          <p:cNvSpPr/>
          <p:nvPr/>
        </p:nvSpPr>
        <p:spPr>
          <a:xfrm>
            <a:off x="457200" y="2011680"/>
            <a:ext cx="11277295" cy="411480"/>
          </a:xfrm>
          <a:prstGeom prst="rect">
            <a:avLst/>
          </a:prstGeom>
          <a:solidFill>
            <a:srgbClr val="1E2D5A"/>
          </a:solidFill>
          <a:ln w="9525">
            <a:solidFill>
              <a:srgbClr val="1E2D5A"/>
            </a:solidFill>
            <a:prstDash val="solid"/>
          </a:ln>
        </p:spPr>
        <p:txBody>
          <a:bodyPr/>
          <a:lstStyle/>
          <a:p>
            <a:endParaRPr lang="en-US"/>
          </a:p>
        </p:txBody>
      </p:sp>
      <p:sp>
        <p:nvSpPr>
          <p:cNvPr id="7" name="Text 5"/>
          <p:cNvSpPr/>
          <p:nvPr/>
        </p:nvSpPr>
        <p:spPr>
          <a:xfrm>
            <a:off x="594360" y="2011680"/>
            <a:ext cx="3200400" cy="411480"/>
          </a:xfrm>
          <a:prstGeom prst="rect">
            <a:avLst/>
          </a:prstGeom>
          <a:noFill/>
          <a:ln/>
        </p:spPr>
        <p:txBody>
          <a:bodyPr wrap="square" lIns="0" tIns="0" rIns="0" bIns="0" rtlCol="0" anchor="ctr"/>
          <a:lstStyle/>
          <a:p>
            <a:pPr marL="0" indent="0">
              <a:buNone/>
            </a:pPr>
            <a:r>
              <a:rPr lang="en-US" sz="950" b="1" kern="0" spc="200" dirty="0">
                <a:solidFill>
                  <a:srgbClr val="F59E0B"/>
                </a:solidFill>
                <a:latin typeface="Calibri" pitchFamily="34" charset="0"/>
                <a:ea typeface="Calibri" pitchFamily="34" charset="-122"/>
                <a:cs typeface="Calibri" pitchFamily="34" charset="-120"/>
              </a:rPr>
              <a:t>COST CATEGORY</a:t>
            </a:r>
            <a:endParaRPr lang="en-US" sz="950" dirty="0"/>
          </a:p>
        </p:txBody>
      </p:sp>
      <p:sp>
        <p:nvSpPr>
          <p:cNvPr id="8" name="Text 6"/>
          <p:cNvSpPr/>
          <p:nvPr/>
        </p:nvSpPr>
        <p:spPr>
          <a:xfrm>
            <a:off x="3977640" y="2011680"/>
            <a:ext cx="1097280" cy="411480"/>
          </a:xfrm>
          <a:prstGeom prst="rect">
            <a:avLst/>
          </a:prstGeom>
          <a:noFill/>
          <a:ln/>
        </p:spPr>
        <p:txBody>
          <a:bodyPr wrap="square" lIns="0" tIns="0" rIns="0" bIns="0" rtlCol="0" anchor="ctr"/>
          <a:lstStyle/>
          <a:p>
            <a:pPr marL="0" indent="0">
              <a:buNone/>
            </a:pPr>
            <a:r>
              <a:rPr lang="en-US" sz="950" b="1" kern="0" spc="200" dirty="0">
                <a:solidFill>
                  <a:srgbClr val="F59E0B"/>
                </a:solidFill>
                <a:latin typeface="Calibri" pitchFamily="34" charset="0"/>
                <a:ea typeface="Calibri" pitchFamily="34" charset="-122"/>
                <a:cs typeface="Calibri" pitchFamily="34" charset="-120"/>
              </a:rPr>
              <a:t>LOW</a:t>
            </a:r>
            <a:endParaRPr lang="en-US" sz="950" dirty="0"/>
          </a:p>
        </p:txBody>
      </p:sp>
      <p:sp>
        <p:nvSpPr>
          <p:cNvPr id="9" name="Text 7"/>
          <p:cNvSpPr/>
          <p:nvPr/>
        </p:nvSpPr>
        <p:spPr>
          <a:xfrm>
            <a:off x="5257800" y="2011680"/>
            <a:ext cx="1097280" cy="411480"/>
          </a:xfrm>
          <a:prstGeom prst="rect">
            <a:avLst/>
          </a:prstGeom>
          <a:noFill/>
          <a:ln/>
        </p:spPr>
        <p:txBody>
          <a:bodyPr wrap="square" lIns="0" tIns="0" rIns="0" bIns="0" rtlCol="0" anchor="ctr"/>
          <a:lstStyle/>
          <a:p>
            <a:pPr marL="0" indent="0">
              <a:buNone/>
            </a:pPr>
            <a:r>
              <a:rPr lang="en-US" sz="950" b="1" kern="0" spc="200" dirty="0">
                <a:solidFill>
                  <a:srgbClr val="F59E0B"/>
                </a:solidFill>
                <a:latin typeface="Calibri" pitchFamily="34" charset="0"/>
                <a:ea typeface="Calibri" pitchFamily="34" charset="-122"/>
                <a:cs typeface="Calibri" pitchFamily="34" charset="-120"/>
              </a:rPr>
              <a:t>TYPICAL</a:t>
            </a:r>
            <a:endParaRPr lang="en-US" sz="950" dirty="0"/>
          </a:p>
        </p:txBody>
      </p:sp>
      <p:sp>
        <p:nvSpPr>
          <p:cNvPr id="10" name="Text 8"/>
          <p:cNvSpPr/>
          <p:nvPr/>
        </p:nvSpPr>
        <p:spPr>
          <a:xfrm>
            <a:off x="6537960" y="2011680"/>
            <a:ext cx="1097280" cy="411480"/>
          </a:xfrm>
          <a:prstGeom prst="rect">
            <a:avLst/>
          </a:prstGeom>
          <a:noFill/>
          <a:ln/>
        </p:spPr>
        <p:txBody>
          <a:bodyPr wrap="square" lIns="0" tIns="0" rIns="0" bIns="0" rtlCol="0" anchor="ctr"/>
          <a:lstStyle/>
          <a:p>
            <a:pPr marL="0" indent="0">
              <a:buNone/>
            </a:pPr>
            <a:r>
              <a:rPr lang="en-US" sz="950" b="1" kern="0" spc="200" dirty="0">
                <a:solidFill>
                  <a:srgbClr val="F59E0B"/>
                </a:solidFill>
                <a:latin typeface="Calibri" pitchFamily="34" charset="0"/>
                <a:ea typeface="Calibri" pitchFamily="34" charset="-122"/>
                <a:cs typeface="Calibri" pitchFamily="34" charset="-120"/>
              </a:rPr>
              <a:t>HIGH</a:t>
            </a:r>
            <a:endParaRPr lang="en-US" sz="950" dirty="0"/>
          </a:p>
        </p:txBody>
      </p:sp>
      <p:sp>
        <p:nvSpPr>
          <p:cNvPr id="11" name="Text 9"/>
          <p:cNvSpPr/>
          <p:nvPr/>
        </p:nvSpPr>
        <p:spPr>
          <a:xfrm>
            <a:off x="7818120" y="2011680"/>
            <a:ext cx="3840480" cy="411480"/>
          </a:xfrm>
          <a:prstGeom prst="rect">
            <a:avLst/>
          </a:prstGeom>
          <a:noFill/>
          <a:ln/>
        </p:spPr>
        <p:txBody>
          <a:bodyPr wrap="square" lIns="0" tIns="0" rIns="0" bIns="0" rtlCol="0" anchor="ctr"/>
          <a:lstStyle/>
          <a:p>
            <a:pPr marL="0" indent="0">
              <a:buNone/>
            </a:pPr>
            <a:r>
              <a:rPr lang="en-US" sz="950" b="1" kern="0" spc="200" dirty="0">
                <a:solidFill>
                  <a:srgbClr val="F59E0B"/>
                </a:solidFill>
                <a:latin typeface="Calibri" pitchFamily="34" charset="0"/>
                <a:ea typeface="Calibri" pitchFamily="34" charset="-122"/>
                <a:cs typeface="Calibri" pitchFamily="34" charset="-120"/>
              </a:rPr>
              <a:t>NOTES</a:t>
            </a:r>
            <a:endParaRPr lang="en-US" sz="950" dirty="0"/>
          </a:p>
        </p:txBody>
      </p:sp>
      <p:sp>
        <p:nvSpPr>
          <p:cNvPr id="12" name="Shape 10"/>
          <p:cNvSpPr/>
          <p:nvPr/>
        </p:nvSpPr>
        <p:spPr>
          <a:xfrm>
            <a:off x="457200" y="2423160"/>
            <a:ext cx="11277295" cy="457200"/>
          </a:xfrm>
          <a:prstGeom prst="rect">
            <a:avLst/>
          </a:prstGeom>
          <a:solidFill>
            <a:srgbClr val="131A35"/>
          </a:solidFill>
          <a:ln w="9525">
            <a:solidFill>
              <a:srgbClr val="1E2D5A"/>
            </a:solidFill>
            <a:prstDash val="solid"/>
          </a:ln>
        </p:spPr>
        <p:txBody>
          <a:bodyPr/>
          <a:lstStyle/>
          <a:p>
            <a:endParaRPr lang="en-US"/>
          </a:p>
        </p:txBody>
      </p:sp>
      <p:sp>
        <p:nvSpPr>
          <p:cNvPr id="13" name="Text 11"/>
          <p:cNvSpPr/>
          <p:nvPr/>
        </p:nvSpPr>
        <p:spPr>
          <a:xfrm>
            <a:off x="594360" y="24231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Gap assessment (RPO / CMMC RP / Qualified Consultant)</a:t>
            </a:r>
            <a:endParaRPr lang="en-US" sz="1000" dirty="0"/>
          </a:p>
        </p:txBody>
      </p:sp>
      <p:sp>
        <p:nvSpPr>
          <p:cNvPr id="14" name="Text 12"/>
          <p:cNvSpPr/>
          <p:nvPr/>
        </p:nvSpPr>
        <p:spPr>
          <a:xfrm>
            <a:off x="3977640" y="24231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$5K</a:t>
            </a:r>
            <a:endParaRPr lang="en-US" sz="1050" dirty="0"/>
          </a:p>
        </p:txBody>
      </p:sp>
      <p:sp>
        <p:nvSpPr>
          <p:cNvPr id="15" name="Text 13"/>
          <p:cNvSpPr/>
          <p:nvPr/>
        </p:nvSpPr>
        <p:spPr>
          <a:xfrm>
            <a:off x="5257800" y="24231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$8–12K</a:t>
            </a:r>
            <a:endParaRPr lang="en-US" sz="1050" dirty="0"/>
          </a:p>
        </p:txBody>
      </p:sp>
      <p:sp>
        <p:nvSpPr>
          <p:cNvPr id="16" name="Text 14"/>
          <p:cNvSpPr/>
          <p:nvPr/>
        </p:nvSpPr>
        <p:spPr>
          <a:xfrm>
            <a:off x="6537960" y="24231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$20K+</a:t>
            </a:r>
            <a:endParaRPr lang="en-US" sz="1050" dirty="0"/>
          </a:p>
        </p:txBody>
      </p:sp>
      <p:sp>
        <p:nvSpPr>
          <p:cNvPr id="17" name="Text 15"/>
          <p:cNvSpPr/>
          <p:nvPr/>
        </p:nvSpPr>
        <p:spPr>
          <a:xfrm>
            <a:off x="7818120" y="24231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SMB &lt;50 employees. Higher with multi-site or complex environments.</a:t>
            </a:r>
            <a:endParaRPr lang="en-US" sz="950" dirty="0"/>
          </a:p>
        </p:txBody>
      </p:sp>
      <p:sp>
        <p:nvSpPr>
          <p:cNvPr id="18" name="Shape 16"/>
          <p:cNvSpPr/>
          <p:nvPr/>
        </p:nvSpPr>
        <p:spPr>
          <a:xfrm>
            <a:off x="457200" y="2880360"/>
            <a:ext cx="11277295" cy="457200"/>
          </a:xfrm>
          <a:prstGeom prst="rect">
            <a:avLst/>
          </a:prstGeom>
          <a:solidFill>
            <a:srgbClr val="0C1020"/>
          </a:solidFill>
          <a:ln w="9525">
            <a:solidFill>
              <a:srgbClr val="1E2D5A"/>
            </a:solidFill>
            <a:prstDash val="solid"/>
          </a:ln>
        </p:spPr>
        <p:txBody>
          <a:bodyPr/>
          <a:lstStyle/>
          <a:p>
            <a:endParaRPr lang="en-US"/>
          </a:p>
        </p:txBody>
      </p:sp>
      <p:sp>
        <p:nvSpPr>
          <p:cNvPr id="19" name="Text 17"/>
          <p:cNvSpPr/>
          <p:nvPr/>
        </p:nvSpPr>
        <p:spPr>
          <a:xfrm>
            <a:off x="594360" y="28803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SSP + POA&amp;M + policy package</a:t>
            </a:r>
            <a:endParaRPr lang="en-US" sz="1000" dirty="0"/>
          </a:p>
        </p:txBody>
      </p:sp>
      <p:sp>
        <p:nvSpPr>
          <p:cNvPr id="20" name="Text 18"/>
          <p:cNvSpPr/>
          <p:nvPr/>
        </p:nvSpPr>
        <p:spPr>
          <a:xfrm>
            <a:off x="3977640" y="28803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$12K</a:t>
            </a:r>
            <a:endParaRPr lang="en-US" sz="1050" dirty="0"/>
          </a:p>
        </p:txBody>
      </p:sp>
      <p:sp>
        <p:nvSpPr>
          <p:cNvPr id="21" name="Text 19"/>
          <p:cNvSpPr/>
          <p:nvPr/>
        </p:nvSpPr>
        <p:spPr>
          <a:xfrm>
            <a:off x="5257800" y="28803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$15–30K</a:t>
            </a:r>
            <a:endParaRPr lang="en-US" sz="1050" dirty="0"/>
          </a:p>
        </p:txBody>
      </p:sp>
      <p:sp>
        <p:nvSpPr>
          <p:cNvPr id="22" name="Text 20"/>
          <p:cNvSpPr/>
          <p:nvPr/>
        </p:nvSpPr>
        <p:spPr>
          <a:xfrm>
            <a:off x="6537960" y="28803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$60K</a:t>
            </a:r>
            <a:endParaRPr lang="en-US" sz="1050" dirty="0"/>
          </a:p>
        </p:txBody>
      </p:sp>
      <p:sp>
        <p:nvSpPr>
          <p:cNvPr id="23" name="Text 21"/>
          <p:cNvSpPr/>
          <p:nvPr/>
        </p:nvSpPr>
        <p:spPr>
          <a:xfrm>
            <a:off x="7818120" y="28803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Quality varies hugely. Templates alone are not assessment-grade.</a:t>
            </a:r>
            <a:endParaRPr lang="en-US" sz="950" dirty="0"/>
          </a:p>
        </p:txBody>
      </p:sp>
      <p:sp>
        <p:nvSpPr>
          <p:cNvPr id="24" name="Shape 22"/>
          <p:cNvSpPr/>
          <p:nvPr/>
        </p:nvSpPr>
        <p:spPr>
          <a:xfrm>
            <a:off x="457200" y="3337560"/>
            <a:ext cx="11277295" cy="457200"/>
          </a:xfrm>
          <a:prstGeom prst="rect">
            <a:avLst/>
          </a:prstGeom>
          <a:solidFill>
            <a:srgbClr val="131A35"/>
          </a:solidFill>
          <a:ln w="9525">
            <a:solidFill>
              <a:srgbClr val="1E2D5A"/>
            </a:solidFill>
            <a:prstDash val="solid"/>
          </a:ln>
        </p:spPr>
        <p:txBody>
          <a:bodyPr/>
          <a:lstStyle/>
          <a:p>
            <a:endParaRPr lang="en-US"/>
          </a:p>
        </p:txBody>
      </p:sp>
      <p:sp>
        <p:nvSpPr>
          <p:cNvPr id="25" name="Text 23"/>
          <p:cNvSpPr/>
          <p:nvPr/>
        </p:nvSpPr>
        <p:spPr>
          <a:xfrm>
            <a:off x="594360" y="33375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Remediation &amp; implementation</a:t>
            </a:r>
            <a:endParaRPr lang="en-US" sz="1000" dirty="0"/>
          </a:p>
        </p:txBody>
      </p:sp>
      <p:sp>
        <p:nvSpPr>
          <p:cNvPr id="26" name="Text 24"/>
          <p:cNvSpPr/>
          <p:nvPr/>
        </p:nvSpPr>
        <p:spPr>
          <a:xfrm>
            <a:off x="3977640" y="33375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$20K</a:t>
            </a:r>
            <a:endParaRPr lang="en-US" sz="1050" dirty="0"/>
          </a:p>
        </p:txBody>
      </p:sp>
      <p:sp>
        <p:nvSpPr>
          <p:cNvPr id="27" name="Text 25"/>
          <p:cNvSpPr/>
          <p:nvPr/>
        </p:nvSpPr>
        <p:spPr>
          <a:xfrm>
            <a:off x="5257800" y="33375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$50–100K</a:t>
            </a:r>
            <a:endParaRPr lang="en-US" sz="1050" dirty="0"/>
          </a:p>
        </p:txBody>
      </p:sp>
      <p:sp>
        <p:nvSpPr>
          <p:cNvPr id="28" name="Text 26"/>
          <p:cNvSpPr/>
          <p:nvPr/>
        </p:nvSpPr>
        <p:spPr>
          <a:xfrm>
            <a:off x="6537960" y="33375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$250K+</a:t>
            </a:r>
            <a:endParaRPr lang="en-US" sz="1050" dirty="0"/>
          </a:p>
        </p:txBody>
      </p:sp>
      <p:sp>
        <p:nvSpPr>
          <p:cNvPr id="29" name="Text 27"/>
          <p:cNvSpPr/>
          <p:nvPr/>
        </p:nvSpPr>
        <p:spPr>
          <a:xfrm>
            <a:off x="7818120" y="33375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Single biggest variable. Driven by current maturity and scope.</a:t>
            </a:r>
            <a:endParaRPr lang="en-US" sz="950" dirty="0"/>
          </a:p>
        </p:txBody>
      </p:sp>
      <p:sp>
        <p:nvSpPr>
          <p:cNvPr id="30" name="Shape 28"/>
          <p:cNvSpPr/>
          <p:nvPr/>
        </p:nvSpPr>
        <p:spPr>
          <a:xfrm>
            <a:off x="457200" y="3794760"/>
            <a:ext cx="11277295" cy="457200"/>
          </a:xfrm>
          <a:prstGeom prst="rect">
            <a:avLst/>
          </a:prstGeom>
          <a:solidFill>
            <a:srgbClr val="0C1020"/>
          </a:solidFill>
          <a:ln w="9525">
            <a:solidFill>
              <a:srgbClr val="1E2D5A"/>
            </a:solidFill>
            <a:prstDash val="solid"/>
          </a:ln>
        </p:spPr>
        <p:txBody>
          <a:bodyPr/>
          <a:lstStyle/>
          <a:p>
            <a:endParaRPr lang="en-US"/>
          </a:p>
        </p:txBody>
      </p:sp>
      <p:sp>
        <p:nvSpPr>
          <p:cNvPr id="31" name="Text 29"/>
          <p:cNvSpPr/>
          <p:nvPr/>
        </p:nvSpPr>
        <p:spPr>
          <a:xfrm>
            <a:off x="594360" y="37947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Enclave / cloud platform (annual)</a:t>
            </a:r>
            <a:endParaRPr lang="en-US" sz="1000" dirty="0"/>
          </a:p>
        </p:txBody>
      </p:sp>
      <p:sp>
        <p:nvSpPr>
          <p:cNvPr id="32" name="Text 30"/>
          <p:cNvSpPr/>
          <p:nvPr/>
        </p:nvSpPr>
        <p:spPr>
          <a:xfrm>
            <a:off x="3977640" y="37947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$10K</a:t>
            </a:r>
            <a:endParaRPr lang="en-US" sz="1050" dirty="0"/>
          </a:p>
        </p:txBody>
      </p:sp>
      <p:sp>
        <p:nvSpPr>
          <p:cNvPr id="33" name="Text 31"/>
          <p:cNvSpPr/>
          <p:nvPr/>
        </p:nvSpPr>
        <p:spPr>
          <a:xfrm>
            <a:off x="5257800" y="37947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$25–50K</a:t>
            </a:r>
            <a:endParaRPr lang="en-US" sz="1050" dirty="0"/>
          </a:p>
        </p:txBody>
      </p:sp>
      <p:sp>
        <p:nvSpPr>
          <p:cNvPr id="34" name="Text 32"/>
          <p:cNvSpPr/>
          <p:nvPr/>
        </p:nvSpPr>
        <p:spPr>
          <a:xfrm>
            <a:off x="6537960" y="37947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$80K+</a:t>
            </a:r>
            <a:endParaRPr lang="en-US" sz="1050" dirty="0"/>
          </a:p>
        </p:txBody>
      </p:sp>
      <p:sp>
        <p:nvSpPr>
          <p:cNvPr id="35" name="Text 33"/>
          <p:cNvSpPr/>
          <p:nvPr/>
        </p:nvSpPr>
        <p:spPr>
          <a:xfrm>
            <a:off x="7818120" y="37947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GCC High typical; managed CUI enclaves often cheaper for very small teams.</a:t>
            </a:r>
            <a:endParaRPr lang="en-US" sz="950" dirty="0"/>
          </a:p>
        </p:txBody>
      </p:sp>
      <p:sp>
        <p:nvSpPr>
          <p:cNvPr id="36" name="Shape 34"/>
          <p:cNvSpPr/>
          <p:nvPr/>
        </p:nvSpPr>
        <p:spPr>
          <a:xfrm>
            <a:off x="457200" y="4251960"/>
            <a:ext cx="11277295" cy="457200"/>
          </a:xfrm>
          <a:prstGeom prst="rect">
            <a:avLst/>
          </a:prstGeom>
          <a:solidFill>
            <a:srgbClr val="131A35"/>
          </a:solidFill>
          <a:ln w="9525">
            <a:solidFill>
              <a:srgbClr val="1E2D5A"/>
            </a:solidFill>
            <a:prstDash val="solid"/>
          </a:ln>
        </p:spPr>
        <p:txBody>
          <a:bodyPr/>
          <a:lstStyle/>
          <a:p>
            <a:endParaRPr lang="en-US"/>
          </a:p>
        </p:txBody>
      </p:sp>
      <p:sp>
        <p:nvSpPr>
          <p:cNvPr id="37" name="Text 35"/>
          <p:cNvSpPr/>
          <p:nvPr/>
        </p:nvSpPr>
        <p:spPr>
          <a:xfrm>
            <a:off x="594360" y="42519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Required tools (MFA, EDR, SIEM, etc.)</a:t>
            </a:r>
            <a:endParaRPr lang="en-US" sz="1000" dirty="0"/>
          </a:p>
        </p:txBody>
      </p:sp>
      <p:sp>
        <p:nvSpPr>
          <p:cNvPr id="38" name="Text 36"/>
          <p:cNvSpPr/>
          <p:nvPr/>
        </p:nvSpPr>
        <p:spPr>
          <a:xfrm>
            <a:off x="3977640" y="42519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$10K</a:t>
            </a:r>
            <a:endParaRPr lang="en-US" sz="1050" dirty="0"/>
          </a:p>
        </p:txBody>
      </p:sp>
      <p:sp>
        <p:nvSpPr>
          <p:cNvPr id="39" name="Text 37"/>
          <p:cNvSpPr/>
          <p:nvPr/>
        </p:nvSpPr>
        <p:spPr>
          <a:xfrm>
            <a:off x="5257800" y="42519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$20–35K</a:t>
            </a:r>
            <a:endParaRPr lang="en-US" sz="1050" dirty="0"/>
          </a:p>
        </p:txBody>
      </p:sp>
      <p:sp>
        <p:nvSpPr>
          <p:cNvPr id="40" name="Text 38"/>
          <p:cNvSpPr/>
          <p:nvPr/>
        </p:nvSpPr>
        <p:spPr>
          <a:xfrm>
            <a:off x="6537960" y="42519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$50K+</a:t>
            </a:r>
            <a:endParaRPr lang="en-US" sz="1050" dirty="0"/>
          </a:p>
        </p:txBody>
      </p:sp>
      <p:sp>
        <p:nvSpPr>
          <p:cNvPr id="41" name="Text 39"/>
          <p:cNvSpPr/>
          <p:nvPr/>
        </p:nvSpPr>
        <p:spPr>
          <a:xfrm>
            <a:off x="7818120" y="42519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Per year. Some bundled with enclave; verify before double-buying.</a:t>
            </a:r>
            <a:endParaRPr lang="en-US" sz="950" dirty="0"/>
          </a:p>
        </p:txBody>
      </p:sp>
      <p:sp>
        <p:nvSpPr>
          <p:cNvPr id="42" name="Shape 40"/>
          <p:cNvSpPr/>
          <p:nvPr/>
        </p:nvSpPr>
        <p:spPr>
          <a:xfrm>
            <a:off x="457200" y="4709160"/>
            <a:ext cx="11277295" cy="457200"/>
          </a:xfrm>
          <a:prstGeom prst="rect">
            <a:avLst/>
          </a:prstGeom>
          <a:solidFill>
            <a:srgbClr val="0C1020"/>
          </a:solidFill>
          <a:ln w="9525">
            <a:solidFill>
              <a:srgbClr val="1E2D5A"/>
            </a:solidFill>
            <a:prstDash val="solid"/>
          </a:ln>
        </p:spPr>
        <p:txBody>
          <a:bodyPr/>
          <a:lstStyle/>
          <a:p>
            <a:endParaRPr lang="en-US"/>
          </a:p>
        </p:txBody>
      </p:sp>
      <p:sp>
        <p:nvSpPr>
          <p:cNvPr id="43" name="Text 41"/>
          <p:cNvSpPr/>
          <p:nvPr/>
        </p:nvSpPr>
        <p:spPr>
          <a:xfrm>
            <a:off x="594360" y="47091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C3PAO assessment fee (SMB &lt;50)</a:t>
            </a:r>
            <a:endParaRPr lang="en-US" sz="1000" dirty="0"/>
          </a:p>
        </p:txBody>
      </p:sp>
      <p:sp>
        <p:nvSpPr>
          <p:cNvPr id="44" name="Text 42"/>
          <p:cNvSpPr/>
          <p:nvPr/>
        </p:nvSpPr>
        <p:spPr>
          <a:xfrm>
            <a:off x="3977640" y="47091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$30K</a:t>
            </a:r>
            <a:endParaRPr lang="en-US" sz="1050" dirty="0"/>
          </a:p>
        </p:txBody>
      </p:sp>
      <p:sp>
        <p:nvSpPr>
          <p:cNvPr id="45" name="Text 43"/>
          <p:cNvSpPr/>
          <p:nvPr/>
        </p:nvSpPr>
        <p:spPr>
          <a:xfrm>
            <a:off x="5257800" y="47091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$50–75K</a:t>
            </a:r>
            <a:endParaRPr lang="en-US" sz="1050" dirty="0"/>
          </a:p>
        </p:txBody>
      </p:sp>
      <p:sp>
        <p:nvSpPr>
          <p:cNvPr id="46" name="Text 44"/>
          <p:cNvSpPr/>
          <p:nvPr/>
        </p:nvSpPr>
        <p:spPr>
          <a:xfrm>
            <a:off x="6537960" y="47091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$100K</a:t>
            </a:r>
            <a:endParaRPr lang="en-US" sz="1050" dirty="0"/>
          </a:p>
        </p:txBody>
      </p:sp>
      <p:sp>
        <p:nvSpPr>
          <p:cNvPr id="47" name="Text 45"/>
          <p:cNvSpPr/>
          <p:nvPr/>
        </p:nvSpPr>
        <p:spPr>
          <a:xfrm>
            <a:off x="7818120" y="47091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Industry consensus May 2026. DoD estimate was $105–118K (high end).</a:t>
            </a:r>
            <a:endParaRPr lang="en-US" sz="950" dirty="0"/>
          </a:p>
        </p:txBody>
      </p:sp>
      <p:sp>
        <p:nvSpPr>
          <p:cNvPr id="48" name="Shape 46"/>
          <p:cNvSpPr/>
          <p:nvPr/>
        </p:nvSpPr>
        <p:spPr>
          <a:xfrm>
            <a:off x="457200" y="5166360"/>
            <a:ext cx="11277295" cy="457200"/>
          </a:xfrm>
          <a:prstGeom prst="rect">
            <a:avLst/>
          </a:prstGeom>
          <a:solidFill>
            <a:srgbClr val="131A35"/>
          </a:solidFill>
          <a:ln w="9525">
            <a:solidFill>
              <a:srgbClr val="1E2D5A"/>
            </a:solidFill>
            <a:prstDash val="solid"/>
          </a:ln>
        </p:spPr>
        <p:txBody>
          <a:bodyPr/>
          <a:lstStyle/>
          <a:p>
            <a:endParaRPr lang="en-US"/>
          </a:p>
        </p:txBody>
      </p:sp>
      <p:sp>
        <p:nvSpPr>
          <p:cNvPr id="49" name="Text 47"/>
          <p:cNvSpPr/>
          <p:nvPr/>
        </p:nvSpPr>
        <p:spPr>
          <a:xfrm>
            <a:off x="594360" y="5166360"/>
            <a:ext cx="3200400" cy="45720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Annual affirmation + ongoing</a:t>
            </a:r>
            <a:endParaRPr lang="en-US" sz="1000" dirty="0"/>
          </a:p>
        </p:txBody>
      </p:sp>
      <p:sp>
        <p:nvSpPr>
          <p:cNvPr id="50" name="Text 48"/>
          <p:cNvSpPr/>
          <p:nvPr/>
        </p:nvSpPr>
        <p:spPr>
          <a:xfrm>
            <a:off x="3977640" y="51663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$5K</a:t>
            </a:r>
            <a:endParaRPr lang="en-US" sz="1050" dirty="0"/>
          </a:p>
        </p:txBody>
      </p:sp>
      <p:sp>
        <p:nvSpPr>
          <p:cNvPr id="51" name="Text 49"/>
          <p:cNvSpPr/>
          <p:nvPr/>
        </p:nvSpPr>
        <p:spPr>
          <a:xfrm>
            <a:off x="5257800" y="5166360"/>
            <a:ext cx="1097280" cy="45720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$15–25K/yr</a:t>
            </a:r>
            <a:endParaRPr lang="en-US" sz="1050" dirty="0"/>
          </a:p>
        </p:txBody>
      </p:sp>
      <p:sp>
        <p:nvSpPr>
          <p:cNvPr id="52" name="Text 50"/>
          <p:cNvSpPr/>
          <p:nvPr/>
        </p:nvSpPr>
        <p:spPr>
          <a:xfrm>
            <a:off x="6537960" y="5166360"/>
            <a:ext cx="1097280" cy="457200"/>
          </a:xfrm>
          <a:prstGeom prst="rect">
            <a:avLst/>
          </a:prstGeom>
          <a:noFill/>
          <a:ln/>
        </p:spPr>
        <p:txBody>
          <a:bodyPr wrap="square" lIns="0" tIns="0" rIns="0" bIns="0" rtlCol="0" anchor="ctr"/>
          <a:lstStyle/>
          <a:p>
            <a:pPr marL="0" indent="0">
              <a:buNone/>
            </a:pPr>
            <a:r>
              <a:rPr lang="en-US" sz="1050" dirty="0">
                <a:solidFill>
                  <a:srgbClr val="E2E8F0"/>
                </a:solidFill>
                <a:latin typeface="Calibri" pitchFamily="34" charset="0"/>
                <a:ea typeface="Calibri" pitchFamily="34" charset="-122"/>
                <a:cs typeface="Calibri" pitchFamily="34" charset="-120"/>
              </a:rPr>
              <a:t>$50K/yr</a:t>
            </a:r>
            <a:endParaRPr lang="en-US" sz="1050" dirty="0"/>
          </a:p>
        </p:txBody>
      </p:sp>
      <p:sp>
        <p:nvSpPr>
          <p:cNvPr id="53" name="Text 51"/>
          <p:cNvSpPr/>
          <p:nvPr/>
        </p:nvSpPr>
        <p:spPr>
          <a:xfrm>
            <a:off x="7818120" y="5166360"/>
            <a:ext cx="3840480" cy="457200"/>
          </a:xfrm>
          <a:prstGeom prst="rect">
            <a:avLst/>
          </a:prstGeom>
          <a:noFill/>
          <a:ln/>
        </p:spPr>
        <p:txBody>
          <a:bodyPr wrap="square" lIns="0" tIns="0" rIns="0" bIns="0" rtlCol="0" anchor="ctr"/>
          <a:lstStyle/>
          <a:p>
            <a:pPr marL="0" indent="0">
              <a:buNone/>
            </a:pPr>
            <a:r>
              <a:rPr lang="en-US" sz="950" dirty="0">
                <a:solidFill>
                  <a:srgbClr val="94A3B8"/>
                </a:solidFill>
                <a:latin typeface="Calibri" pitchFamily="34" charset="0"/>
                <a:ea typeface="Calibri" pitchFamily="34" charset="-122"/>
                <a:cs typeface="Calibri" pitchFamily="34" charset="-120"/>
              </a:rPr>
              <a:t>Continuous compliance, annual SPRS submission, monitoring.</a:t>
            </a:r>
            <a:endParaRPr lang="en-US" sz="950" dirty="0"/>
          </a:p>
        </p:txBody>
      </p:sp>
      <p:sp>
        <p:nvSpPr>
          <p:cNvPr id="54" name="Shape 52"/>
          <p:cNvSpPr/>
          <p:nvPr/>
        </p:nvSpPr>
        <p:spPr>
          <a:xfrm>
            <a:off x="457200" y="5760720"/>
            <a:ext cx="11277295" cy="640080"/>
          </a:xfrm>
          <a:prstGeom prst="rect">
            <a:avLst/>
          </a:prstGeom>
          <a:solidFill>
            <a:srgbClr val="1E2D5A"/>
          </a:solidFill>
          <a:ln w="9525">
            <a:solidFill>
              <a:srgbClr val="1E2D5A"/>
            </a:solidFill>
            <a:prstDash val="solid"/>
          </a:ln>
        </p:spPr>
        <p:txBody>
          <a:bodyPr/>
          <a:lstStyle/>
          <a:p>
            <a:endParaRPr lang="en-US"/>
          </a:p>
        </p:txBody>
      </p:sp>
      <p:sp>
        <p:nvSpPr>
          <p:cNvPr id="55" name="Shape 53"/>
          <p:cNvSpPr/>
          <p:nvPr/>
        </p:nvSpPr>
        <p:spPr>
          <a:xfrm>
            <a:off x="457200" y="5760720"/>
            <a:ext cx="73152" cy="640080"/>
          </a:xfrm>
          <a:prstGeom prst="rect">
            <a:avLst/>
          </a:prstGeom>
          <a:solidFill>
            <a:srgbClr val="10B981"/>
          </a:solidFill>
          <a:ln w="12700">
            <a:solidFill>
              <a:srgbClr val="10B981"/>
            </a:solidFill>
            <a:prstDash val="solid"/>
          </a:ln>
        </p:spPr>
        <p:txBody>
          <a:bodyPr/>
          <a:lstStyle/>
          <a:p>
            <a:endParaRPr lang="en-US"/>
          </a:p>
        </p:txBody>
      </p:sp>
      <p:sp>
        <p:nvSpPr>
          <p:cNvPr id="56" name="Text 54"/>
          <p:cNvSpPr/>
          <p:nvPr/>
        </p:nvSpPr>
        <p:spPr>
          <a:xfrm>
            <a:off x="640080" y="5779008"/>
            <a:ext cx="10911535" cy="5943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Realistic SMB total for CMMC Level 2: $75K–$150K in year one. </a:t>
            </a:r>
            <a:r>
              <a:rPr lang="en-US" sz="1100" dirty="0">
                <a:solidFill>
                  <a:srgbClr val="E2E8F0"/>
                </a:solidFill>
                <a:latin typeface="Calibri" pitchFamily="34" charset="0"/>
                <a:ea typeface="Calibri" pitchFamily="34" charset="-122"/>
                <a:cs typeface="Calibri" pitchFamily="34" charset="-120"/>
              </a:rPr>
              <a:t>Then $30K–$60K/year ongoing. Quotes outside that range deserve hard questions: both well below (cutting corners?) and well above (over-scoped?).</a:t>
            </a:r>
            <a:endParaRPr lang="en-US" sz="1100" dirty="0"/>
          </a:p>
        </p:txBody>
      </p:sp>
      <p:sp>
        <p:nvSpPr>
          <p:cNvPr id="57" name="Shape 55"/>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58" name="Text 56"/>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59" name="Text 57"/>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17 / 23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Red Flags When a Consultant Quotes You</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If a quote includes any of these, you're probably looking at a bad deal. The whole industry has bad actors. These tells help you spot them.</a:t>
            </a:r>
            <a:endParaRPr lang="en-US" sz="1300" dirty="0"/>
          </a:p>
        </p:txBody>
      </p:sp>
      <p:sp>
        <p:nvSpPr>
          <p:cNvPr id="5" name="Shape 3"/>
          <p:cNvSpPr/>
          <p:nvPr/>
        </p:nvSpPr>
        <p:spPr>
          <a:xfrm>
            <a:off x="457200" y="1554480"/>
            <a:ext cx="5440680" cy="457200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73152" cy="4572000"/>
          </a:xfrm>
          <a:prstGeom prst="rect">
            <a:avLst/>
          </a:prstGeom>
          <a:solidFill>
            <a:srgbClr val="EF4444"/>
          </a:solidFill>
          <a:ln w="12700">
            <a:solidFill>
              <a:srgbClr val="EF4444"/>
            </a:solidFill>
            <a:prstDash val="solid"/>
          </a:ln>
        </p:spPr>
        <p:txBody>
          <a:bodyPr/>
          <a:lstStyle/>
          <a:p>
            <a:endParaRPr lang="en-US"/>
          </a:p>
        </p:txBody>
      </p:sp>
      <p:sp>
        <p:nvSpPr>
          <p:cNvPr id="7" name="Shape 5"/>
          <p:cNvSpPr/>
          <p:nvPr/>
        </p:nvSpPr>
        <p:spPr>
          <a:xfrm>
            <a:off x="685800" y="1737360"/>
            <a:ext cx="2057400" cy="256032"/>
          </a:xfrm>
          <a:prstGeom prst="rect">
            <a:avLst/>
          </a:prstGeom>
          <a:solidFill>
            <a:srgbClr val="1E2D5A"/>
          </a:solidFill>
          <a:ln w="9525">
            <a:solidFill>
              <a:srgbClr val="EF4444"/>
            </a:solidFill>
            <a:prstDash val="solid"/>
          </a:ln>
        </p:spPr>
        <p:txBody>
          <a:bodyPr/>
          <a:lstStyle/>
          <a:p>
            <a:endParaRPr lang="en-US"/>
          </a:p>
        </p:txBody>
      </p:sp>
      <p:sp>
        <p:nvSpPr>
          <p:cNvPr id="8" name="Text 6"/>
          <p:cNvSpPr/>
          <p:nvPr/>
        </p:nvSpPr>
        <p:spPr>
          <a:xfrm>
            <a:off x="685800" y="1737360"/>
            <a:ext cx="2057400" cy="256032"/>
          </a:xfrm>
          <a:prstGeom prst="rect">
            <a:avLst/>
          </a:prstGeom>
          <a:noFill/>
          <a:ln/>
        </p:spPr>
        <p:txBody>
          <a:bodyPr wrap="square" lIns="0" tIns="0" rIns="0" bIns="0" rtlCol="0" anchor="ctr"/>
          <a:lstStyle/>
          <a:p>
            <a:pPr marL="0" indent="0" algn="ctr">
              <a:buNone/>
            </a:pPr>
            <a:r>
              <a:rPr lang="en-US" sz="900" b="1" kern="0" spc="200" dirty="0">
                <a:solidFill>
                  <a:srgbClr val="EF4444"/>
                </a:solidFill>
                <a:latin typeface="Calibri" pitchFamily="34" charset="0"/>
                <a:ea typeface="Calibri" pitchFamily="34" charset="-122"/>
                <a:cs typeface="Calibri" pitchFamily="34" charset="-120"/>
              </a:rPr>
              <a:t>RED FLAGS: WALK AWAY</a:t>
            </a:r>
            <a:endParaRPr lang="en-US" sz="900" dirty="0"/>
          </a:p>
        </p:txBody>
      </p:sp>
      <p:sp>
        <p:nvSpPr>
          <p:cNvPr id="9" name="Shape 7"/>
          <p:cNvSpPr/>
          <p:nvPr/>
        </p:nvSpPr>
        <p:spPr>
          <a:xfrm>
            <a:off x="731520" y="2240280"/>
            <a:ext cx="109728" cy="109728"/>
          </a:xfrm>
          <a:prstGeom prst="rect">
            <a:avLst/>
          </a:prstGeom>
          <a:solidFill>
            <a:srgbClr val="EF4444"/>
          </a:solidFill>
          <a:ln w="12700">
            <a:solidFill>
              <a:srgbClr val="EF4444"/>
            </a:solidFill>
            <a:prstDash val="solid"/>
          </a:ln>
        </p:spPr>
        <p:txBody>
          <a:bodyPr/>
          <a:lstStyle/>
          <a:p>
            <a:endParaRPr lang="en-US"/>
          </a:p>
        </p:txBody>
      </p:sp>
      <p:sp>
        <p:nvSpPr>
          <p:cNvPr id="10" name="Text 8"/>
          <p:cNvSpPr/>
          <p:nvPr/>
        </p:nvSpPr>
        <p:spPr>
          <a:xfrm>
            <a:off x="914400" y="219456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"We guarantee you'll pass the C3PAO assessment."</a:t>
            </a:r>
            <a:endParaRPr lang="en-US" sz="1000" dirty="0"/>
          </a:p>
        </p:txBody>
      </p:sp>
      <p:sp>
        <p:nvSpPr>
          <p:cNvPr id="11" name="Text 9"/>
          <p:cNvSpPr/>
          <p:nvPr/>
        </p:nvSpPr>
        <p:spPr>
          <a:xfrm>
            <a:off x="914400" y="242316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No one can guarantee that. The C3PAO decides, not the prep consultant. This is a sales tactic.</a:t>
            </a:r>
            <a:endParaRPr lang="en-US" sz="900" dirty="0"/>
          </a:p>
        </p:txBody>
      </p:sp>
      <p:sp>
        <p:nvSpPr>
          <p:cNvPr id="12" name="Shape 10"/>
          <p:cNvSpPr/>
          <p:nvPr/>
        </p:nvSpPr>
        <p:spPr>
          <a:xfrm>
            <a:off x="731520" y="2788920"/>
            <a:ext cx="109728" cy="109728"/>
          </a:xfrm>
          <a:prstGeom prst="rect">
            <a:avLst/>
          </a:prstGeom>
          <a:solidFill>
            <a:srgbClr val="EF4444"/>
          </a:solidFill>
          <a:ln w="12700">
            <a:solidFill>
              <a:srgbClr val="EF4444"/>
            </a:solidFill>
            <a:prstDash val="solid"/>
          </a:ln>
        </p:spPr>
        <p:txBody>
          <a:bodyPr/>
          <a:lstStyle/>
          <a:p>
            <a:endParaRPr lang="en-US"/>
          </a:p>
        </p:txBody>
      </p:sp>
      <p:sp>
        <p:nvSpPr>
          <p:cNvPr id="13" name="Text 11"/>
          <p:cNvSpPr/>
          <p:nvPr/>
        </p:nvSpPr>
        <p:spPr>
          <a:xfrm>
            <a:off x="914400" y="274320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"$15K for full Level 2 certification."</a:t>
            </a:r>
            <a:endParaRPr lang="en-US" sz="1000" dirty="0"/>
          </a:p>
        </p:txBody>
      </p:sp>
      <p:sp>
        <p:nvSpPr>
          <p:cNvPr id="14" name="Text 12"/>
          <p:cNvSpPr/>
          <p:nvPr/>
        </p:nvSpPr>
        <p:spPr>
          <a:xfrm>
            <a:off x="914400" y="297180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The C3PAO fee alone is $30K–$80K+ for an SMB. Anything claiming "all-in" at that price means corners are being cut.</a:t>
            </a:r>
            <a:endParaRPr lang="en-US" sz="900" dirty="0"/>
          </a:p>
        </p:txBody>
      </p:sp>
      <p:sp>
        <p:nvSpPr>
          <p:cNvPr id="15" name="Shape 13"/>
          <p:cNvSpPr/>
          <p:nvPr/>
        </p:nvSpPr>
        <p:spPr>
          <a:xfrm>
            <a:off x="731520" y="3337560"/>
            <a:ext cx="109728" cy="109728"/>
          </a:xfrm>
          <a:prstGeom prst="rect">
            <a:avLst/>
          </a:prstGeom>
          <a:solidFill>
            <a:srgbClr val="EF4444"/>
          </a:solidFill>
          <a:ln w="12700">
            <a:solidFill>
              <a:srgbClr val="EF4444"/>
            </a:solidFill>
            <a:prstDash val="solid"/>
          </a:ln>
        </p:spPr>
        <p:txBody>
          <a:bodyPr/>
          <a:lstStyle/>
          <a:p>
            <a:endParaRPr lang="en-US"/>
          </a:p>
        </p:txBody>
      </p:sp>
      <p:sp>
        <p:nvSpPr>
          <p:cNvPr id="16" name="Text 14"/>
          <p:cNvSpPr/>
          <p:nvPr/>
        </p:nvSpPr>
        <p:spPr>
          <a:xfrm>
            <a:off x="914400" y="329184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"You have to be on our partner enclave."</a:t>
            </a:r>
            <a:endParaRPr lang="en-US" sz="1000" dirty="0"/>
          </a:p>
        </p:txBody>
      </p:sp>
      <p:sp>
        <p:nvSpPr>
          <p:cNvPr id="17" name="Text 15"/>
          <p:cNvSpPr/>
          <p:nvPr/>
        </p:nvSpPr>
        <p:spPr>
          <a:xfrm>
            <a:off x="914400" y="352044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Conflict of interest. They earn commission on the platform they're pushing. Get a vendor-neutral opinion.</a:t>
            </a:r>
            <a:endParaRPr lang="en-US" sz="900" dirty="0"/>
          </a:p>
        </p:txBody>
      </p:sp>
      <p:sp>
        <p:nvSpPr>
          <p:cNvPr id="18" name="Shape 16"/>
          <p:cNvSpPr/>
          <p:nvPr/>
        </p:nvSpPr>
        <p:spPr>
          <a:xfrm>
            <a:off x="731520" y="3886200"/>
            <a:ext cx="109728" cy="109728"/>
          </a:xfrm>
          <a:prstGeom prst="rect">
            <a:avLst/>
          </a:prstGeom>
          <a:solidFill>
            <a:srgbClr val="EF4444"/>
          </a:solidFill>
          <a:ln w="12700">
            <a:solidFill>
              <a:srgbClr val="EF4444"/>
            </a:solidFill>
            <a:prstDash val="solid"/>
          </a:ln>
        </p:spPr>
        <p:txBody>
          <a:bodyPr/>
          <a:lstStyle/>
          <a:p>
            <a:endParaRPr lang="en-US"/>
          </a:p>
        </p:txBody>
      </p:sp>
      <p:sp>
        <p:nvSpPr>
          <p:cNvPr id="19" name="Text 17"/>
          <p:cNvSpPr/>
          <p:nvPr/>
        </p:nvSpPr>
        <p:spPr>
          <a:xfrm>
            <a:off x="914400" y="384048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"We'll write your SSP from a template in two weeks."</a:t>
            </a:r>
            <a:endParaRPr lang="en-US" sz="1000" dirty="0"/>
          </a:p>
        </p:txBody>
      </p:sp>
      <p:sp>
        <p:nvSpPr>
          <p:cNvPr id="20" name="Text 18"/>
          <p:cNvSpPr/>
          <p:nvPr/>
        </p:nvSpPr>
        <p:spPr>
          <a:xfrm>
            <a:off x="914400" y="4069080"/>
            <a:ext cx="4800600" cy="365760"/>
          </a:xfrm>
          <a:prstGeom prst="rect">
            <a:avLst/>
          </a:prstGeom>
          <a:noFill/>
          <a:ln/>
        </p:spPr>
        <p:txBody>
          <a:bodyPr wrap="square" lIns="0" tIns="0" rIns="0" bIns="0" rtlCol="0" anchor="t"/>
          <a:lstStyle/>
          <a:p>
            <a:r>
              <a:rPr lang="en-US" sz="900" dirty="0">
                <a:solidFill>
                  <a:srgbClr val="E2E8F0"/>
                </a:solidFill>
                <a:latin typeface="Calibri" pitchFamily="34" charset="0"/>
                <a:ea typeface="Calibri" pitchFamily="34" charset="-122"/>
                <a:cs typeface="Calibri" pitchFamily="34" charset="-120"/>
              </a:rPr>
              <a:t>Real SSPs take 4–8 weeks. Template SSPs fail assessments. Your SSP must describe YOUR environment.</a:t>
            </a:r>
            <a:endParaRPr lang="en-US" sz="900" dirty="0"/>
          </a:p>
        </p:txBody>
      </p:sp>
      <p:sp>
        <p:nvSpPr>
          <p:cNvPr id="21" name="Shape 19"/>
          <p:cNvSpPr/>
          <p:nvPr/>
        </p:nvSpPr>
        <p:spPr>
          <a:xfrm>
            <a:off x="731520" y="4279392"/>
            <a:ext cx="109728" cy="109728"/>
          </a:xfrm>
          <a:prstGeom prst="rect">
            <a:avLst/>
          </a:prstGeom>
          <a:solidFill>
            <a:srgbClr val="EF4444"/>
          </a:solidFill>
          <a:ln w="12700">
            <a:solidFill>
              <a:srgbClr val="EF4444"/>
            </a:solidFill>
            <a:prstDash val="solid"/>
          </a:ln>
        </p:spPr>
        <p:txBody>
          <a:bodyPr/>
          <a:lstStyle/>
          <a:p>
            <a:endParaRPr lang="en-US"/>
          </a:p>
        </p:txBody>
      </p:sp>
      <p:sp>
        <p:nvSpPr>
          <p:cNvPr id="22" name="Text 20"/>
          <p:cNvSpPr/>
          <p:nvPr/>
        </p:nvSpPr>
        <p:spPr>
          <a:xfrm>
            <a:off x="914400" y="425196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Won't show proof of expertise: no RP/RPO, security certifications, or relevant experience.</a:t>
            </a:r>
            <a:endParaRPr lang="en-US" sz="1000" dirty="0"/>
          </a:p>
        </p:txBody>
      </p:sp>
      <p:sp>
        <p:nvSpPr>
          <p:cNvPr id="23" name="Text 21"/>
          <p:cNvSpPr/>
          <p:nvPr/>
        </p:nvSpPr>
        <p:spPr>
          <a:xfrm>
            <a:off x="914400" y="4436737"/>
            <a:ext cx="4800600" cy="484633"/>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An RP/RPO designation is not required to advise on CMMC at any level. What matters is demonstrated expertise: an RP/RPO if they have one, recognized security credentials (CISSP, CISM), or relative experience. Verify on the Cyber-AB marketplace or by checking their certifications and referenced work</a:t>
            </a:r>
            <a:endParaRPr lang="en-US" sz="900" dirty="0"/>
          </a:p>
        </p:txBody>
      </p:sp>
      <p:sp>
        <p:nvSpPr>
          <p:cNvPr id="24" name="Shape 22"/>
          <p:cNvSpPr/>
          <p:nvPr/>
        </p:nvSpPr>
        <p:spPr>
          <a:xfrm>
            <a:off x="731520" y="4983480"/>
            <a:ext cx="109728" cy="109728"/>
          </a:xfrm>
          <a:prstGeom prst="rect">
            <a:avLst/>
          </a:prstGeom>
          <a:solidFill>
            <a:srgbClr val="EF4444"/>
          </a:solidFill>
          <a:ln w="12700">
            <a:solidFill>
              <a:srgbClr val="EF4444"/>
            </a:solidFill>
            <a:prstDash val="solid"/>
          </a:ln>
        </p:spPr>
        <p:txBody>
          <a:bodyPr/>
          <a:lstStyle/>
          <a:p>
            <a:endParaRPr lang="en-US"/>
          </a:p>
        </p:txBody>
      </p:sp>
      <p:sp>
        <p:nvSpPr>
          <p:cNvPr id="25" name="Text 23"/>
          <p:cNvSpPr/>
          <p:nvPr/>
        </p:nvSpPr>
        <p:spPr>
          <a:xfrm>
            <a:off x="914400" y="4963166"/>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Refuses to share the CRM or define scope in writing.</a:t>
            </a:r>
            <a:endParaRPr lang="en-US" sz="1000" dirty="0"/>
          </a:p>
        </p:txBody>
      </p:sp>
      <p:sp>
        <p:nvSpPr>
          <p:cNvPr id="26" name="Text 24"/>
          <p:cNvSpPr/>
          <p:nvPr/>
        </p:nvSpPr>
        <p:spPr>
          <a:xfrm>
            <a:off x="914400" y="5134357"/>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If they won't put scope, responsibilities, and deliverables in writing, the project will balloon and you'll be at fault.</a:t>
            </a:r>
            <a:endParaRPr lang="en-US" sz="900" dirty="0"/>
          </a:p>
        </p:txBody>
      </p:sp>
      <p:sp>
        <p:nvSpPr>
          <p:cNvPr id="27" name="Shape 25"/>
          <p:cNvSpPr/>
          <p:nvPr/>
        </p:nvSpPr>
        <p:spPr>
          <a:xfrm>
            <a:off x="731520" y="5532120"/>
            <a:ext cx="109728" cy="109728"/>
          </a:xfrm>
          <a:prstGeom prst="rect">
            <a:avLst/>
          </a:prstGeom>
          <a:solidFill>
            <a:srgbClr val="EF4444"/>
          </a:solidFill>
          <a:ln w="12700">
            <a:solidFill>
              <a:srgbClr val="EF4444"/>
            </a:solidFill>
            <a:prstDash val="solid"/>
          </a:ln>
        </p:spPr>
        <p:txBody>
          <a:bodyPr/>
          <a:lstStyle/>
          <a:p>
            <a:endParaRPr lang="en-US"/>
          </a:p>
        </p:txBody>
      </p:sp>
      <p:sp>
        <p:nvSpPr>
          <p:cNvPr id="28" name="Text 26"/>
          <p:cNvSpPr/>
          <p:nvPr/>
        </p:nvSpPr>
        <p:spPr>
          <a:xfrm>
            <a:off x="914400" y="548640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Hourly rate with no scope cap.</a:t>
            </a:r>
            <a:endParaRPr lang="en-US" sz="1000" dirty="0"/>
          </a:p>
        </p:txBody>
      </p:sp>
      <p:sp>
        <p:nvSpPr>
          <p:cNvPr id="29" name="Text 27"/>
          <p:cNvSpPr/>
          <p:nvPr/>
        </p:nvSpPr>
        <p:spPr>
          <a:xfrm>
            <a:off x="914400" y="571500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T&amp;M without a not-to-exceed clause is a blank check. Reasonable: T&amp;M with a clear NTE based on the gap assessment.</a:t>
            </a:r>
            <a:endParaRPr lang="en-US" sz="900" dirty="0"/>
          </a:p>
        </p:txBody>
      </p:sp>
      <p:sp>
        <p:nvSpPr>
          <p:cNvPr id="30" name="Shape 28"/>
          <p:cNvSpPr/>
          <p:nvPr/>
        </p:nvSpPr>
        <p:spPr>
          <a:xfrm>
            <a:off x="6309360" y="1554480"/>
            <a:ext cx="5440680" cy="4572000"/>
          </a:xfrm>
          <a:prstGeom prst="rect">
            <a:avLst/>
          </a:prstGeom>
          <a:solidFill>
            <a:srgbClr val="131A35"/>
          </a:solidFill>
          <a:ln w="9525">
            <a:solidFill>
              <a:srgbClr val="1E2D5A"/>
            </a:solidFill>
            <a:prstDash val="solid"/>
          </a:ln>
        </p:spPr>
        <p:txBody>
          <a:bodyPr/>
          <a:lstStyle/>
          <a:p>
            <a:endParaRPr lang="en-US"/>
          </a:p>
        </p:txBody>
      </p:sp>
      <p:sp>
        <p:nvSpPr>
          <p:cNvPr id="31" name="Shape 29"/>
          <p:cNvSpPr/>
          <p:nvPr/>
        </p:nvSpPr>
        <p:spPr>
          <a:xfrm>
            <a:off x="6309360" y="1554480"/>
            <a:ext cx="73152" cy="4572000"/>
          </a:xfrm>
          <a:prstGeom prst="rect">
            <a:avLst/>
          </a:prstGeom>
          <a:solidFill>
            <a:srgbClr val="10B981"/>
          </a:solidFill>
          <a:ln w="12700">
            <a:solidFill>
              <a:srgbClr val="10B981"/>
            </a:solidFill>
            <a:prstDash val="solid"/>
          </a:ln>
        </p:spPr>
        <p:txBody>
          <a:bodyPr/>
          <a:lstStyle/>
          <a:p>
            <a:endParaRPr lang="en-US"/>
          </a:p>
        </p:txBody>
      </p:sp>
      <p:sp>
        <p:nvSpPr>
          <p:cNvPr id="32" name="Shape 30"/>
          <p:cNvSpPr/>
          <p:nvPr/>
        </p:nvSpPr>
        <p:spPr>
          <a:xfrm>
            <a:off x="6537960" y="1737360"/>
            <a:ext cx="2665476" cy="256032"/>
          </a:xfrm>
          <a:prstGeom prst="rect">
            <a:avLst/>
          </a:prstGeom>
          <a:solidFill>
            <a:srgbClr val="1E2D5A"/>
          </a:solidFill>
          <a:ln w="9525">
            <a:solidFill>
              <a:srgbClr val="10B981"/>
            </a:solidFill>
            <a:prstDash val="solid"/>
          </a:ln>
        </p:spPr>
        <p:txBody>
          <a:bodyPr/>
          <a:lstStyle/>
          <a:p>
            <a:endParaRPr lang="en-US"/>
          </a:p>
        </p:txBody>
      </p:sp>
      <p:sp>
        <p:nvSpPr>
          <p:cNvPr id="33" name="Text 31"/>
          <p:cNvSpPr/>
          <p:nvPr/>
        </p:nvSpPr>
        <p:spPr>
          <a:xfrm>
            <a:off x="6537960" y="1737360"/>
            <a:ext cx="2665476" cy="256032"/>
          </a:xfrm>
          <a:prstGeom prst="rect">
            <a:avLst/>
          </a:prstGeom>
          <a:noFill/>
          <a:ln/>
        </p:spPr>
        <p:txBody>
          <a:bodyPr wrap="square" lIns="0" tIns="0" rIns="0" bIns="0" rtlCol="0" anchor="ctr"/>
          <a:lstStyle/>
          <a:p>
            <a:pPr marL="0" indent="0" algn="ctr">
              <a:buNone/>
            </a:pPr>
            <a:r>
              <a:rPr lang="en-US" sz="900" b="1" kern="0" spc="200" dirty="0">
                <a:solidFill>
                  <a:srgbClr val="10B981"/>
                </a:solidFill>
                <a:latin typeface="Calibri" pitchFamily="34" charset="0"/>
                <a:ea typeface="Calibri" pitchFamily="34" charset="-122"/>
                <a:cs typeface="Calibri" pitchFamily="34" charset="-120"/>
              </a:rPr>
              <a:t>GREEN FLAGS: WORTH ENGAGING</a:t>
            </a:r>
            <a:endParaRPr lang="en-US" sz="900" dirty="0"/>
          </a:p>
        </p:txBody>
      </p:sp>
      <p:sp>
        <p:nvSpPr>
          <p:cNvPr id="34" name="Shape 32"/>
          <p:cNvSpPr/>
          <p:nvPr/>
        </p:nvSpPr>
        <p:spPr>
          <a:xfrm>
            <a:off x="6583680" y="2240280"/>
            <a:ext cx="109728" cy="109728"/>
          </a:xfrm>
          <a:prstGeom prst="rect">
            <a:avLst/>
          </a:prstGeom>
          <a:solidFill>
            <a:srgbClr val="10B981"/>
          </a:solidFill>
          <a:ln w="12700">
            <a:solidFill>
              <a:srgbClr val="10B981"/>
            </a:solidFill>
            <a:prstDash val="solid"/>
          </a:ln>
        </p:spPr>
        <p:txBody>
          <a:bodyPr/>
          <a:lstStyle/>
          <a:p>
            <a:endParaRPr lang="en-US"/>
          </a:p>
        </p:txBody>
      </p:sp>
      <p:sp>
        <p:nvSpPr>
          <p:cNvPr id="35" name="Text 33"/>
          <p:cNvSpPr/>
          <p:nvPr/>
        </p:nvSpPr>
        <p:spPr>
          <a:xfrm>
            <a:off x="6766560" y="219456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They insist on a gap assessment FIRST.</a:t>
            </a:r>
            <a:endParaRPr lang="en-US" sz="1000" dirty="0"/>
          </a:p>
        </p:txBody>
      </p:sp>
      <p:sp>
        <p:nvSpPr>
          <p:cNvPr id="36" name="Text 34"/>
          <p:cNvSpPr/>
          <p:nvPr/>
        </p:nvSpPr>
        <p:spPr>
          <a:xfrm>
            <a:off x="6766560" y="242316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Real consultants won't quote a fixed certification price before they know what they're working with. The gap assessment establishes the real number.</a:t>
            </a:r>
            <a:endParaRPr lang="en-US" sz="900" dirty="0"/>
          </a:p>
        </p:txBody>
      </p:sp>
      <p:sp>
        <p:nvSpPr>
          <p:cNvPr id="37" name="Shape 35"/>
          <p:cNvSpPr/>
          <p:nvPr/>
        </p:nvSpPr>
        <p:spPr>
          <a:xfrm>
            <a:off x="6583680" y="2788920"/>
            <a:ext cx="109728" cy="109728"/>
          </a:xfrm>
          <a:prstGeom prst="rect">
            <a:avLst/>
          </a:prstGeom>
          <a:solidFill>
            <a:srgbClr val="10B981"/>
          </a:solidFill>
          <a:ln w="12700">
            <a:solidFill>
              <a:srgbClr val="10B981"/>
            </a:solidFill>
            <a:prstDash val="solid"/>
          </a:ln>
        </p:spPr>
        <p:txBody>
          <a:bodyPr/>
          <a:lstStyle/>
          <a:p>
            <a:endParaRPr lang="en-US"/>
          </a:p>
        </p:txBody>
      </p:sp>
      <p:sp>
        <p:nvSpPr>
          <p:cNvPr id="38" name="Text 36"/>
          <p:cNvSpPr/>
          <p:nvPr/>
        </p:nvSpPr>
        <p:spPr>
          <a:xfrm>
            <a:off x="6766560" y="274320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Documented Cyber-AB credentials (RP / RPO / CCP / CCA) or other proof of expertise.</a:t>
            </a:r>
            <a:endParaRPr lang="en-US" sz="1000" dirty="0"/>
          </a:p>
        </p:txBody>
      </p:sp>
      <p:sp>
        <p:nvSpPr>
          <p:cNvPr id="39" name="Text 37"/>
          <p:cNvSpPr/>
          <p:nvPr/>
        </p:nvSpPr>
        <p:spPr>
          <a:xfrm>
            <a:off x="6766560" y="297180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Their name is searchable on cyberab.org for Cyber-AB credentials or you can look up their security certifications and/or experience (</a:t>
            </a:r>
            <a:r>
              <a:rPr lang="en-US" sz="900">
                <a:solidFill>
                  <a:srgbClr val="E2E8F0"/>
                </a:solidFill>
                <a:latin typeface="Calibri" pitchFamily="34" charset="0"/>
                <a:ea typeface="Calibri" pitchFamily="34" charset="-122"/>
                <a:cs typeface="Calibri" pitchFamily="34" charset="-120"/>
              </a:rPr>
              <a:t>for consulting </a:t>
            </a:r>
            <a:r>
              <a:rPr lang="en-US" sz="900" dirty="0">
                <a:solidFill>
                  <a:srgbClr val="E2E8F0"/>
                </a:solidFill>
                <a:latin typeface="Calibri" pitchFamily="34" charset="0"/>
                <a:ea typeface="Calibri" pitchFamily="34" charset="-122"/>
                <a:cs typeface="Calibri" pitchFamily="34" charset="-120"/>
              </a:rPr>
              <a:t>support). </a:t>
            </a:r>
            <a:endParaRPr lang="en-US" sz="900" dirty="0"/>
          </a:p>
        </p:txBody>
      </p:sp>
      <p:sp>
        <p:nvSpPr>
          <p:cNvPr id="40" name="Shape 38"/>
          <p:cNvSpPr/>
          <p:nvPr/>
        </p:nvSpPr>
        <p:spPr>
          <a:xfrm>
            <a:off x="6583680" y="3337560"/>
            <a:ext cx="109728" cy="109728"/>
          </a:xfrm>
          <a:prstGeom prst="rect">
            <a:avLst/>
          </a:prstGeom>
          <a:solidFill>
            <a:srgbClr val="10B981"/>
          </a:solidFill>
          <a:ln w="12700">
            <a:solidFill>
              <a:srgbClr val="10B981"/>
            </a:solidFill>
            <a:prstDash val="solid"/>
          </a:ln>
        </p:spPr>
        <p:txBody>
          <a:bodyPr/>
          <a:lstStyle/>
          <a:p>
            <a:endParaRPr lang="en-US"/>
          </a:p>
        </p:txBody>
      </p:sp>
      <p:sp>
        <p:nvSpPr>
          <p:cNvPr id="41" name="Text 39"/>
          <p:cNvSpPr/>
          <p:nvPr/>
        </p:nvSpPr>
        <p:spPr>
          <a:xfrm>
            <a:off x="6766560" y="329184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They explain what they WON'T do.</a:t>
            </a:r>
            <a:endParaRPr lang="en-US" sz="1000" dirty="0"/>
          </a:p>
        </p:txBody>
      </p:sp>
      <p:sp>
        <p:nvSpPr>
          <p:cNvPr id="42" name="Text 40"/>
          <p:cNvSpPr/>
          <p:nvPr/>
        </p:nvSpPr>
        <p:spPr>
          <a:xfrm>
            <a:off x="6766560" y="352044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A good consultant tells you that the formal CMMC assessment is a separate C3PAO engagement, and that they can't be both.</a:t>
            </a:r>
            <a:endParaRPr lang="en-US" sz="900" dirty="0"/>
          </a:p>
        </p:txBody>
      </p:sp>
      <p:sp>
        <p:nvSpPr>
          <p:cNvPr id="43" name="Shape 41"/>
          <p:cNvSpPr/>
          <p:nvPr/>
        </p:nvSpPr>
        <p:spPr>
          <a:xfrm>
            <a:off x="6583680" y="3886200"/>
            <a:ext cx="109728" cy="109728"/>
          </a:xfrm>
          <a:prstGeom prst="rect">
            <a:avLst/>
          </a:prstGeom>
          <a:solidFill>
            <a:srgbClr val="10B981"/>
          </a:solidFill>
          <a:ln w="12700">
            <a:solidFill>
              <a:srgbClr val="10B981"/>
            </a:solidFill>
            <a:prstDash val="solid"/>
          </a:ln>
        </p:spPr>
        <p:txBody>
          <a:bodyPr/>
          <a:lstStyle/>
          <a:p>
            <a:endParaRPr lang="en-US"/>
          </a:p>
        </p:txBody>
      </p:sp>
      <p:sp>
        <p:nvSpPr>
          <p:cNvPr id="44" name="Text 42"/>
          <p:cNvSpPr/>
          <p:nvPr/>
        </p:nvSpPr>
        <p:spPr>
          <a:xfrm>
            <a:off x="6766560" y="384048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They walk you through scoping options.</a:t>
            </a:r>
            <a:endParaRPr lang="en-US" sz="1000" dirty="0"/>
          </a:p>
        </p:txBody>
      </p:sp>
      <p:sp>
        <p:nvSpPr>
          <p:cNvPr id="45" name="Text 43"/>
          <p:cNvSpPr/>
          <p:nvPr/>
        </p:nvSpPr>
        <p:spPr>
          <a:xfrm>
            <a:off x="6766560" y="406908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Multiple architecture paths, with trade-offs. Not a single answer. They're solving your problem, not selling a SKU.</a:t>
            </a:r>
            <a:endParaRPr lang="en-US" sz="900" dirty="0"/>
          </a:p>
        </p:txBody>
      </p:sp>
      <p:sp>
        <p:nvSpPr>
          <p:cNvPr id="46" name="Shape 44"/>
          <p:cNvSpPr/>
          <p:nvPr/>
        </p:nvSpPr>
        <p:spPr>
          <a:xfrm>
            <a:off x="6583680" y="4434840"/>
            <a:ext cx="109728" cy="109728"/>
          </a:xfrm>
          <a:prstGeom prst="rect">
            <a:avLst/>
          </a:prstGeom>
          <a:solidFill>
            <a:srgbClr val="10B981"/>
          </a:solidFill>
          <a:ln w="12700">
            <a:solidFill>
              <a:srgbClr val="10B981"/>
            </a:solidFill>
            <a:prstDash val="solid"/>
          </a:ln>
        </p:spPr>
        <p:txBody>
          <a:bodyPr/>
          <a:lstStyle/>
          <a:p>
            <a:endParaRPr lang="en-US"/>
          </a:p>
        </p:txBody>
      </p:sp>
      <p:sp>
        <p:nvSpPr>
          <p:cNvPr id="47" name="Text 45"/>
          <p:cNvSpPr/>
          <p:nvPr/>
        </p:nvSpPr>
        <p:spPr>
          <a:xfrm>
            <a:off x="6766560" y="438912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References from actual SMB clients in your industry.</a:t>
            </a:r>
            <a:endParaRPr lang="en-US" sz="1000" dirty="0"/>
          </a:p>
        </p:txBody>
      </p:sp>
      <p:sp>
        <p:nvSpPr>
          <p:cNvPr id="48" name="Text 46"/>
          <p:cNvSpPr/>
          <p:nvPr/>
        </p:nvSpPr>
        <p:spPr>
          <a:xfrm>
            <a:off x="6766560" y="461772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Manufacturing, software, services. They should match your context. Ask for two references and call them.</a:t>
            </a:r>
            <a:endParaRPr lang="en-US" sz="900" dirty="0"/>
          </a:p>
        </p:txBody>
      </p:sp>
      <p:sp>
        <p:nvSpPr>
          <p:cNvPr id="49" name="Shape 47"/>
          <p:cNvSpPr/>
          <p:nvPr/>
        </p:nvSpPr>
        <p:spPr>
          <a:xfrm>
            <a:off x="6583680" y="4983480"/>
            <a:ext cx="109728" cy="109728"/>
          </a:xfrm>
          <a:prstGeom prst="rect">
            <a:avLst/>
          </a:prstGeom>
          <a:solidFill>
            <a:srgbClr val="10B981"/>
          </a:solidFill>
          <a:ln w="12700">
            <a:solidFill>
              <a:srgbClr val="10B981"/>
            </a:solidFill>
            <a:prstDash val="solid"/>
          </a:ln>
        </p:spPr>
        <p:txBody>
          <a:bodyPr/>
          <a:lstStyle/>
          <a:p>
            <a:endParaRPr lang="en-US"/>
          </a:p>
        </p:txBody>
      </p:sp>
      <p:sp>
        <p:nvSpPr>
          <p:cNvPr id="50" name="Text 48"/>
          <p:cNvSpPr/>
          <p:nvPr/>
        </p:nvSpPr>
        <p:spPr>
          <a:xfrm>
            <a:off x="6766560" y="493776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Clear deliverables, milestones, NTE pricing.</a:t>
            </a:r>
            <a:endParaRPr lang="en-US" sz="1000" dirty="0"/>
          </a:p>
        </p:txBody>
      </p:sp>
      <p:sp>
        <p:nvSpPr>
          <p:cNvPr id="51" name="Text 49"/>
          <p:cNvSpPr/>
          <p:nvPr/>
        </p:nvSpPr>
        <p:spPr>
          <a:xfrm>
            <a:off x="6766560" y="516636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A real statement of work. You can see what's included, what's extra, when payments trigger, and when scope expansions require change orders.</a:t>
            </a:r>
            <a:endParaRPr lang="en-US" sz="900" dirty="0"/>
          </a:p>
        </p:txBody>
      </p:sp>
      <p:sp>
        <p:nvSpPr>
          <p:cNvPr id="52" name="Shape 50"/>
          <p:cNvSpPr/>
          <p:nvPr/>
        </p:nvSpPr>
        <p:spPr>
          <a:xfrm>
            <a:off x="6583680" y="5532120"/>
            <a:ext cx="109728" cy="109728"/>
          </a:xfrm>
          <a:prstGeom prst="rect">
            <a:avLst/>
          </a:prstGeom>
          <a:solidFill>
            <a:srgbClr val="10B981"/>
          </a:solidFill>
          <a:ln w="12700">
            <a:solidFill>
              <a:srgbClr val="10B981"/>
            </a:solidFill>
            <a:prstDash val="solid"/>
          </a:ln>
        </p:spPr>
        <p:txBody>
          <a:bodyPr/>
          <a:lstStyle/>
          <a:p>
            <a:endParaRPr lang="en-US"/>
          </a:p>
        </p:txBody>
      </p:sp>
      <p:sp>
        <p:nvSpPr>
          <p:cNvPr id="53" name="Text 51"/>
          <p:cNvSpPr/>
          <p:nvPr/>
        </p:nvSpPr>
        <p:spPr>
          <a:xfrm>
            <a:off x="6766560" y="5486400"/>
            <a:ext cx="4800600" cy="228600"/>
          </a:xfrm>
          <a:prstGeom prst="rect">
            <a:avLst/>
          </a:prstGeom>
          <a:noFill/>
          <a:ln/>
        </p:spPr>
        <p:txBody>
          <a:bodyPr wrap="square" lIns="0" tIns="0" rIns="0" bIns="0" rtlCol="0" anchor="t"/>
          <a:lstStyle/>
          <a:p>
            <a:pPr marL="0" indent="0">
              <a:buNone/>
            </a:pPr>
            <a:r>
              <a:rPr lang="en-US" sz="1000" b="1" dirty="0">
                <a:solidFill>
                  <a:srgbClr val="FFFFFF"/>
                </a:solidFill>
                <a:latin typeface="Calibri" pitchFamily="34" charset="0"/>
                <a:ea typeface="Calibri" pitchFamily="34" charset="-122"/>
                <a:cs typeface="Calibri" pitchFamily="34" charset="-120"/>
              </a:rPr>
              <a:t>Honest about your timeline.</a:t>
            </a:r>
            <a:endParaRPr lang="en-US" sz="1000" dirty="0"/>
          </a:p>
        </p:txBody>
      </p:sp>
      <p:sp>
        <p:nvSpPr>
          <p:cNvPr id="54" name="Text 52"/>
          <p:cNvSpPr/>
          <p:nvPr/>
        </p:nvSpPr>
        <p:spPr>
          <a:xfrm>
            <a:off x="6766560" y="5715000"/>
            <a:ext cx="4800600" cy="36576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If it'll take 6–9 months, they say so. If you've over-scoped, they push back. They tell you things you don't want to hear.</a:t>
            </a:r>
            <a:endParaRPr lang="en-US" sz="900" dirty="0"/>
          </a:p>
        </p:txBody>
      </p:sp>
      <p:sp>
        <p:nvSpPr>
          <p:cNvPr id="55" name="Shape 53"/>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56" name="Text 54"/>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57" name="Text 55"/>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18 / 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Questions to Ask a C3PAO Before You Sign</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You choose your assessor. With ~103 authorized C3PAOs (May 2026) serving the DIB, quality and pricing vary widely. These are the questions that surface the right one.</a:t>
            </a:r>
            <a:endParaRPr lang="en-US" sz="1300" dirty="0"/>
          </a:p>
        </p:txBody>
      </p:sp>
      <p:sp>
        <p:nvSpPr>
          <p:cNvPr id="5" name="Shape 3"/>
          <p:cNvSpPr/>
          <p:nvPr/>
        </p:nvSpPr>
        <p:spPr>
          <a:xfrm>
            <a:off x="457200" y="1554480"/>
            <a:ext cx="2695880" cy="224028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73152" cy="224028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640080" y="1664208"/>
            <a:ext cx="640080" cy="365760"/>
          </a:xfrm>
          <a:prstGeom prst="rect">
            <a:avLst/>
          </a:prstGeom>
          <a:noFill/>
          <a:ln/>
        </p:spPr>
        <p:txBody>
          <a:bodyPr wrap="square" lIns="0" tIns="0" rIns="0" bIns="0" rtlCol="0" anchor="ctr"/>
          <a:lstStyle/>
          <a:p>
            <a:pPr marL="0" indent="0">
              <a:buNone/>
            </a:pPr>
            <a:r>
              <a:rPr lang="en-US" sz="1800" b="1" dirty="0">
                <a:solidFill>
                  <a:srgbClr val="38BDF8"/>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640080" y="2057400"/>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How many CMMC Level 2 assessments have you completed?</a:t>
            </a:r>
            <a:endParaRPr lang="en-US" sz="1100" dirty="0"/>
          </a:p>
        </p:txBody>
      </p:sp>
      <p:sp>
        <p:nvSpPr>
          <p:cNvPr id="9" name="Text 7"/>
          <p:cNvSpPr/>
          <p:nvPr/>
        </p:nvSpPr>
        <p:spPr>
          <a:xfrm>
            <a:off x="640080" y="2880360"/>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10" name="Text 8"/>
          <p:cNvSpPr/>
          <p:nvPr/>
        </p:nvSpPr>
        <p:spPr>
          <a:xfrm>
            <a:off x="640080" y="3081528"/>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Experience matters. Aim for assessors who have actually delivered, not just trained. Ask for ranges, not exact numbers.</a:t>
            </a:r>
            <a:endParaRPr lang="en-US" sz="900" dirty="0"/>
          </a:p>
        </p:txBody>
      </p:sp>
      <p:sp>
        <p:nvSpPr>
          <p:cNvPr id="11" name="Shape 9"/>
          <p:cNvSpPr/>
          <p:nvPr/>
        </p:nvSpPr>
        <p:spPr>
          <a:xfrm>
            <a:off x="3317672" y="1554480"/>
            <a:ext cx="2695880" cy="2240280"/>
          </a:xfrm>
          <a:prstGeom prst="rect">
            <a:avLst/>
          </a:prstGeom>
          <a:solidFill>
            <a:srgbClr val="131A35"/>
          </a:solidFill>
          <a:ln w="9525">
            <a:solidFill>
              <a:srgbClr val="1E2D5A"/>
            </a:solidFill>
            <a:prstDash val="solid"/>
          </a:ln>
        </p:spPr>
        <p:txBody>
          <a:bodyPr/>
          <a:lstStyle/>
          <a:p>
            <a:endParaRPr lang="en-US"/>
          </a:p>
        </p:txBody>
      </p:sp>
      <p:sp>
        <p:nvSpPr>
          <p:cNvPr id="12" name="Shape 10"/>
          <p:cNvSpPr/>
          <p:nvPr/>
        </p:nvSpPr>
        <p:spPr>
          <a:xfrm>
            <a:off x="3317672" y="1554480"/>
            <a:ext cx="73152" cy="2240280"/>
          </a:xfrm>
          <a:prstGeom prst="rect">
            <a:avLst/>
          </a:prstGeom>
          <a:solidFill>
            <a:srgbClr val="60A5FA"/>
          </a:solidFill>
          <a:ln w="12700">
            <a:solidFill>
              <a:srgbClr val="60A5FA"/>
            </a:solidFill>
            <a:prstDash val="solid"/>
          </a:ln>
        </p:spPr>
        <p:txBody>
          <a:bodyPr/>
          <a:lstStyle/>
          <a:p>
            <a:endParaRPr lang="en-US"/>
          </a:p>
        </p:txBody>
      </p:sp>
      <p:sp>
        <p:nvSpPr>
          <p:cNvPr id="13" name="Text 11"/>
          <p:cNvSpPr/>
          <p:nvPr/>
        </p:nvSpPr>
        <p:spPr>
          <a:xfrm>
            <a:off x="3500552" y="1664208"/>
            <a:ext cx="640080" cy="365760"/>
          </a:xfrm>
          <a:prstGeom prst="rect">
            <a:avLst/>
          </a:prstGeom>
          <a:noFill/>
          <a:ln/>
        </p:spPr>
        <p:txBody>
          <a:bodyPr wrap="square" lIns="0" tIns="0" rIns="0" bIns="0" rtlCol="0" anchor="ctr"/>
          <a:lstStyle/>
          <a:p>
            <a:pPr marL="0" indent="0">
              <a:buNone/>
            </a:pPr>
            <a:r>
              <a:rPr lang="en-US" sz="1800" b="1" dirty="0">
                <a:solidFill>
                  <a:srgbClr val="60A5FA"/>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3500552" y="2057400"/>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What's your typical assessment timeline once we engage?</a:t>
            </a:r>
            <a:endParaRPr lang="en-US" sz="1100" dirty="0"/>
          </a:p>
        </p:txBody>
      </p:sp>
      <p:sp>
        <p:nvSpPr>
          <p:cNvPr id="15" name="Text 13"/>
          <p:cNvSpPr/>
          <p:nvPr/>
        </p:nvSpPr>
        <p:spPr>
          <a:xfrm>
            <a:off x="3500552" y="2880360"/>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16" name="Text 14"/>
          <p:cNvSpPr/>
          <p:nvPr/>
        </p:nvSpPr>
        <p:spPr>
          <a:xfrm>
            <a:off x="3500552" y="3081528"/>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Many C3PAOs are booked 4–9 months out. Knowing this drives YOUR planning timeline.</a:t>
            </a:r>
            <a:endParaRPr lang="en-US" sz="900" dirty="0"/>
          </a:p>
        </p:txBody>
      </p:sp>
      <p:sp>
        <p:nvSpPr>
          <p:cNvPr id="17" name="Shape 15"/>
          <p:cNvSpPr/>
          <p:nvPr/>
        </p:nvSpPr>
        <p:spPr>
          <a:xfrm>
            <a:off x="6178144" y="1554480"/>
            <a:ext cx="2695880" cy="2240280"/>
          </a:xfrm>
          <a:prstGeom prst="rect">
            <a:avLst/>
          </a:prstGeom>
          <a:solidFill>
            <a:srgbClr val="131A35"/>
          </a:solidFill>
          <a:ln w="9525">
            <a:solidFill>
              <a:srgbClr val="1E2D5A"/>
            </a:solidFill>
            <a:prstDash val="solid"/>
          </a:ln>
        </p:spPr>
        <p:txBody>
          <a:bodyPr/>
          <a:lstStyle/>
          <a:p>
            <a:endParaRPr lang="en-US"/>
          </a:p>
        </p:txBody>
      </p:sp>
      <p:sp>
        <p:nvSpPr>
          <p:cNvPr id="18" name="Shape 16"/>
          <p:cNvSpPr/>
          <p:nvPr/>
        </p:nvSpPr>
        <p:spPr>
          <a:xfrm>
            <a:off x="6178144" y="1554480"/>
            <a:ext cx="73152" cy="2240280"/>
          </a:xfrm>
          <a:prstGeom prst="rect">
            <a:avLst/>
          </a:prstGeom>
          <a:solidFill>
            <a:srgbClr val="818CF8"/>
          </a:solidFill>
          <a:ln w="12700">
            <a:solidFill>
              <a:srgbClr val="818CF8"/>
            </a:solidFill>
            <a:prstDash val="solid"/>
          </a:ln>
        </p:spPr>
        <p:txBody>
          <a:bodyPr/>
          <a:lstStyle/>
          <a:p>
            <a:endParaRPr lang="en-US"/>
          </a:p>
        </p:txBody>
      </p:sp>
      <p:sp>
        <p:nvSpPr>
          <p:cNvPr id="19" name="Text 17"/>
          <p:cNvSpPr/>
          <p:nvPr/>
        </p:nvSpPr>
        <p:spPr>
          <a:xfrm>
            <a:off x="6361024" y="1664208"/>
            <a:ext cx="640080" cy="365760"/>
          </a:xfrm>
          <a:prstGeom prst="rect">
            <a:avLst/>
          </a:prstGeom>
          <a:noFill/>
          <a:ln/>
        </p:spPr>
        <p:txBody>
          <a:bodyPr wrap="square" lIns="0" tIns="0" rIns="0" bIns="0" rtlCol="0" anchor="ctr"/>
          <a:lstStyle/>
          <a:p>
            <a:pPr marL="0" indent="0">
              <a:buNone/>
            </a:pPr>
            <a:r>
              <a:rPr lang="en-US" sz="1800" b="1" dirty="0">
                <a:solidFill>
                  <a:srgbClr val="818CF8"/>
                </a:solidFill>
                <a:latin typeface="Calibri" pitchFamily="34" charset="0"/>
                <a:ea typeface="Calibri" pitchFamily="34" charset="-122"/>
                <a:cs typeface="Calibri" pitchFamily="34" charset="-120"/>
              </a:rPr>
              <a:t>03</a:t>
            </a:r>
            <a:endParaRPr lang="en-US" sz="1800" dirty="0"/>
          </a:p>
        </p:txBody>
      </p:sp>
      <p:sp>
        <p:nvSpPr>
          <p:cNvPr id="20" name="Text 18"/>
          <p:cNvSpPr/>
          <p:nvPr/>
        </p:nvSpPr>
        <p:spPr>
          <a:xfrm>
            <a:off x="6361024" y="2057400"/>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What's your conditional-cert / reassessment policy if we fail?</a:t>
            </a:r>
            <a:endParaRPr lang="en-US" sz="1100" dirty="0"/>
          </a:p>
        </p:txBody>
      </p:sp>
      <p:sp>
        <p:nvSpPr>
          <p:cNvPr id="21" name="Text 19"/>
          <p:cNvSpPr/>
          <p:nvPr/>
        </p:nvSpPr>
        <p:spPr>
          <a:xfrm>
            <a:off x="6361024" y="2880360"/>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22" name="Text 20"/>
          <p:cNvSpPr/>
          <p:nvPr/>
        </p:nvSpPr>
        <p:spPr>
          <a:xfrm>
            <a:off x="6361024" y="3081528"/>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Some include the 180-day re-check in the base price. Others charge it as a new assessment. Material to budgeting.</a:t>
            </a:r>
            <a:endParaRPr lang="en-US" sz="900" dirty="0"/>
          </a:p>
        </p:txBody>
      </p:sp>
      <p:sp>
        <p:nvSpPr>
          <p:cNvPr id="23" name="Shape 21"/>
          <p:cNvSpPr/>
          <p:nvPr/>
        </p:nvSpPr>
        <p:spPr>
          <a:xfrm>
            <a:off x="9038615" y="1554480"/>
            <a:ext cx="2695880" cy="2240280"/>
          </a:xfrm>
          <a:prstGeom prst="rect">
            <a:avLst/>
          </a:prstGeom>
          <a:solidFill>
            <a:srgbClr val="131A35"/>
          </a:solidFill>
          <a:ln w="9525">
            <a:solidFill>
              <a:srgbClr val="1E2D5A"/>
            </a:solidFill>
            <a:prstDash val="solid"/>
          </a:ln>
        </p:spPr>
        <p:txBody>
          <a:bodyPr/>
          <a:lstStyle/>
          <a:p>
            <a:endParaRPr lang="en-US"/>
          </a:p>
        </p:txBody>
      </p:sp>
      <p:sp>
        <p:nvSpPr>
          <p:cNvPr id="24" name="Shape 22"/>
          <p:cNvSpPr/>
          <p:nvPr/>
        </p:nvSpPr>
        <p:spPr>
          <a:xfrm>
            <a:off x="9038615" y="1554480"/>
            <a:ext cx="73152" cy="2240280"/>
          </a:xfrm>
          <a:prstGeom prst="rect">
            <a:avLst/>
          </a:prstGeom>
          <a:solidFill>
            <a:srgbClr val="06B6D4"/>
          </a:solidFill>
          <a:ln w="12700">
            <a:solidFill>
              <a:srgbClr val="06B6D4"/>
            </a:solidFill>
            <a:prstDash val="solid"/>
          </a:ln>
        </p:spPr>
        <p:txBody>
          <a:bodyPr/>
          <a:lstStyle/>
          <a:p>
            <a:endParaRPr lang="en-US"/>
          </a:p>
        </p:txBody>
      </p:sp>
      <p:sp>
        <p:nvSpPr>
          <p:cNvPr id="25" name="Text 23"/>
          <p:cNvSpPr/>
          <p:nvPr/>
        </p:nvSpPr>
        <p:spPr>
          <a:xfrm>
            <a:off x="9221495" y="1664208"/>
            <a:ext cx="640080" cy="365760"/>
          </a:xfrm>
          <a:prstGeom prst="rect">
            <a:avLst/>
          </a:prstGeom>
          <a:noFill/>
          <a:ln/>
        </p:spPr>
        <p:txBody>
          <a:bodyPr wrap="square" lIns="0" tIns="0" rIns="0" bIns="0" rtlCol="0" anchor="ctr"/>
          <a:lstStyle/>
          <a:p>
            <a:pPr marL="0" indent="0">
              <a:buNone/>
            </a:pPr>
            <a:r>
              <a:rPr lang="en-US" sz="1800" b="1" dirty="0">
                <a:solidFill>
                  <a:srgbClr val="06B6D4"/>
                </a:solidFill>
                <a:latin typeface="Calibri" pitchFamily="34" charset="0"/>
                <a:ea typeface="Calibri" pitchFamily="34" charset="-122"/>
                <a:cs typeface="Calibri" pitchFamily="34" charset="-120"/>
              </a:rPr>
              <a:t>04</a:t>
            </a:r>
            <a:endParaRPr lang="en-US" sz="1800" dirty="0"/>
          </a:p>
        </p:txBody>
      </p:sp>
      <p:sp>
        <p:nvSpPr>
          <p:cNvPr id="26" name="Text 24"/>
          <p:cNvSpPr/>
          <p:nvPr/>
        </p:nvSpPr>
        <p:spPr>
          <a:xfrm>
            <a:off x="9221495" y="2057400"/>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Do you bring sector expertise relevant to us?</a:t>
            </a:r>
            <a:endParaRPr lang="en-US" sz="1100" dirty="0"/>
          </a:p>
        </p:txBody>
      </p:sp>
      <p:sp>
        <p:nvSpPr>
          <p:cNvPr id="27" name="Text 25"/>
          <p:cNvSpPr/>
          <p:nvPr/>
        </p:nvSpPr>
        <p:spPr>
          <a:xfrm>
            <a:off x="9221495" y="2880360"/>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28" name="Text 26"/>
          <p:cNvSpPr/>
          <p:nvPr/>
        </p:nvSpPr>
        <p:spPr>
          <a:xfrm>
            <a:off x="9221495" y="3081528"/>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Manufacturing, software, professional services, healthcare-adjacent: assessors specializing in your sector understand context faster.</a:t>
            </a:r>
            <a:endParaRPr lang="en-US" sz="900" dirty="0"/>
          </a:p>
        </p:txBody>
      </p:sp>
      <p:sp>
        <p:nvSpPr>
          <p:cNvPr id="29" name="Shape 27"/>
          <p:cNvSpPr/>
          <p:nvPr/>
        </p:nvSpPr>
        <p:spPr>
          <a:xfrm>
            <a:off x="457200" y="3959352"/>
            <a:ext cx="2695880" cy="2240280"/>
          </a:xfrm>
          <a:prstGeom prst="rect">
            <a:avLst/>
          </a:prstGeom>
          <a:solidFill>
            <a:srgbClr val="131A35"/>
          </a:solidFill>
          <a:ln w="9525">
            <a:solidFill>
              <a:srgbClr val="1E2D5A"/>
            </a:solidFill>
            <a:prstDash val="solid"/>
          </a:ln>
        </p:spPr>
        <p:txBody>
          <a:bodyPr/>
          <a:lstStyle/>
          <a:p>
            <a:endParaRPr lang="en-US"/>
          </a:p>
        </p:txBody>
      </p:sp>
      <p:sp>
        <p:nvSpPr>
          <p:cNvPr id="30" name="Shape 28"/>
          <p:cNvSpPr/>
          <p:nvPr/>
        </p:nvSpPr>
        <p:spPr>
          <a:xfrm>
            <a:off x="457200" y="3959352"/>
            <a:ext cx="73152" cy="2240280"/>
          </a:xfrm>
          <a:prstGeom prst="rect">
            <a:avLst/>
          </a:prstGeom>
          <a:solidFill>
            <a:srgbClr val="38BDF8"/>
          </a:solidFill>
          <a:ln w="12700">
            <a:solidFill>
              <a:srgbClr val="38BDF8"/>
            </a:solidFill>
            <a:prstDash val="solid"/>
          </a:ln>
        </p:spPr>
        <p:txBody>
          <a:bodyPr/>
          <a:lstStyle/>
          <a:p>
            <a:endParaRPr lang="en-US"/>
          </a:p>
        </p:txBody>
      </p:sp>
      <p:sp>
        <p:nvSpPr>
          <p:cNvPr id="31" name="Text 29"/>
          <p:cNvSpPr/>
          <p:nvPr/>
        </p:nvSpPr>
        <p:spPr>
          <a:xfrm>
            <a:off x="640080" y="4069080"/>
            <a:ext cx="640080" cy="365760"/>
          </a:xfrm>
          <a:prstGeom prst="rect">
            <a:avLst/>
          </a:prstGeom>
          <a:noFill/>
          <a:ln/>
        </p:spPr>
        <p:txBody>
          <a:bodyPr wrap="square" lIns="0" tIns="0" rIns="0" bIns="0" rtlCol="0" anchor="ctr"/>
          <a:lstStyle/>
          <a:p>
            <a:pPr marL="0" indent="0">
              <a:buNone/>
            </a:pPr>
            <a:r>
              <a:rPr lang="en-US" sz="1800" b="1" dirty="0">
                <a:solidFill>
                  <a:srgbClr val="38BDF8"/>
                </a:solidFill>
                <a:latin typeface="Calibri" pitchFamily="34" charset="0"/>
                <a:ea typeface="Calibri" pitchFamily="34" charset="-122"/>
                <a:cs typeface="Calibri" pitchFamily="34" charset="-120"/>
              </a:rPr>
              <a:t>05</a:t>
            </a:r>
            <a:endParaRPr lang="en-US" sz="1800" dirty="0"/>
          </a:p>
        </p:txBody>
      </p:sp>
      <p:sp>
        <p:nvSpPr>
          <p:cNvPr id="32" name="Text 30"/>
          <p:cNvSpPr/>
          <p:nvPr/>
        </p:nvSpPr>
        <p:spPr>
          <a:xfrm>
            <a:off x="640080" y="4462272"/>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Where do your assessors physically work from?</a:t>
            </a:r>
            <a:endParaRPr lang="en-US" sz="1100" dirty="0"/>
          </a:p>
        </p:txBody>
      </p:sp>
      <p:sp>
        <p:nvSpPr>
          <p:cNvPr id="33" name="Text 31"/>
          <p:cNvSpPr/>
          <p:nvPr/>
        </p:nvSpPr>
        <p:spPr>
          <a:xfrm>
            <a:off x="640080" y="5285232"/>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34" name="Text 32"/>
          <p:cNvSpPr/>
          <p:nvPr/>
        </p:nvSpPr>
        <p:spPr>
          <a:xfrm>
            <a:off x="640080" y="5486400"/>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Travel costs are billable. A local assessor team can save thousands. Some assessments are partially virtual; ask the policy.</a:t>
            </a:r>
            <a:endParaRPr lang="en-US" sz="900" dirty="0"/>
          </a:p>
        </p:txBody>
      </p:sp>
      <p:sp>
        <p:nvSpPr>
          <p:cNvPr id="35" name="Shape 33"/>
          <p:cNvSpPr/>
          <p:nvPr/>
        </p:nvSpPr>
        <p:spPr>
          <a:xfrm>
            <a:off x="3317672" y="3959352"/>
            <a:ext cx="2695880" cy="2240280"/>
          </a:xfrm>
          <a:prstGeom prst="rect">
            <a:avLst/>
          </a:prstGeom>
          <a:solidFill>
            <a:srgbClr val="131A35"/>
          </a:solidFill>
          <a:ln w="9525">
            <a:solidFill>
              <a:srgbClr val="1E2D5A"/>
            </a:solidFill>
            <a:prstDash val="solid"/>
          </a:ln>
        </p:spPr>
        <p:txBody>
          <a:bodyPr/>
          <a:lstStyle/>
          <a:p>
            <a:endParaRPr lang="en-US"/>
          </a:p>
        </p:txBody>
      </p:sp>
      <p:sp>
        <p:nvSpPr>
          <p:cNvPr id="36" name="Shape 34"/>
          <p:cNvSpPr/>
          <p:nvPr/>
        </p:nvSpPr>
        <p:spPr>
          <a:xfrm>
            <a:off x="3317672" y="3959352"/>
            <a:ext cx="73152" cy="2240280"/>
          </a:xfrm>
          <a:prstGeom prst="rect">
            <a:avLst/>
          </a:prstGeom>
          <a:solidFill>
            <a:srgbClr val="60A5FA"/>
          </a:solidFill>
          <a:ln w="12700">
            <a:solidFill>
              <a:srgbClr val="60A5FA"/>
            </a:solidFill>
            <a:prstDash val="solid"/>
          </a:ln>
        </p:spPr>
        <p:txBody>
          <a:bodyPr/>
          <a:lstStyle/>
          <a:p>
            <a:endParaRPr lang="en-US"/>
          </a:p>
        </p:txBody>
      </p:sp>
      <p:sp>
        <p:nvSpPr>
          <p:cNvPr id="37" name="Text 35"/>
          <p:cNvSpPr/>
          <p:nvPr/>
        </p:nvSpPr>
        <p:spPr>
          <a:xfrm>
            <a:off x="3500552" y="4069080"/>
            <a:ext cx="640080" cy="365760"/>
          </a:xfrm>
          <a:prstGeom prst="rect">
            <a:avLst/>
          </a:prstGeom>
          <a:noFill/>
          <a:ln/>
        </p:spPr>
        <p:txBody>
          <a:bodyPr wrap="square" lIns="0" tIns="0" rIns="0" bIns="0" rtlCol="0" anchor="ctr"/>
          <a:lstStyle/>
          <a:p>
            <a:pPr marL="0" indent="0">
              <a:buNone/>
            </a:pPr>
            <a:r>
              <a:rPr lang="en-US" sz="1800" b="1" dirty="0">
                <a:solidFill>
                  <a:srgbClr val="60A5FA"/>
                </a:solidFill>
                <a:latin typeface="Calibri" pitchFamily="34" charset="0"/>
                <a:ea typeface="Calibri" pitchFamily="34" charset="-122"/>
                <a:cs typeface="Calibri" pitchFamily="34" charset="-120"/>
              </a:rPr>
              <a:t>06</a:t>
            </a:r>
            <a:endParaRPr lang="en-US" sz="1800" dirty="0"/>
          </a:p>
        </p:txBody>
      </p:sp>
      <p:sp>
        <p:nvSpPr>
          <p:cNvPr id="38" name="Text 36"/>
          <p:cNvSpPr/>
          <p:nvPr/>
        </p:nvSpPr>
        <p:spPr>
          <a:xfrm>
            <a:off x="3500552" y="4462272"/>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What is NOT included in your quoted price?</a:t>
            </a:r>
            <a:endParaRPr lang="en-US" sz="1100" dirty="0"/>
          </a:p>
        </p:txBody>
      </p:sp>
      <p:sp>
        <p:nvSpPr>
          <p:cNvPr id="39" name="Text 37"/>
          <p:cNvSpPr/>
          <p:nvPr/>
        </p:nvSpPr>
        <p:spPr>
          <a:xfrm>
            <a:off x="3500552" y="5285232"/>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40" name="Text 38"/>
          <p:cNvSpPr/>
          <p:nvPr/>
        </p:nvSpPr>
        <p:spPr>
          <a:xfrm>
            <a:off x="3500552" y="5486400"/>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Travel, T&amp;L, re-assessment, scope expansion, evidence-package review, post-assessment Q&amp;A. Pin these down up front.</a:t>
            </a:r>
            <a:endParaRPr lang="en-US" sz="900" dirty="0"/>
          </a:p>
        </p:txBody>
      </p:sp>
      <p:sp>
        <p:nvSpPr>
          <p:cNvPr id="41" name="Shape 39"/>
          <p:cNvSpPr/>
          <p:nvPr/>
        </p:nvSpPr>
        <p:spPr>
          <a:xfrm>
            <a:off x="6178144" y="3959352"/>
            <a:ext cx="2695880" cy="2240280"/>
          </a:xfrm>
          <a:prstGeom prst="rect">
            <a:avLst/>
          </a:prstGeom>
          <a:solidFill>
            <a:srgbClr val="131A35"/>
          </a:solidFill>
          <a:ln w="9525">
            <a:solidFill>
              <a:srgbClr val="1E2D5A"/>
            </a:solidFill>
            <a:prstDash val="solid"/>
          </a:ln>
        </p:spPr>
        <p:txBody>
          <a:bodyPr/>
          <a:lstStyle/>
          <a:p>
            <a:endParaRPr lang="en-US"/>
          </a:p>
        </p:txBody>
      </p:sp>
      <p:sp>
        <p:nvSpPr>
          <p:cNvPr id="42" name="Shape 40"/>
          <p:cNvSpPr/>
          <p:nvPr/>
        </p:nvSpPr>
        <p:spPr>
          <a:xfrm>
            <a:off x="6178144" y="3959352"/>
            <a:ext cx="73152" cy="2240280"/>
          </a:xfrm>
          <a:prstGeom prst="rect">
            <a:avLst/>
          </a:prstGeom>
          <a:solidFill>
            <a:srgbClr val="818CF8"/>
          </a:solidFill>
          <a:ln w="12700">
            <a:solidFill>
              <a:srgbClr val="818CF8"/>
            </a:solidFill>
            <a:prstDash val="solid"/>
          </a:ln>
        </p:spPr>
        <p:txBody>
          <a:bodyPr/>
          <a:lstStyle/>
          <a:p>
            <a:endParaRPr lang="en-US"/>
          </a:p>
        </p:txBody>
      </p:sp>
      <p:sp>
        <p:nvSpPr>
          <p:cNvPr id="43" name="Text 41"/>
          <p:cNvSpPr/>
          <p:nvPr/>
        </p:nvSpPr>
        <p:spPr>
          <a:xfrm>
            <a:off x="6361024" y="4069080"/>
            <a:ext cx="640080" cy="365760"/>
          </a:xfrm>
          <a:prstGeom prst="rect">
            <a:avLst/>
          </a:prstGeom>
          <a:noFill/>
          <a:ln/>
        </p:spPr>
        <p:txBody>
          <a:bodyPr wrap="square" lIns="0" tIns="0" rIns="0" bIns="0" rtlCol="0" anchor="ctr"/>
          <a:lstStyle/>
          <a:p>
            <a:pPr marL="0" indent="0">
              <a:buNone/>
            </a:pPr>
            <a:r>
              <a:rPr lang="en-US" sz="1800" b="1" dirty="0">
                <a:solidFill>
                  <a:srgbClr val="818CF8"/>
                </a:solidFill>
                <a:latin typeface="Calibri" pitchFamily="34" charset="0"/>
                <a:ea typeface="Calibri" pitchFamily="34" charset="-122"/>
                <a:cs typeface="Calibri" pitchFamily="34" charset="-120"/>
              </a:rPr>
              <a:t>07</a:t>
            </a:r>
            <a:endParaRPr lang="en-US" sz="1800" dirty="0"/>
          </a:p>
        </p:txBody>
      </p:sp>
      <p:sp>
        <p:nvSpPr>
          <p:cNvPr id="44" name="Text 42"/>
          <p:cNvSpPr/>
          <p:nvPr/>
        </p:nvSpPr>
        <p:spPr>
          <a:xfrm>
            <a:off x="6361024" y="4462272"/>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How do you handle scope changes mid-assessment?</a:t>
            </a:r>
            <a:endParaRPr lang="en-US" sz="1100" dirty="0"/>
          </a:p>
        </p:txBody>
      </p:sp>
      <p:sp>
        <p:nvSpPr>
          <p:cNvPr id="45" name="Text 43"/>
          <p:cNvSpPr/>
          <p:nvPr/>
        </p:nvSpPr>
        <p:spPr>
          <a:xfrm>
            <a:off x="6361024" y="5285232"/>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46" name="Text 44"/>
          <p:cNvSpPr/>
          <p:nvPr/>
        </p:nvSpPr>
        <p:spPr>
          <a:xfrm>
            <a:off x="6361024" y="5486400"/>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If your environment shifts during the assessment, what's the change-order process? What triggers a re-quote?</a:t>
            </a:r>
            <a:endParaRPr lang="en-US" sz="900" dirty="0"/>
          </a:p>
        </p:txBody>
      </p:sp>
      <p:sp>
        <p:nvSpPr>
          <p:cNvPr id="47" name="Shape 45"/>
          <p:cNvSpPr/>
          <p:nvPr/>
        </p:nvSpPr>
        <p:spPr>
          <a:xfrm>
            <a:off x="9038615" y="3959352"/>
            <a:ext cx="2695880" cy="2240280"/>
          </a:xfrm>
          <a:prstGeom prst="rect">
            <a:avLst/>
          </a:prstGeom>
          <a:solidFill>
            <a:srgbClr val="131A35"/>
          </a:solidFill>
          <a:ln w="9525">
            <a:solidFill>
              <a:srgbClr val="1E2D5A"/>
            </a:solidFill>
            <a:prstDash val="solid"/>
          </a:ln>
        </p:spPr>
        <p:txBody>
          <a:bodyPr/>
          <a:lstStyle/>
          <a:p>
            <a:endParaRPr lang="en-US"/>
          </a:p>
        </p:txBody>
      </p:sp>
      <p:sp>
        <p:nvSpPr>
          <p:cNvPr id="48" name="Shape 46"/>
          <p:cNvSpPr/>
          <p:nvPr/>
        </p:nvSpPr>
        <p:spPr>
          <a:xfrm>
            <a:off x="9038615" y="3959352"/>
            <a:ext cx="73152" cy="2240280"/>
          </a:xfrm>
          <a:prstGeom prst="rect">
            <a:avLst/>
          </a:prstGeom>
          <a:solidFill>
            <a:srgbClr val="06B6D4"/>
          </a:solidFill>
          <a:ln w="12700">
            <a:solidFill>
              <a:srgbClr val="06B6D4"/>
            </a:solidFill>
            <a:prstDash val="solid"/>
          </a:ln>
        </p:spPr>
        <p:txBody>
          <a:bodyPr/>
          <a:lstStyle/>
          <a:p>
            <a:endParaRPr lang="en-US"/>
          </a:p>
        </p:txBody>
      </p:sp>
      <p:sp>
        <p:nvSpPr>
          <p:cNvPr id="49" name="Text 47"/>
          <p:cNvSpPr/>
          <p:nvPr/>
        </p:nvSpPr>
        <p:spPr>
          <a:xfrm>
            <a:off x="9221495" y="4069080"/>
            <a:ext cx="640080" cy="365760"/>
          </a:xfrm>
          <a:prstGeom prst="rect">
            <a:avLst/>
          </a:prstGeom>
          <a:noFill/>
          <a:ln/>
        </p:spPr>
        <p:txBody>
          <a:bodyPr wrap="square" lIns="0" tIns="0" rIns="0" bIns="0" rtlCol="0" anchor="ctr"/>
          <a:lstStyle/>
          <a:p>
            <a:pPr marL="0" indent="0">
              <a:buNone/>
            </a:pPr>
            <a:r>
              <a:rPr lang="en-US" sz="1800" b="1" dirty="0">
                <a:solidFill>
                  <a:srgbClr val="06B6D4"/>
                </a:solidFill>
                <a:latin typeface="Calibri" pitchFamily="34" charset="0"/>
                <a:ea typeface="Calibri" pitchFamily="34" charset="-122"/>
                <a:cs typeface="Calibri" pitchFamily="34" charset="-120"/>
              </a:rPr>
              <a:t>08</a:t>
            </a:r>
            <a:endParaRPr lang="en-US" sz="1800" dirty="0"/>
          </a:p>
        </p:txBody>
      </p:sp>
      <p:sp>
        <p:nvSpPr>
          <p:cNvPr id="50" name="Text 48"/>
          <p:cNvSpPr/>
          <p:nvPr/>
        </p:nvSpPr>
        <p:spPr>
          <a:xfrm>
            <a:off x="9221495" y="4462272"/>
            <a:ext cx="2421560" cy="77724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Can you provide two references from SMB clients?</a:t>
            </a:r>
            <a:endParaRPr lang="en-US" sz="1100" dirty="0"/>
          </a:p>
        </p:txBody>
      </p:sp>
      <p:sp>
        <p:nvSpPr>
          <p:cNvPr id="51" name="Text 49"/>
          <p:cNvSpPr/>
          <p:nvPr/>
        </p:nvSpPr>
        <p:spPr>
          <a:xfrm>
            <a:off x="9221495" y="5285232"/>
            <a:ext cx="2421560" cy="201168"/>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WHY</a:t>
            </a:r>
            <a:endParaRPr lang="en-US" sz="800" dirty="0"/>
          </a:p>
        </p:txBody>
      </p:sp>
      <p:sp>
        <p:nvSpPr>
          <p:cNvPr id="52" name="Text 50"/>
          <p:cNvSpPr/>
          <p:nvPr/>
        </p:nvSpPr>
        <p:spPr>
          <a:xfrm>
            <a:off x="9221495" y="5486400"/>
            <a:ext cx="2421560" cy="685800"/>
          </a:xfrm>
          <a:prstGeom prst="rect">
            <a:avLst/>
          </a:prstGeom>
          <a:noFill/>
          <a:ln/>
        </p:spPr>
        <p:txBody>
          <a:bodyPr wrap="square" lIns="0" tIns="0" rIns="0" bIns="0" rtlCol="0" anchor="t"/>
          <a:lstStyle/>
          <a:p>
            <a:pPr marL="0" indent="0">
              <a:buNone/>
            </a:pPr>
            <a:r>
              <a:rPr lang="en-US" sz="900" dirty="0">
                <a:solidFill>
                  <a:srgbClr val="E2E8F0"/>
                </a:solidFill>
                <a:latin typeface="Calibri" pitchFamily="34" charset="0"/>
                <a:ea typeface="Calibri" pitchFamily="34" charset="-122"/>
                <a:cs typeface="Calibri" pitchFamily="34" charset="-120"/>
              </a:rPr>
              <a:t>Talk to them. Ask how the process actually felt. Ask what the C3PAO did well, what they didn't, and what they'd ask differently next time.</a:t>
            </a:r>
            <a:endParaRPr lang="en-US" sz="900" dirty="0"/>
          </a:p>
        </p:txBody>
      </p:sp>
      <p:sp>
        <p:nvSpPr>
          <p:cNvPr id="53" name="Shape 51"/>
          <p:cNvSpPr/>
          <p:nvPr/>
        </p:nvSpPr>
        <p:spPr>
          <a:xfrm>
            <a:off x="457200" y="5897880"/>
            <a:ext cx="11277295" cy="502920"/>
          </a:xfrm>
          <a:prstGeom prst="rect">
            <a:avLst/>
          </a:prstGeom>
          <a:solidFill>
            <a:srgbClr val="131A35"/>
          </a:solidFill>
          <a:ln w="9525">
            <a:solidFill>
              <a:srgbClr val="1E2D5A"/>
            </a:solidFill>
            <a:prstDash val="solid"/>
          </a:ln>
        </p:spPr>
        <p:txBody>
          <a:bodyPr/>
          <a:lstStyle/>
          <a:p>
            <a:endParaRPr lang="en-US"/>
          </a:p>
        </p:txBody>
      </p:sp>
      <p:sp>
        <p:nvSpPr>
          <p:cNvPr id="54" name="Shape 52"/>
          <p:cNvSpPr/>
          <p:nvPr/>
        </p:nvSpPr>
        <p:spPr>
          <a:xfrm>
            <a:off x="457200" y="5897880"/>
            <a:ext cx="73152" cy="502920"/>
          </a:xfrm>
          <a:prstGeom prst="rect">
            <a:avLst/>
          </a:prstGeom>
          <a:solidFill>
            <a:srgbClr val="EF4444"/>
          </a:solidFill>
          <a:ln w="12700">
            <a:solidFill>
              <a:srgbClr val="EF4444"/>
            </a:solidFill>
            <a:prstDash val="solid"/>
          </a:ln>
        </p:spPr>
        <p:txBody>
          <a:bodyPr/>
          <a:lstStyle/>
          <a:p>
            <a:endParaRPr lang="en-US"/>
          </a:p>
        </p:txBody>
      </p:sp>
      <p:sp>
        <p:nvSpPr>
          <p:cNvPr id="55" name="Text 53"/>
          <p:cNvSpPr/>
          <p:nvPr/>
        </p:nvSpPr>
        <p:spPr>
          <a:xfrm>
            <a:off x="685800" y="5971032"/>
            <a:ext cx="10911535" cy="228600"/>
          </a:xfrm>
          <a:prstGeom prst="rect">
            <a:avLst/>
          </a:prstGeom>
          <a:noFill/>
          <a:ln/>
        </p:spPr>
        <p:txBody>
          <a:bodyPr wrap="square" lIns="0" tIns="0" rIns="0" bIns="0" rtlCol="0" anchor="ctr"/>
          <a:lstStyle/>
          <a:p>
            <a:pPr marL="0" indent="0">
              <a:buNone/>
            </a:pPr>
            <a:r>
              <a:rPr lang="en-US" sz="1000" b="1" kern="0" spc="200" dirty="0">
                <a:solidFill>
                  <a:srgbClr val="EF4444"/>
                </a:solidFill>
                <a:latin typeface="Calibri" pitchFamily="34" charset="0"/>
                <a:ea typeface="Calibri" pitchFamily="34" charset="-122"/>
                <a:cs typeface="Calibri" pitchFamily="34" charset="-120"/>
              </a:rPr>
              <a:t>THE C3PAO MARKETPLACE</a:t>
            </a:r>
            <a:endParaRPr lang="en-US" sz="1000" dirty="0"/>
          </a:p>
        </p:txBody>
      </p:sp>
      <p:sp>
        <p:nvSpPr>
          <p:cNvPr id="56" name="Text 54"/>
          <p:cNvSpPr/>
          <p:nvPr/>
        </p:nvSpPr>
        <p:spPr>
          <a:xfrm>
            <a:off x="685800" y="6199632"/>
            <a:ext cx="10911535" cy="155448"/>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Authorized C3PAOs are listed at cyberab.org/marketplace. Always verify a firm is currently authorized, and ask for the names of the actual lead assessors who will be on your engagement.</a:t>
            </a:r>
            <a:endParaRPr lang="en-US" sz="1050" dirty="0"/>
          </a:p>
        </p:txBody>
      </p:sp>
      <p:sp>
        <p:nvSpPr>
          <p:cNvPr id="57" name="Shape 55"/>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58" name="Text 56"/>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59" name="Text 57"/>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19 / 23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Free &amp; Low-Cost Resources Before You Spend a Dime</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Many SMBs pay consultants for help that's available for free from official sources. Start here.</a:t>
            </a:r>
            <a:endParaRPr lang="en-US" sz="1300" dirty="0"/>
          </a:p>
        </p:txBody>
      </p:sp>
      <p:sp>
        <p:nvSpPr>
          <p:cNvPr id="5" name="Shape 3"/>
          <p:cNvSpPr/>
          <p:nvPr/>
        </p:nvSpPr>
        <p:spPr>
          <a:xfrm>
            <a:off x="457200" y="1508760"/>
            <a:ext cx="3649370" cy="210312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08760"/>
            <a:ext cx="3649370" cy="320040"/>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594360" y="1508760"/>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FREE</a:t>
            </a:r>
            <a:endParaRPr lang="en-US" sz="900" dirty="0"/>
          </a:p>
        </p:txBody>
      </p:sp>
      <p:sp>
        <p:nvSpPr>
          <p:cNvPr id="8" name="Text 6"/>
          <p:cNvSpPr/>
          <p:nvPr/>
        </p:nvSpPr>
        <p:spPr>
          <a:xfrm>
            <a:off x="640080" y="1920240"/>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Project Spectrum</a:t>
            </a:r>
            <a:endParaRPr lang="en-US" sz="1400" dirty="0"/>
          </a:p>
        </p:txBody>
      </p:sp>
      <p:sp>
        <p:nvSpPr>
          <p:cNvPr id="9" name="Text 7"/>
          <p:cNvSpPr/>
          <p:nvPr/>
        </p:nvSpPr>
        <p:spPr>
          <a:xfrm>
            <a:off x="640080" y="2331720"/>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DoD-funded cyber program for small business in the DIB.</a:t>
            </a:r>
            <a:endParaRPr lang="en-US" sz="950" dirty="0"/>
          </a:p>
        </p:txBody>
      </p:sp>
      <p:sp>
        <p:nvSpPr>
          <p:cNvPr id="10" name="Text 8"/>
          <p:cNvSpPr/>
          <p:nvPr/>
        </p:nvSpPr>
        <p:spPr>
          <a:xfrm>
            <a:off x="640080" y="2788920"/>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11" name="Text 9"/>
          <p:cNvSpPr/>
          <p:nvPr/>
        </p:nvSpPr>
        <p:spPr>
          <a:xfrm>
            <a:off x="640080" y="2971800"/>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Free self-assessment tools, training, advisor consultations. Maturity model walks you through 800-171.</a:t>
            </a:r>
            <a:endParaRPr lang="en-US" sz="950" dirty="0"/>
          </a:p>
        </p:txBody>
      </p:sp>
      <p:sp>
        <p:nvSpPr>
          <p:cNvPr id="12" name="Text 10"/>
          <p:cNvSpPr/>
          <p:nvPr/>
        </p:nvSpPr>
        <p:spPr>
          <a:xfrm>
            <a:off x="640080" y="3337560"/>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projectspectrum.io</a:t>
            </a:r>
            <a:endParaRPr lang="en-US" sz="950" dirty="0"/>
          </a:p>
        </p:txBody>
      </p:sp>
      <p:sp>
        <p:nvSpPr>
          <p:cNvPr id="13" name="Shape 11"/>
          <p:cNvSpPr/>
          <p:nvPr/>
        </p:nvSpPr>
        <p:spPr>
          <a:xfrm>
            <a:off x="4271162" y="1508760"/>
            <a:ext cx="3649370" cy="2103120"/>
          </a:xfrm>
          <a:prstGeom prst="rect">
            <a:avLst/>
          </a:prstGeom>
          <a:solidFill>
            <a:srgbClr val="131A35"/>
          </a:solidFill>
          <a:ln w="9525">
            <a:solidFill>
              <a:srgbClr val="1E2D5A"/>
            </a:solidFill>
            <a:prstDash val="solid"/>
          </a:ln>
        </p:spPr>
        <p:txBody>
          <a:bodyPr/>
          <a:lstStyle/>
          <a:p>
            <a:endParaRPr lang="en-US"/>
          </a:p>
        </p:txBody>
      </p:sp>
      <p:sp>
        <p:nvSpPr>
          <p:cNvPr id="14" name="Shape 12"/>
          <p:cNvSpPr/>
          <p:nvPr/>
        </p:nvSpPr>
        <p:spPr>
          <a:xfrm>
            <a:off x="4271162" y="1508760"/>
            <a:ext cx="3649370" cy="320040"/>
          </a:xfrm>
          <a:prstGeom prst="rect">
            <a:avLst/>
          </a:prstGeom>
          <a:solidFill>
            <a:srgbClr val="10B981"/>
          </a:solidFill>
          <a:ln w="12700">
            <a:solidFill>
              <a:srgbClr val="10B981"/>
            </a:solidFill>
            <a:prstDash val="solid"/>
          </a:ln>
        </p:spPr>
        <p:txBody>
          <a:bodyPr/>
          <a:lstStyle/>
          <a:p>
            <a:endParaRPr lang="en-US"/>
          </a:p>
        </p:txBody>
      </p:sp>
      <p:sp>
        <p:nvSpPr>
          <p:cNvPr id="15" name="Text 13"/>
          <p:cNvSpPr/>
          <p:nvPr/>
        </p:nvSpPr>
        <p:spPr>
          <a:xfrm>
            <a:off x="4408322" y="1508760"/>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FREE</a:t>
            </a:r>
            <a:endParaRPr lang="en-US" sz="900" dirty="0"/>
          </a:p>
        </p:txBody>
      </p:sp>
      <p:sp>
        <p:nvSpPr>
          <p:cNvPr id="16" name="Text 14"/>
          <p:cNvSpPr/>
          <p:nvPr/>
        </p:nvSpPr>
        <p:spPr>
          <a:xfrm>
            <a:off x="4454042" y="1920240"/>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APEX Accelerators</a:t>
            </a:r>
            <a:endParaRPr lang="en-US" sz="1400" dirty="0"/>
          </a:p>
        </p:txBody>
      </p:sp>
      <p:sp>
        <p:nvSpPr>
          <p:cNvPr id="17" name="Text 15"/>
          <p:cNvSpPr/>
          <p:nvPr/>
        </p:nvSpPr>
        <p:spPr>
          <a:xfrm>
            <a:off x="4454042" y="2331720"/>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State-level government contracting help (formerly PTACs).</a:t>
            </a:r>
            <a:endParaRPr lang="en-US" sz="950" dirty="0"/>
          </a:p>
        </p:txBody>
      </p:sp>
      <p:sp>
        <p:nvSpPr>
          <p:cNvPr id="18" name="Text 16"/>
          <p:cNvSpPr/>
          <p:nvPr/>
        </p:nvSpPr>
        <p:spPr>
          <a:xfrm>
            <a:off x="4454042" y="2788920"/>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19" name="Text 17"/>
          <p:cNvSpPr/>
          <p:nvPr/>
        </p:nvSpPr>
        <p:spPr>
          <a:xfrm>
            <a:off x="4454042" y="2971800"/>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Free guidance on DoD contract clauses, CMMC primers, SAM.gov / CAGE code / SPRS setup help, contract review.</a:t>
            </a:r>
            <a:endParaRPr lang="en-US" sz="950" dirty="0"/>
          </a:p>
        </p:txBody>
      </p:sp>
      <p:sp>
        <p:nvSpPr>
          <p:cNvPr id="20" name="Text 18"/>
          <p:cNvSpPr/>
          <p:nvPr/>
        </p:nvSpPr>
        <p:spPr>
          <a:xfrm>
            <a:off x="4454042" y="3337560"/>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apexaccelerators.us</a:t>
            </a:r>
            <a:endParaRPr lang="en-US" sz="950" dirty="0"/>
          </a:p>
        </p:txBody>
      </p:sp>
      <p:sp>
        <p:nvSpPr>
          <p:cNvPr id="21" name="Shape 19"/>
          <p:cNvSpPr/>
          <p:nvPr/>
        </p:nvSpPr>
        <p:spPr>
          <a:xfrm>
            <a:off x="8085125" y="1508760"/>
            <a:ext cx="3649370" cy="2103120"/>
          </a:xfrm>
          <a:prstGeom prst="rect">
            <a:avLst/>
          </a:prstGeom>
          <a:solidFill>
            <a:srgbClr val="131A35"/>
          </a:solidFill>
          <a:ln w="9525">
            <a:solidFill>
              <a:srgbClr val="1E2D5A"/>
            </a:solidFill>
            <a:prstDash val="solid"/>
          </a:ln>
        </p:spPr>
        <p:txBody>
          <a:bodyPr/>
          <a:lstStyle/>
          <a:p>
            <a:endParaRPr lang="en-US"/>
          </a:p>
        </p:txBody>
      </p:sp>
      <p:sp>
        <p:nvSpPr>
          <p:cNvPr id="22" name="Shape 20"/>
          <p:cNvSpPr/>
          <p:nvPr/>
        </p:nvSpPr>
        <p:spPr>
          <a:xfrm>
            <a:off x="8085125" y="1508760"/>
            <a:ext cx="3649370" cy="320040"/>
          </a:xfrm>
          <a:prstGeom prst="rect">
            <a:avLst/>
          </a:prstGeom>
          <a:solidFill>
            <a:srgbClr val="10B981"/>
          </a:solidFill>
          <a:ln w="12700">
            <a:solidFill>
              <a:srgbClr val="10B981"/>
            </a:solidFill>
            <a:prstDash val="solid"/>
          </a:ln>
        </p:spPr>
        <p:txBody>
          <a:bodyPr/>
          <a:lstStyle/>
          <a:p>
            <a:endParaRPr lang="en-US"/>
          </a:p>
        </p:txBody>
      </p:sp>
      <p:sp>
        <p:nvSpPr>
          <p:cNvPr id="23" name="Text 21"/>
          <p:cNvSpPr/>
          <p:nvPr/>
        </p:nvSpPr>
        <p:spPr>
          <a:xfrm>
            <a:off x="8222285" y="1508760"/>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FREE</a:t>
            </a:r>
            <a:endParaRPr lang="en-US" sz="900" dirty="0"/>
          </a:p>
        </p:txBody>
      </p:sp>
      <p:sp>
        <p:nvSpPr>
          <p:cNvPr id="24" name="Text 22"/>
          <p:cNvSpPr/>
          <p:nvPr/>
        </p:nvSpPr>
        <p:spPr>
          <a:xfrm>
            <a:off x="8268005" y="1920240"/>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NIST MEP Cyber Assessments</a:t>
            </a:r>
            <a:endParaRPr lang="en-US" sz="1400" dirty="0"/>
          </a:p>
        </p:txBody>
      </p:sp>
      <p:sp>
        <p:nvSpPr>
          <p:cNvPr id="25" name="Text 23"/>
          <p:cNvSpPr/>
          <p:nvPr/>
        </p:nvSpPr>
        <p:spPr>
          <a:xfrm>
            <a:off x="8268005" y="2331720"/>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Manufacturing Extension Partnership. Every state has a center.</a:t>
            </a:r>
            <a:endParaRPr lang="en-US" sz="950" dirty="0"/>
          </a:p>
        </p:txBody>
      </p:sp>
      <p:sp>
        <p:nvSpPr>
          <p:cNvPr id="26" name="Text 24"/>
          <p:cNvSpPr/>
          <p:nvPr/>
        </p:nvSpPr>
        <p:spPr>
          <a:xfrm>
            <a:off x="8268005" y="2788920"/>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27" name="Text 25"/>
          <p:cNvSpPr/>
          <p:nvPr/>
        </p:nvSpPr>
        <p:spPr>
          <a:xfrm>
            <a:off x="8268005" y="2971800"/>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Subsidized cyber assessments for manufacturers. Some states offer free 800-171 gap reviews.</a:t>
            </a:r>
            <a:endParaRPr lang="en-US" sz="950" dirty="0"/>
          </a:p>
        </p:txBody>
      </p:sp>
      <p:sp>
        <p:nvSpPr>
          <p:cNvPr id="28" name="Text 26"/>
          <p:cNvSpPr/>
          <p:nvPr/>
        </p:nvSpPr>
        <p:spPr>
          <a:xfrm>
            <a:off x="8268005" y="3337560"/>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nist.gov/mep</a:t>
            </a:r>
            <a:endParaRPr lang="en-US" sz="950" dirty="0"/>
          </a:p>
        </p:txBody>
      </p:sp>
      <p:sp>
        <p:nvSpPr>
          <p:cNvPr id="29" name="Shape 27"/>
          <p:cNvSpPr/>
          <p:nvPr/>
        </p:nvSpPr>
        <p:spPr>
          <a:xfrm>
            <a:off x="457200" y="3776472"/>
            <a:ext cx="3649370" cy="2103120"/>
          </a:xfrm>
          <a:prstGeom prst="rect">
            <a:avLst/>
          </a:prstGeom>
          <a:solidFill>
            <a:srgbClr val="131A35"/>
          </a:solidFill>
          <a:ln w="9525">
            <a:solidFill>
              <a:srgbClr val="1E2D5A"/>
            </a:solidFill>
            <a:prstDash val="solid"/>
          </a:ln>
        </p:spPr>
        <p:txBody>
          <a:bodyPr/>
          <a:lstStyle/>
          <a:p>
            <a:endParaRPr lang="en-US"/>
          </a:p>
        </p:txBody>
      </p:sp>
      <p:sp>
        <p:nvSpPr>
          <p:cNvPr id="30" name="Shape 28"/>
          <p:cNvSpPr/>
          <p:nvPr/>
        </p:nvSpPr>
        <p:spPr>
          <a:xfrm>
            <a:off x="457200" y="3776472"/>
            <a:ext cx="3649370" cy="320040"/>
          </a:xfrm>
          <a:prstGeom prst="rect">
            <a:avLst/>
          </a:prstGeom>
          <a:solidFill>
            <a:srgbClr val="10B981"/>
          </a:solidFill>
          <a:ln w="12700">
            <a:solidFill>
              <a:srgbClr val="10B981"/>
            </a:solidFill>
            <a:prstDash val="solid"/>
          </a:ln>
        </p:spPr>
        <p:txBody>
          <a:bodyPr/>
          <a:lstStyle/>
          <a:p>
            <a:endParaRPr lang="en-US"/>
          </a:p>
        </p:txBody>
      </p:sp>
      <p:sp>
        <p:nvSpPr>
          <p:cNvPr id="31" name="Text 29"/>
          <p:cNvSpPr/>
          <p:nvPr/>
        </p:nvSpPr>
        <p:spPr>
          <a:xfrm>
            <a:off x="594360" y="3776472"/>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FREE</a:t>
            </a:r>
            <a:endParaRPr lang="en-US" sz="900" dirty="0"/>
          </a:p>
        </p:txBody>
      </p:sp>
      <p:sp>
        <p:nvSpPr>
          <p:cNvPr id="32" name="Text 30"/>
          <p:cNvSpPr/>
          <p:nvPr/>
        </p:nvSpPr>
        <p:spPr>
          <a:xfrm>
            <a:off x="640080" y="4187952"/>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DoD CMMC Assessment Guides</a:t>
            </a:r>
            <a:endParaRPr lang="en-US" sz="1400" dirty="0"/>
          </a:p>
        </p:txBody>
      </p:sp>
      <p:sp>
        <p:nvSpPr>
          <p:cNvPr id="33" name="Text 31"/>
          <p:cNvSpPr/>
          <p:nvPr/>
        </p:nvSpPr>
        <p:spPr>
          <a:xfrm>
            <a:off x="640080" y="4599432"/>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Official scoping and assessment guides from DoD CIO.</a:t>
            </a:r>
            <a:endParaRPr lang="en-US" sz="950" dirty="0"/>
          </a:p>
        </p:txBody>
      </p:sp>
      <p:sp>
        <p:nvSpPr>
          <p:cNvPr id="34" name="Text 32"/>
          <p:cNvSpPr/>
          <p:nvPr/>
        </p:nvSpPr>
        <p:spPr>
          <a:xfrm>
            <a:off x="640080" y="5056632"/>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35" name="Text 33"/>
          <p:cNvSpPr/>
          <p:nvPr/>
        </p:nvSpPr>
        <p:spPr>
          <a:xfrm>
            <a:off x="640080" y="5239512"/>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Level 1 Self-Assessment Guide, Level 2 Scoping Guide, Level 2 Assessment Guide. Authoritative source.</a:t>
            </a:r>
            <a:endParaRPr lang="en-US" sz="950" dirty="0"/>
          </a:p>
        </p:txBody>
      </p:sp>
      <p:sp>
        <p:nvSpPr>
          <p:cNvPr id="36" name="Text 34"/>
          <p:cNvSpPr/>
          <p:nvPr/>
        </p:nvSpPr>
        <p:spPr>
          <a:xfrm>
            <a:off x="640080" y="5605272"/>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dodcio.defense.gov/CMMC</a:t>
            </a:r>
            <a:endParaRPr lang="en-US" sz="950" dirty="0"/>
          </a:p>
        </p:txBody>
      </p:sp>
      <p:sp>
        <p:nvSpPr>
          <p:cNvPr id="37" name="Shape 35"/>
          <p:cNvSpPr/>
          <p:nvPr/>
        </p:nvSpPr>
        <p:spPr>
          <a:xfrm>
            <a:off x="4271162" y="3776472"/>
            <a:ext cx="3649370" cy="2103120"/>
          </a:xfrm>
          <a:prstGeom prst="rect">
            <a:avLst/>
          </a:prstGeom>
          <a:solidFill>
            <a:srgbClr val="131A35"/>
          </a:solidFill>
          <a:ln w="9525">
            <a:solidFill>
              <a:srgbClr val="1E2D5A"/>
            </a:solidFill>
            <a:prstDash val="solid"/>
          </a:ln>
        </p:spPr>
        <p:txBody>
          <a:bodyPr/>
          <a:lstStyle/>
          <a:p>
            <a:endParaRPr lang="en-US"/>
          </a:p>
        </p:txBody>
      </p:sp>
      <p:sp>
        <p:nvSpPr>
          <p:cNvPr id="38" name="Shape 36"/>
          <p:cNvSpPr/>
          <p:nvPr/>
        </p:nvSpPr>
        <p:spPr>
          <a:xfrm>
            <a:off x="4271162" y="3776472"/>
            <a:ext cx="3649370" cy="320040"/>
          </a:xfrm>
          <a:prstGeom prst="rect">
            <a:avLst/>
          </a:prstGeom>
          <a:solidFill>
            <a:srgbClr val="10B981"/>
          </a:solidFill>
          <a:ln w="12700">
            <a:solidFill>
              <a:srgbClr val="10B981"/>
            </a:solidFill>
            <a:prstDash val="solid"/>
          </a:ln>
        </p:spPr>
        <p:txBody>
          <a:bodyPr/>
          <a:lstStyle/>
          <a:p>
            <a:endParaRPr lang="en-US"/>
          </a:p>
        </p:txBody>
      </p:sp>
      <p:sp>
        <p:nvSpPr>
          <p:cNvPr id="39" name="Text 37"/>
          <p:cNvSpPr/>
          <p:nvPr/>
        </p:nvSpPr>
        <p:spPr>
          <a:xfrm>
            <a:off x="4408322" y="3776472"/>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FREE</a:t>
            </a:r>
            <a:endParaRPr lang="en-US" sz="900" dirty="0"/>
          </a:p>
        </p:txBody>
      </p:sp>
      <p:sp>
        <p:nvSpPr>
          <p:cNvPr id="40" name="Text 38"/>
          <p:cNvSpPr/>
          <p:nvPr/>
        </p:nvSpPr>
        <p:spPr>
          <a:xfrm>
            <a:off x="4454042" y="4187952"/>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NIST SP 800-171 Family of Docs</a:t>
            </a:r>
            <a:endParaRPr lang="en-US" sz="1400" dirty="0"/>
          </a:p>
        </p:txBody>
      </p:sp>
      <p:sp>
        <p:nvSpPr>
          <p:cNvPr id="41" name="Text 39"/>
          <p:cNvSpPr/>
          <p:nvPr/>
        </p:nvSpPr>
        <p:spPr>
          <a:xfrm>
            <a:off x="4454042" y="4599432"/>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Source standard. Plus 800-171A (assessment procedures), DoD Assessment Methodology.</a:t>
            </a:r>
            <a:endParaRPr lang="en-US" sz="950" dirty="0"/>
          </a:p>
        </p:txBody>
      </p:sp>
      <p:sp>
        <p:nvSpPr>
          <p:cNvPr id="42" name="Text 40"/>
          <p:cNvSpPr/>
          <p:nvPr/>
        </p:nvSpPr>
        <p:spPr>
          <a:xfrm>
            <a:off x="4454042" y="5056632"/>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43" name="Text 41"/>
          <p:cNvSpPr/>
          <p:nvPr/>
        </p:nvSpPr>
        <p:spPr>
          <a:xfrm>
            <a:off x="4454042" y="5239512"/>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The actual control text, assessment objectives, scoring rules. Don't pay for a summary of these.</a:t>
            </a:r>
            <a:endParaRPr lang="en-US" sz="950" dirty="0"/>
          </a:p>
        </p:txBody>
      </p:sp>
      <p:sp>
        <p:nvSpPr>
          <p:cNvPr id="44" name="Text 42"/>
          <p:cNvSpPr/>
          <p:nvPr/>
        </p:nvSpPr>
        <p:spPr>
          <a:xfrm>
            <a:off x="4454042" y="5605272"/>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csrc.nist.gov/publications</a:t>
            </a:r>
            <a:endParaRPr lang="en-US" sz="950" dirty="0"/>
          </a:p>
        </p:txBody>
      </p:sp>
      <p:sp>
        <p:nvSpPr>
          <p:cNvPr id="45" name="Shape 43"/>
          <p:cNvSpPr/>
          <p:nvPr/>
        </p:nvSpPr>
        <p:spPr>
          <a:xfrm>
            <a:off x="8085125" y="3776472"/>
            <a:ext cx="3649370" cy="2103120"/>
          </a:xfrm>
          <a:prstGeom prst="rect">
            <a:avLst/>
          </a:prstGeom>
          <a:solidFill>
            <a:srgbClr val="131A35"/>
          </a:solidFill>
          <a:ln w="9525">
            <a:solidFill>
              <a:srgbClr val="1E2D5A"/>
            </a:solidFill>
            <a:prstDash val="solid"/>
          </a:ln>
        </p:spPr>
        <p:txBody>
          <a:bodyPr/>
          <a:lstStyle/>
          <a:p>
            <a:endParaRPr lang="en-US"/>
          </a:p>
        </p:txBody>
      </p:sp>
      <p:sp>
        <p:nvSpPr>
          <p:cNvPr id="46" name="Shape 44"/>
          <p:cNvSpPr/>
          <p:nvPr/>
        </p:nvSpPr>
        <p:spPr>
          <a:xfrm>
            <a:off x="8085125" y="3776472"/>
            <a:ext cx="3649370" cy="320040"/>
          </a:xfrm>
          <a:prstGeom prst="rect">
            <a:avLst/>
          </a:prstGeom>
          <a:solidFill>
            <a:srgbClr val="F59E0B"/>
          </a:solidFill>
          <a:ln w="12700">
            <a:solidFill>
              <a:srgbClr val="F59E0B"/>
            </a:solidFill>
            <a:prstDash val="solid"/>
          </a:ln>
        </p:spPr>
        <p:txBody>
          <a:bodyPr/>
          <a:lstStyle/>
          <a:p>
            <a:endParaRPr lang="en-US"/>
          </a:p>
        </p:txBody>
      </p:sp>
      <p:sp>
        <p:nvSpPr>
          <p:cNvPr id="47" name="Text 45"/>
          <p:cNvSpPr/>
          <p:nvPr/>
        </p:nvSpPr>
        <p:spPr>
          <a:xfrm>
            <a:off x="8222285" y="3776472"/>
            <a:ext cx="3375050" cy="320040"/>
          </a:xfrm>
          <a:prstGeom prst="rect">
            <a:avLst/>
          </a:prstGeom>
          <a:noFill/>
          <a:ln/>
        </p:spPr>
        <p:txBody>
          <a:bodyPr wrap="square" lIns="0" tIns="0" rIns="0" bIns="0" rtlCol="0" anchor="ctr"/>
          <a:lstStyle/>
          <a:p>
            <a:pPr marL="0" indent="0">
              <a:buNone/>
            </a:pPr>
            <a:r>
              <a:rPr lang="en-US" sz="900" b="1" kern="0" spc="300" dirty="0">
                <a:solidFill>
                  <a:srgbClr val="0C1020"/>
                </a:solidFill>
                <a:latin typeface="Calibri" pitchFamily="34" charset="0"/>
                <a:ea typeface="Calibri" pitchFamily="34" charset="-122"/>
                <a:cs typeface="Calibri" pitchFamily="34" charset="-120"/>
              </a:rPr>
              <a:t>LOW-COST</a:t>
            </a:r>
            <a:endParaRPr lang="en-US" sz="900" dirty="0"/>
          </a:p>
        </p:txBody>
      </p:sp>
      <p:sp>
        <p:nvSpPr>
          <p:cNvPr id="48" name="Text 46"/>
          <p:cNvSpPr/>
          <p:nvPr/>
        </p:nvSpPr>
        <p:spPr>
          <a:xfrm>
            <a:off x="8268005" y="4187952"/>
            <a:ext cx="328361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Cyber-AB Marketplace</a:t>
            </a:r>
            <a:endParaRPr lang="en-US" sz="1400" dirty="0"/>
          </a:p>
        </p:txBody>
      </p:sp>
      <p:sp>
        <p:nvSpPr>
          <p:cNvPr id="49" name="Text 47"/>
          <p:cNvSpPr/>
          <p:nvPr/>
        </p:nvSpPr>
        <p:spPr>
          <a:xfrm>
            <a:off x="8268005" y="4599432"/>
            <a:ext cx="3283610" cy="411480"/>
          </a:xfrm>
          <a:prstGeom prst="rect">
            <a:avLst/>
          </a:prstGeom>
          <a:noFill/>
          <a:ln/>
        </p:spPr>
        <p:txBody>
          <a:bodyPr wrap="square" lIns="0" tIns="0" rIns="0" bIns="0" rtlCol="0" anchor="t"/>
          <a:lstStyle/>
          <a:p>
            <a:pPr marL="0" indent="0">
              <a:buNone/>
            </a:pPr>
            <a:r>
              <a:rPr lang="en-US" sz="950" i="1" dirty="0">
                <a:solidFill>
                  <a:srgbClr val="94A3B8"/>
                </a:solidFill>
                <a:latin typeface="Calibri" pitchFamily="34" charset="0"/>
                <a:ea typeface="Calibri" pitchFamily="34" charset="-122"/>
                <a:cs typeface="Calibri" pitchFamily="34" charset="-120"/>
              </a:rPr>
              <a:t>Official directory of Registered Practitioners (RP), RPOs, CCPs, CCAs, and C3PAOs.</a:t>
            </a:r>
            <a:endParaRPr lang="en-US" sz="950" dirty="0"/>
          </a:p>
        </p:txBody>
      </p:sp>
      <p:sp>
        <p:nvSpPr>
          <p:cNvPr id="50" name="Text 48"/>
          <p:cNvSpPr/>
          <p:nvPr/>
        </p:nvSpPr>
        <p:spPr>
          <a:xfrm>
            <a:off x="8268005" y="5056632"/>
            <a:ext cx="3283610" cy="182880"/>
          </a:xfrm>
          <a:prstGeom prst="rect">
            <a:avLst/>
          </a:prstGeom>
          <a:noFill/>
          <a:ln/>
        </p:spPr>
        <p:txBody>
          <a:bodyPr wrap="square" lIns="0" tIns="0" rIns="0" bIns="0"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WHAT YOU GET</a:t>
            </a:r>
            <a:endParaRPr lang="en-US" sz="800" dirty="0"/>
          </a:p>
        </p:txBody>
      </p:sp>
      <p:sp>
        <p:nvSpPr>
          <p:cNvPr id="51" name="Text 49"/>
          <p:cNvSpPr/>
          <p:nvPr/>
        </p:nvSpPr>
        <p:spPr>
          <a:xfrm>
            <a:off x="8268005" y="5239512"/>
            <a:ext cx="3283610" cy="50292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Vet credentials before hiring. Some RPs publish hourly rates; market rate is roughly $150–$300/hr.</a:t>
            </a:r>
            <a:endParaRPr lang="en-US" sz="950" dirty="0"/>
          </a:p>
        </p:txBody>
      </p:sp>
      <p:sp>
        <p:nvSpPr>
          <p:cNvPr id="52" name="Text 50"/>
          <p:cNvSpPr/>
          <p:nvPr/>
        </p:nvSpPr>
        <p:spPr>
          <a:xfrm>
            <a:off x="8268005" y="5605272"/>
            <a:ext cx="3283610" cy="228600"/>
          </a:xfrm>
          <a:prstGeom prst="rect">
            <a:avLst/>
          </a:prstGeom>
          <a:noFill/>
          <a:ln/>
        </p:spPr>
        <p:txBody>
          <a:bodyPr wrap="square" lIns="0" tIns="0" rIns="0" bIns="0" rtlCol="0" anchor="ctr"/>
          <a:lstStyle/>
          <a:p>
            <a:pPr marL="0" indent="0">
              <a:buNone/>
            </a:pPr>
            <a:r>
              <a:rPr lang="en-US" sz="950" i="1" dirty="0">
                <a:solidFill>
                  <a:srgbClr val="60A3F1"/>
                </a:solidFill>
                <a:latin typeface="Calibri" pitchFamily="34" charset="0"/>
                <a:ea typeface="Calibri" pitchFamily="34" charset="-122"/>
                <a:cs typeface="Calibri" pitchFamily="34" charset="-120"/>
              </a:rPr>
              <a:t>cyberab.org/marketplace</a:t>
            </a:r>
            <a:endParaRPr lang="en-US" sz="950" dirty="0"/>
          </a:p>
        </p:txBody>
      </p:sp>
      <p:sp>
        <p:nvSpPr>
          <p:cNvPr id="53" name="Text 51"/>
          <p:cNvSpPr/>
          <p:nvPr/>
        </p:nvSpPr>
        <p:spPr>
          <a:xfrm>
            <a:off x="457200" y="5989320"/>
            <a:ext cx="11277295" cy="411480"/>
          </a:xfrm>
          <a:prstGeom prst="rect">
            <a:avLst/>
          </a:prstGeom>
          <a:noFill/>
          <a:ln/>
        </p:spPr>
        <p:txBody>
          <a:bodyPr wrap="square" lIns="0" tIns="0" rIns="0" bIns="0" rtlCol="0" anchor="ctr"/>
          <a:lstStyle/>
          <a:p>
            <a:pPr marL="0" indent="0" algn="ctr">
              <a:buNone/>
            </a:pPr>
            <a:r>
              <a:rPr lang="en-US" sz="1050" i="1" dirty="0">
                <a:solidFill>
                  <a:srgbClr val="8844DD"/>
                </a:solidFill>
                <a:latin typeface="Calibri" pitchFamily="34" charset="0"/>
                <a:ea typeface="Calibri" pitchFamily="34" charset="-122"/>
                <a:cs typeface="Calibri" pitchFamily="34" charset="-120"/>
              </a:rPr>
              <a:t>Use these BEFORE you sign a consulting engagement. The free options won't replace a CMMC RP for the certification path, but they will get you to a real SPRS score, a real scope, and an informed RFP.</a:t>
            </a:r>
            <a:endParaRPr lang="en-US" sz="1050" dirty="0"/>
          </a:p>
        </p:txBody>
      </p:sp>
      <p:sp>
        <p:nvSpPr>
          <p:cNvPr id="54" name="Shape 52"/>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55" name="Text 53"/>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56" name="Text 54"/>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20 / 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CMMC Rollout in Four Phases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Per 32 CFR Part 170 and 48 CFR (DFARS Acquisition Rule). Phase 1 began Nov 10, 2025.</a:t>
            </a:r>
            <a:endParaRPr lang="en-US" sz="1300" dirty="0"/>
          </a:p>
        </p:txBody>
      </p:sp>
      <p:sp>
        <p:nvSpPr>
          <p:cNvPr id="5" name="Shape 3"/>
          <p:cNvSpPr/>
          <p:nvPr/>
        </p:nvSpPr>
        <p:spPr>
          <a:xfrm>
            <a:off x="640080" y="2103120"/>
            <a:ext cx="10911535" cy="0"/>
          </a:xfrm>
          <a:prstGeom prst="line">
            <a:avLst/>
          </a:prstGeom>
          <a:noFill/>
          <a:ln w="25400">
            <a:solidFill>
              <a:srgbClr val="2233AA"/>
            </a:solidFill>
            <a:prstDash val="solid"/>
          </a:ln>
        </p:spPr>
        <p:txBody>
          <a:bodyPr/>
          <a:lstStyle/>
          <a:p>
            <a:endParaRPr lang="en-US"/>
          </a:p>
        </p:txBody>
      </p:sp>
      <p:sp>
        <p:nvSpPr>
          <p:cNvPr id="6" name="Shape 4"/>
          <p:cNvSpPr/>
          <p:nvPr/>
        </p:nvSpPr>
        <p:spPr>
          <a:xfrm>
            <a:off x="1866862" y="1965960"/>
            <a:ext cx="274320" cy="274320"/>
          </a:xfrm>
          <a:prstGeom prst="ellipse">
            <a:avLst/>
          </a:prstGeom>
          <a:solidFill>
            <a:srgbClr val="F59E0B"/>
          </a:solidFill>
          <a:ln w="12700">
            <a:solidFill>
              <a:srgbClr val="F59E0B"/>
            </a:solidFill>
            <a:prstDash val="solid"/>
          </a:ln>
        </p:spPr>
        <p:txBody>
          <a:bodyPr/>
          <a:lstStyle/>
          <a:p>
            <a:endParaRPr lang="en-US"/>
          </a:p>
        </p:txBody>
      </p:sp>
      <p:sp>
        <p:nvSpPr>
          <p:cNvPr id="7" name="Text 5"/>
          <p:cNvSpPr/>
          <p:nvPr/>
        </p:nvSpPr>
        <p:spPr>
          <a:xfrm>
            <a:off x="906742" y="1508760"/>
            <a:ext cx="2194560" cy="320040"/>
          </a:xfrm>
          <a:prstGeom prst="rect">
            <a:avLst/>
          </a:prstGeom>
          <a:noFill/>
          <a:ln/>
        </p:spPr>
        <p:txBody>
          <a:bodyPr wrap="square" lIns="0" tIns="0" rIns="0" bIns="0" rtlCol="0" anchor="ctr"/>
          <a:lstStyle/>
          <a:p>
            <a:pPr marL="0" indent="0" algn="ctr">
              <a:buNone/>
            </a:pPr>
            <a:r>
              <a:rPr lang="en-US" sz="1100" b="1" kern="0" spc="300" dirty="0">
                <a:solidFill>
                  <a:srgbClr val="F59E0B"/>
                </a:solidFill>
                <a:latin typeface="Calibri" pitchFamily="34" charset="0"/>
                <a:ea typeface="Calibri" pitchFamily="34" charset="-122"/>
                <a:cs typeface="Calibri" pitchFamily="34" charset="-120"/>
              </a:rPr>
              <a:t>NOV 10, 2025</a:t>
            </a:r>
            <a:endParaRPr lang="en-US" sz="1100" dirty="0"/>
          </a:p>
        </p:txBody>
      </p:sp>
      <p:sp>
        <p:nvSpPr>
          <p:cNvPr id="8" name="Shape 6"/>
          <p:cNvSpPr/>
          <p:nvPr/>
        </p:nvSpPr>
        <p:spPr>
          <a:xfrm>
            <a:off x="731520" y="2514600"/>
            <a:ext cx="2545004" cy="3383280"/>
          </a:xfrm>
          <a:prstGeom prst="rect">
            <a:avLst/>
          </a:prstGeom>
          <a:solidFill>
            <a:srgbClr val="131A35"/>
          </a:solidFill>
          <a:ln w="9525">
            <a:solidFill>
              <a:srgbClr val="1E2D5A"/>
            </a:solidFill>
            <a:prstDash val="solid"/>
          </a:ln>
        </p:spPr>
        <p:txBody>
          <a:bodyPr/>
          <a:lstStyle/>
          <a:p>
            <a:endParaRPr lang="en-US"/>
          </a:p>
        </p:txBody>
      </p:sp>
      <p:sp>
        <p:nvSpPr>
          <p:cNvPr id="9" name="Shape 7"/>
          <p:cNvSpPr/>
          <p:nvPr/>
        </p:nvSpPr>
        <p:spPr>
          <a:xfrm>
            <a:off x="731520" y="2514600"/>
            <a:ext cx="2545004" cy="54864"/>
          </a:xfrm>
          <a:prstGeom prst="rect">
            <a:avLst/>
          </a:prstGeom>
          <a:solidFill>
            <a:srgbClr val="F59E0B"/>
          </a:solidFill>
          <a:ln w="12700">
            <a:solidFill>
              <a:srgbClr val="F59E0B"/>
            </a:solidFill>
            <a:prstDash val="solid"/>
          </a:ln>
        </p:spPr>
        <p:txBody>
          <a:bodyPr/>
          <a:lstStyle/>
          <a:p>
            <a:endParaRPr lang="en-US"/>
          </a:p>
        </p:txBody>
      </p:sp>
      <p:sp>
        <p:nvSpPr>
          <p:cNvPr id="10" name="Text 8"/>
          <p:cNvSpPr/>
          <p:nvPr/>
        </p:nvSpPr>
        <p:spPr>
          <a:xfrm>
            <a:off x="868680" y="2651760"/>
            <a:ext cx="2270684"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Phase 1</a:t>
            </a:r>
            <a:endParaRPr lang="en-US" sz="1800" dirty="0"/>
          </a:p>
        </p:txBody>
      </p:sp>
      <p:sp>
        <p:nvSpPr>
          <p:cNvPr id="11" name="Text 9"/>
          <p:cNvSpPr/>
          <p:nvPr/>
        </p:nvSpPr>
        <p:spPr>
          <a:xfrm>
            <a:off x="868680" y="3017520"/>
            <a:ext cx="2270684" cy="274320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Self-assessments appear in new DoD contracts. L1 (FCI) self-assessment as condition of award. L2 self-assessment for non-prioritized CUI. DoD may also impose L2 C3PAO at its discretion.</a:t>
            </a:r>
            <a:endParaRPr lang="en-US" sz="1050" dirty="0"/>
          </a:p>
        </p:txBody>
      </p:sp>
      <p:sp>
        <p:nvSpPr>
          <p:cNvPr id="12" name="Shape 10"/>
          <p:cNvSpPr/>
          <p:nvPr/>
        </p:nvSpPr>
        <p:spPr>
          <a:xfrm>
            <a:off x="4594746" y="1965960"/>
            <a:ext cx="274320" cy="274320"/>
          </a:xfrm>
          <a:prstGeom prst="ellipse">
            <a:avLst/>
          </a:prstGeom>
          <a:solidFill>
            <a:srgbClr val="8844DD"/>
          </a:solidFill>
          <a:ln w="12700">
            <a:solidFill>
              <a:srgbClr val="8844DD"/>
            </a:solidFill>
            <a:prstDash val="solid"/>
          </a:ln>
        </p:spPr>
        <p:txBody>
          <a:bodyPr/>
          <a:lstStyle/>
          <a:p>
            <a:endParaRPr lang="en-US"/>
          </a:p>
        </p:txBody>
      </p:sp>
      <p:sp>
        <p:nvSpPr>
          <p:cNvPr id="13" name="Text 11"/>
          <p:cNvSpPr/>
          <p:nvPr/>
        </p:nvSpPr>
        <p:spPr>
          <a:xfrm>
            <a:off x="3634626" y="1508760"/>
            <a:ext cx="2194560" cy="320040"/>
          </a:xfrm>
          <a:prstGeom prst="rect">
            <a:avLst/>
          </a:prstGeom>
          <a:noFill/>
          <a:ln/>
        </p:spPr>
        <p:txBody>
          <a:bodyPr wrap="square" lIns="0" tIns="0" rIns="0" bIns="0" rtlCol="0" anchor="ctr"/>
          <a:lstStyle/>
          <a:p>
            <a:pPr marL="0" indent="0" algn="ctr">
              <a:buNone/>
            </a:pPr>
            <a:r>
              <a:rPr lang="en-US" sz="1100" b="1" kern="0" spc="300" dirty="0">
                <a:solidFill>
                  <a:srgbClr val="8844DD"/>
                </a:solidFill>
                <a:latin typeface="Calibri" pitchFamily="34" charset="0"/>
                <a:ea typeface="Calibri" pitchFamily="34" charset="-122"/>
                <a:cs typeface="Calibri" pitchFamily="34" charset="-120"/>
              </a:rPr>
              <a:t>NOV 10, 2026</a:t>
            </a:r>
            <a:endParaRPr lang="en-US" sz="1100" dirty="0"/>
          </a:p>
        </p:txBody>
      </p:sp>
      <p:sp>
        <p:nvSpPr>
          <p:cNvPr id="14" name="Shape 12"/>
          <p:cNvSpPr/>
          <p:nvPr/>
        </p:nvSpPr>
        <p:spPr>
          <a:xfrm>
            <a:off x="3459404" y="2514600"/>
            <a:ext cx="2545004" cy="3383280"/>
          </a:xfrm>
          <a:prstGeom prst="rect">
            <a:avLst/>
          </a:prstGeom>
          <a:solidFill>
            <a:srgbClr val="131A35"/>
          </a:solidFill>
          <a:ln w="9525">
            <a:solidFill>
              <a:srgbClr val="1E2D5A"/>
            </a:solidFill>
            <a:prstDash val="solid"/>
          </a:ln>
        </p:spPr>
        <p:txBody>
          <a:bodyPr/>
          <a:lstStyle/>
          <a:p>
            <a:endParaRPr lang="en-US"/>
          </a:p>
        </p:txBody>
      </p:sp>
      <p:sp>
        <p:nvSpPr>
          <p:cNvPr id="15" name="Shape 13"/>
          <p:cNvSpPr/>
          <p:nvPr/>
        </p:nvSpPr>
        <p:spPr>
          <a:xfrm>
            <a:off x="3459404" y="2514600"/>
            <a:ext cx="2545004" cy="54864"/>
          </a:xfrm>
          <a:prstGeom prst="rect">
            <a:avLst/>
          </a:prstGeom>
          <a:solidFill>
            <a:srgbClr val="8844DD"/>
          </a:solidFill>
          <a:ln w="12700">
            <a:solidFill>
              <a:srgbClr val="8844DD"/>
            </a:solidFill>
            <a:prstDash val="solid"/>
          </a:ln>
        </p:spPr>
        <p:txBody>
          <a:bodyPr/>
          <a:lstStyle/>
          <a:p>
            <a:endParaRPr lang="en-US"/>
          </a:p>
        </p:txBody>
      </p:sp>
      <p:sp>
        <p:nvSpPr>
          <p:cNvPr id="16" name="Text 14"/>
          <p:cNvSpPr/>
          <p:nvPr/>
        </p:nvSpPr>
        <p:spPr>
          <a:xfrm>
            <a:off x="3596564" y="2651760"/>
            <a:ext cx="2270684"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Phase 2</a:t>
            </a:r>
            <a:endParaRPr lang="en-US" sz="1800" dirty="0"/>
          </a:p>
        </p:txBody>
      </p:sp>
      <p:sp>
        <p:nvSpPr>
          <p:cNvPr id="17" name="Text 15"/>
          <p:cNvSpPr/>
          <p:nvPr/>
        </p:nvSpPr>
        <p:spPr>
          <a:xfrm>
            <a:off x="3596564" y="3017520"/>
            <a:ext cx="2270684" cy="274320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Level 2 C3PAO certification becomes mandatory for new DoD contracts and option exercises involving CUI. The window for L2 self-attestation closes for most contracts.</a:t>
            </a:r>
            <a:endParaRPr lang="en-US" sz="1050" dirty="0"/>
          </a:p>
        </p:txBody>
      </p:sp>
      <p:sp>
        <p:nvSpPr>
          <p:cNvPr id="18" name="Shape 16"/>
          <p:cNvSpPr/>
          <p:nvPr/>
        </p:nvSpPr>
        <p:spPr>
          <a:xfrm>
            <a:off x="7322630" y="1965960"/>
            <a:ext cx="274320" cy="274320"/>
          </a:xfrm>
          <a:prstGeom prst="ellipse">
            <a:avLst/>
          </a:prstGeom>
          <a:solidFill>
            <a:srgbClr val="60A3F1"/>
          </a:solidFill>
          <a:ln w="12700">
            <a:solidFill>
              <a:srgbClr val="60A3F1"/>
            </a:solidFill>
            <a:prstDash val="solid"/>
          </a:ln>
        </p:spPr>
        <p:txBody>
          <a:bodyPr/>
          <a:lstStyle/>
          <a:p>
            <a:endParaRPr lang="en-US"/>
          </a:p>
        </p:txBody>
      </p:sp>
      <p:sp>
        <p:nvSpPr>
          <p:cNvPr id="19" name="Text 17"/>
          <p:cNvSpPr/>
          <p:nvPr/>
        </p:nvSpPr>
        <p:spPr>
          <a:xfrm>
            <a:off x="6362510" y="1508760"/>
            <a:ext cx="2194560" cy="320040"/>
          </a:xfrm>
          <a:prstGeom prst="rect">
            <a:avLst/>
          </a:prstGeom>
          <a:noFill/>
          <a:ln/>
        </p:spPr>
        <p:txBody>
          <a:bodyPr wrap="square" lIns="0" tIns="0" rIns="0" bIns="0" rtlCol="0" anchor="ctr"/>
          <a:lstStyle/>
          <a:p>
            <a:pPr marL="0" indent="0" algn="ctr">
              <a:buNone/>
            </a:pPr>
            <a:r>
              <a:rPr lang="en-US" sz="1100" b="1" kern="0" spc="300" dirty="0">
                <a:solidFill>
                  <a:srgbClr val="60A3F1"/>
                </a:solidFill>
                <a:latin typeface="Calibri" pitchFamily="34" charset="0"/>
                <a:ea typeface="Calibri" pitchFamily="34" charset="-122"/>
                <a:cs typeface="Calibri" pitchFamily="34" charset="-120"/>
              </a:rPr>
              <a:t>NOV 10, 2027</a:t>
            </a:r>
            <a:endParaRPr lang="en-US" sz="1100" dirty="0"/>
          </a:p>
        </p:txBody>
      </p:sp>
      <p:sp>
        <p:nvSpPr>
          <p:cNvPr id="20" name="Shape 18"/>
          <p:cNvSpPr/>
          <p:nvPr/>
        </p:nvSpPr>
        <p:spPr>
          <a:xfrm>
            <a:off x="6187288" y="2514600"/>
            <a:ext cx="2545004" cy="3383280"/>
          </a:xfrm>
          <a:prstGeom prst="rect">
            <a:avLst/>
          </a:prstGeom>
          <a:solidFill>
            <a:srgbClr val="131A35"/>
          </a:solidFill>
          <a:ln w="9525">
            <a:solidFill>
              <a:srgbClr val="1E2D5A"/>
            </a:solidFill>
            <a:prstDash val="solid"/>
          </a:ln>
        </p:spPr>
        <p:txBody>
          <a:bodyPr/>
          <a:lstStyle/>
          <a:p>
            <a:endParaRPr lang="en-US"/>
          </a:p>
        </p:txBody>
      </p:sp>
      <p:sp>
        <p:nvSpPr>
          <p:cNvPr id="21" name="Shape 19"/>
          <p:cNvSpPr/>
          <p:nvPr/>
        </p:nvSpPr>
        <p:spPr>
          <a:xfrm>
            <a:off x="6187288" y="2514600"/>
            <a:ext cx="2545004" cy="54864"/>
          </a:xfrm>
          <a:prstGeom prst="rect">
            <a:avLst/>
          </a:prstGeom>
          <a:solidFill>
            <a:srgbClr val="60A3F1"/>
          </a:solidFill>
          <a:ln w="12700">
            <a:solidFill>
              <a:srgbClr val="60A3F1"/>
            </a:solidFill>
            <a:prstDash val="solid"/>
          </a:ln>
        </p:spPr>
        <p:txBody>
          <a:bodyPr/>
          <a:lstStyle/>
          <a:p>
            <a:endParaRPr lang="en-US"/>
          </a:p>
        </p:txBody>
      </p:sp>
      <p:sp>
        <p:nvSpPr>
          <p:cNvPr id="22" name="Text 20"/>
          <p:cNvSpPr/>
          <p:nvPr/>
        </p:nvSpPr>
        <p:spPr>
          <a:xfrm>
            <a:off x="6324448" y="2651760"/>
            <a:ext cx="2270684"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Phase 3</a:t>
            </a:r>
            <a:endParaRPr lang="en-US" sz="1800" dirty="0"/>
          </a:p>
        </p:txBody>
      </p:sp>
      <p:sp>
        <p:nvSpPr>
          <p:cNvPr id="23" name="Text 21"/>
          <p:cNvSpPr/>
          <p:nvPr/>
        </p:nvSpPr>
        <p:spPr>
          <a:xfrm>
            <a:off x="6324448" y="3017520"/>
            <a:ext cx="2270684" cy="274320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L2 C3PAO certification required for contract option exercises (not just new awards). Level 3 assessments (DIBCAC, NIST 800-172) begin for highest-sensitivity programs.</a:t>
            </a:r>
            <a:endParaRPr lang="en-US" sz="1050" dirty="0"/>
          </a:p>
        </p:txBody>
      </p:sp>
      <p:sp>
        <p:nvSpPr>
          <p:cNvPr id="24" name="Shape 22"/>
          <p:cNvSpPr/>
          <p:nvPr/>
        </p:nvSpPr>
        <p:spPr>
          <a:xfrm>
            <a:off x="10050513" y="1965960"/>
            <a:ext cx="274320" cy="274320"/>
          </a:xfrm>
          <a:prstGeom prst="ellipse">
            <a:avLst/>
          </a:prstGeom>
          <a:solidFill>
            <a:srgbClr val="10B981"/>
          </a:solidFill>
          <a:ln w="12700">
            <a:solidFill>
              <a:srgbClr val="10B981"/>
            </a:solidFill>
            <a:prstDash val="solid"/>
          </a:ln>
        </p:spPr>
        <p:txBody>
          <a:bodyPr/>
          <a:lstStyle/>
          <a:p>
            <a:endParaRPr lang="en-US"/>
          </a:p>
        </p:txBody>
      </p:sp>
      <p:sp>
        <p:nvSpPr>
          <p:cNvPr id="25" name="Text 23"/>
          <p:cNvSpPr/>
          <p:nvPr/>
        </p:nvSpPr>
        <p:spPr>
          <a:xfrm>
            <a:off x="9090393" y="1508760"/>
            <a:ext cx="2194560" cy="320040"/>
          </a:xfrm>
          <a:prstGeom prst="rect">
            <a:avLst/>
          </a:prstGeom>
          <a:noFill/>
          <a:ln/>
        </p:spPr>
        <p:txBody>
          <a:bodyPr wrap="square" lIns="0" tIns="0" rIns="0" bIns="0" rtlCol="0" anchor="ctr"/>
          <a:lstStyle/>
          <a:p>
            <a:pPr marL="0" indent="0" algn="ctr">
              <a:buNone/>
            </a:pPr>
            <a:r>
              <a:rPr lang="en-US" sz="1100" b="1" kern="0" spc="300" dirty="0">
                <a:solidFill>
                  <a:srgbClr val="10B981"/>
                </a:solidFill>
                <a:latin typeface="Calibri" pitchFamily="34" charset="0"/>
                <a:ea typeface="Calibri" pitchFamily="34" charset="-122"/>
                <a:cs typeface="Calibri" pitchFamily="34" charset="-120"/>
              </a:rPr>
              <a:t>NOV 10, 2028</a:t>
            </a:r>
            <a:endParaRPr lang="en-US" sz="1100" dirty="0"/>
          </a:p>
        </p:txBody>
      </p:sp>
      <p:sp>
        <p:nvSpPr>
          <p:cNvPr id="26" name="Shape 24"/>
          <p:cNvSpPr/>
          <p:nvPr/>
        </p:nvSpPr>
        <p:spPr>
          <a:xfrm>
            <a:off x="8915171" y="2514600"/>
            <a:ext cx="2545004" cy="3383280"/>
          </a:xfrm>
          <a:prstGeom prst="rect">
            <a:avLst/>
          </a:prstGeom>
          <a:solidFill>
            <a:srgbClr val="131A35"/>
          </a:solidFill>
          <a:ln w="9525">
            <a:solidFill>
              <a:srgbClr val="1E2D5A"/>
            </a:solidFill>
            <a:prstDash val="solid"/>
          </a:ln>
        </p:spPr>
        <p:txBody>
          <a:bodyPr/>
          <a:lstStyle/>
          <a:p>
            <a:endParaRPr lang="en-US"/>
          </a:p>
        </p:txBody>
      </p:sp>
      <p:sp>
        <p:nvSpPr>
          <p:cNvPr id="27" name="Shape 25"/>
          <p:cNvSpPr/>
          <p:nvPr/>
        </p:nvSpPr>
        <p:spPr>
          <a:xfrm>
            <a:off x="8915171" y="2514600"/>
            <a:ext cx="2545004" cy="54864"/>
          </a:xfrm>
          <a:prstGeom prst="rect">
            <a:avLst/>
          </a:prstGeom>
          <a:solidFill>
            <a:srgbClr val="10B981"/>
          </a:solidFill>
          <a:ln w="12700">
            <a:solidFill>
              <a:srgbClr val="10B981"/>
            </a:solidFill>
            <a:prstDash val="solid"/>
          </a:ln>
        </p:spPr>
        <p:txBody>
          <a:bodyPr/>
          <a:lstStyle/>
          <a:p>
            <a:endParaRPr lang="en-US"/>
          </a:p>
        </p:txBody>
      </p:sp>
      <p:sp>
        <p:nvSpPr>
          <p:cNvPr id="28" name="Text 26"/>
          <p:cNvSpPr/>
          <p:nvPr/>
        </p:nvSpPr>
        <p:spPr>
          <a:xfrm>
            <a:off x="9052331" y="2651760"/>
            <a:ext cx="2270684"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Phase 4</a:t>
            </a:r>
            <a:endParaRPr lang="en-US" sz="1800" dirty="0"/>
          </a:p>
        </p:txBody>
      </p:sp>
      <p:sp>
        <p:nvSpPr>
          <p:cNvPr id="29" name="Text 27"/>
          <p:cNvSpPr/>
          <p:nvPr/>
        </p:nvSpPr>
        <p:spPr>
          <a:xfrm>
            <a:off x="9052331" y="3017520"/>
            <a:ext cx="2270684" cy="2743200"/>
          </a:xfrm>
          <a:prstGeom prst="rect">
            <a:avLst/>
          </a:prstGeom>
          <a:noFill/>
          <a:ln/>
        </p:spPr>
        <p:txBody>
          <a:bodyPr wrap="square" lIns="0" tIns="0" rIns="0" bIns="0" rtlCol="0" anchor="t"/>
          <a:lstStyle/>
          <a:p>
            <a:pPr marL="0" indent="0">
              <a:buNone/>
            </a:pPr>
            <a:r>
              <a:rPr lang="en-US" sz="1050" dirty="0">
                <a:solidFill>
                  <a:srgbClr val="E2E8F0"/>
                </a:solidFill>
                <a:latin typeface="Calibri" pitchFamily="34" charset="0"/>
                <a:ea typeface="Calibri" pitchFamily="34" charset="-122"/>
                <a:cs typeface="Calibri" pitchFamily="34" charset="-120"/>
              </a:rPr>
              <a:t>Full implementation. CMMC requirements apply universally to all applicable DoD contracts, solicitations, options, and renewals.</a:t>
            </a:r>
            <a:endParaRPr lang="en-US" sz="1050" dirty="0"/>
          </a:p>
        </p:txBody>
      </p:sp>
      <p:sp>
        <p:nvSpPr>
          <p:cNvPr id="30" name="Text 28"/>
          <p:cNvSpPr/>
          <p:nvPr/>
        </p:nvSpPr>
        <p:spPr>
          <a:xfrm>
            <a:off x="457200" y="6035040"/>
            <a:ext cx="11277295" cy="32004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Where things stand (May 2026): ~103 authorized C3PAOs, ~759 credentialed CCAs, and roughly 1,000 organizations Level 2 certified (about 1% of the DIB). Gap-to-certification still typically takes 6–12 months.</a:t>
            </a:r>
            <a:endParaRPr lang="en-US" sz="1050" dirty="0"/>
          </a:p>
        </p:txBody>
      </p:sp>
      <p:sp>
        <p:nvSpPr>
          <p:cNvPr id="31" name="Shape 29"/>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32" name="Text 30"/>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33" name="Text 31"/>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21 / 23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 First 90 Days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If you read nothing else in this deck, read this. Three windows of action: by the end of this week, this month, and this quarter.</a:t>
            </a:r>
            <a:endParaRPr lang="en-US" sz="1300" dirty="0"/>
          </a:p>
        </p:txBody>
      </p:sp>
      <p:sp>
        <p:nvSpPr>
          <p:cNvPr id="5" name="Shape 3"/>
          <p:cNvSpPr/>
          <p:nvPr/>
        </p:nvSpPr>
        <p:spPr>
          <a:xfrm>
            <a:off x="457200" y="1554480"/>
            <a:ext cx="3637178" cy="438912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457200" y="1554480"/>
            <a:ext cx="3637178" cy="365760"/>
          </a:xfrm>
          <a:prstGeom prst="rect">
            <a:avLst/>
          </a:prstGeom>
          <a:solidFill>
            <a:srgbClr val="38BDF8"/>
          </a:solidFill>
          <a:ln w="12700">
            <a:solidFill>
              <a:srgbClr val="38BDF8"/>
            </a:solidFill>
            <a:prstDash val="solid"/>
          </a:ln>
        </p:spPr>
        <p:txBody>
          <a:bodyPr/>
          <a:lstStyle/>
          <a:p>
            <a:endParaRPr lang="en-US"/>
          </a:p>
        </p:txBody>
      </p:sp>
      <p:sp>
        <p:nvSpPr>
          <p:cNvPr id="7" name="Text 5"/>
          <p:cNvSpPr/>
          <p:nvPr/>
        </p:nvSpPr>
        <p:spPr>
          <a:xfrm>
            <a:off x="594360" y="1554480"/>
            <a:ext cx="3362858" cy="365760"/>
          </a:xfrm>
          <a:prstGeom prst="rect">
            <a:avLst/>
          </a:prstGeom>
          <a:noFill/>
          <a:ln/>
        </p:spPr>
        <p:txBody>
          <a:bodyPr wrap="square" lIns="0" tIns="0" rIns="0" bIns="0" rtlCol="0" anchor="ctr"/>
          <a:lstStyle/>
          <a:p>
            <a:pPr marL="0" indent="0">
              <a:buNone/>
            </a:pPr>
            <a:r>
              <a:rPr lang="en-US" sz="1100" b="1" kern="0" spc="300" dirty="0">
                <a:solidFill>
                  <a:srgbClr val="0C1020"/>
                </a:solidFill>
                <a:latin typeface="Calibri" pitchFamily="34" charset="0"/>
                <a:ea typeface="Calibri" pitchFamily="34" charset="-122"/>
                <a:cs typeface="Calibri" pitchFamily="34" charset="-120"/>
              </a:rPr>
              <a:t>THIS WEEK</a:t>
            </a:r>
            <a:endParaRPr lang="en-US" sz="1100" dirty="0"/>
          </a:p>
        </p:txBody>
      </p:sp>
      <p:sp>
        <p:nvSpPr>
          <p:cNvPr id="8" name="Text 6"/>
          <p:cNvSpPr/>
          <p:nvPr/>
        </p:nvSpPr>
        <p:spPr>
          <a:xfrm>
            <a:off x="640080" y="2057400"/>
            <a:ext cx="3271418"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Establish baseline awareness</a:t>
            </a:r>
            <a:endParaRPr lang="en-US" sz="1500" dirty="0"/>
          </a:p>
        </p:txBody>
      </p:sp>
      <p:sp>
        <p:nvSpPr>
          <p:cNvPr id="9" name="Text 7"/>
          <p:cNvSpPr/>
          <p:nvPr/>
        </p:nvSpPr>
        <p:spPr>
          <a:xfrm>
            <a:off x="640080" y="2468880"/>
            <a:ext cx="3271418" cy="274320"/>
          </a:xfrm>
          <a:prstGeom prst="rect">
            <a:avLst/>
          </a:prstGeom>
          <a:noFill/>
          <a:ln/>
        </p:spPr>
        <p:txBody>
          <a:bodyPr wrap="square" lIns="0" tIns="0" rIns="0" bIns="0" rtlCol="0" anchor="ctr"/>
          <a:lstStyle/>
          <a:p>
            <a:pPr marL="0" indent="0">
              <a:buNone/>
            </a:pPr>
            <a:r>
              <a:rPr lang="en-US" sz="1050" b="1" i="1" dirty="0">
                <a:solidFill>
                  <a:srgbClr val="38BDF8"/>
                </a:solidFill>
                <a:latin typeface="Calibri" pitchFamily="34" charset="0"/>
                <a:ea typeface="Calibri" pitchFamily="34" charset="-122"/>
                <a:cs typeface="Calibri" pitchFamily="34" charset="-120"/>
              </a:rPr>
              <a:t>Cost: $0</a:t>
            </a:r>
            <a:endParaRPr lang="en-US" sz="1050" dirty="0"/>
          </a:p>
        </p:txBody>
      </p:sp>
      <p:sp>
        <p:nvSpPr>
          <p:cNvPr id="10" name="Shape 8"/>
          <p:cNvSpPr/>
          <p:nvPr/>
        </p:nvSpPr>
        <p:spPr>
          <a:xfrm>
            <a:off x="640080" y="2834640"/>
            <a:ext cx="3271418" cy="0"/>
          </a:xfrm>
          <a:prstGeom prst="line">
            <a:avLst/>
          </a:prstGeom>
          <a:noFill/>
          <a:ln w="9525">
            <a:solidFill>
              <a:srgbClr val="2233AA"/>
            </a:solidFill>
            <a:prstDash val="solid"/>
          </a:ln>
        </p:spPr>
        <p:txBody>
          <a:bodyPr/>
          <a:lstStyle/>
          <a:p>
            <a:endParaRPr lang="en-US"/>
          </a:p>
        </p:txBody>
      </p:sp>
      <p:sp>
        <p:nvSpPr>
          <p:cNvPr id="11" name="Shape 9"/>
          <p:cNvSpPr/>
          <p:nvPr/>
        </p:nvSpPr>
        <p:spPr>
          <a:xfrm>
            <a:off x="685800" y="3090672"/>
            <a:ext cx="91440" cy="91440"/>
          </a:xfrm>
          <a:prstGeom prst="rect">
            <a:avLst/>
          </a:prstGeom>
          <a:solidFill>
            <a:srgbClr val="38BDF8"/>
          </a:solidFill>
          <a:ln w="12700">
            <a:solidFill>
              <a:srgbClr val="38BDF8"/>
            </a:solidFill>
            <a:prstDash val="solid"/>
          </a:ln>
        </p:spPr>
        <p:txBody>
          <a:bodyPr/>
          <a:lstStyle/>
          <a:p>
            <a:endParaRPr lang="en-US"/>
          </a:p>
        </p:txBody>
      </p:sp>
      <p:sp>
        <p:nvSpPr>
          <p:cNvPr id="12" name="Text 10"/>
          <p:cNvSpPr/>
          <p:nvPr/>
        </p:nvSpPr>
        <p:spPr>
          <a:xfrm>
            <a:off x="868680" y="3093087"/>
            <a:ext cx="3042818" cy="365759"/>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Pull every active DoD contract and look for DFARS 252.204-7012 in the clauses list. List which contracts have it.</a:t>
            </a:r>
            <a:endParaRPr lang="en-US" sz="950" dirty="0"/>
          </a:p>
        </p:txBody>
      </p:sp>
      <p:sp>
        <p:nvSpPr>
          <p:cNvPr id="13" name="Shape 11"/>
          <p:cNvSpPr/>
          <p:nvPr/>
        </p:nvSpPr>
        <p:spPr>
          <a:xfrm>
            <a:off x="685800" y="3803904"/>
            <a:ext cx="91440" cy="91440"/>
          </a:xfrm>
          <a:prstGeom prst="rect">
            <a:avLst/>
          </a:prstGeom>
          <a:solidFill>
            <a:srgbClr val="38BDF8"/>
          </a:solidFill>
          <a:ln w="12700">
            <a:solidFill>
              <a:srgbClr val="38BDF8"/>
            </a:solidFill>
            <a:prstDash val="solid"/>
          </a:ln>
        </p:spPr>
        <p:txBody>
          <a:bodyPr/>
          <a:lstStyle/>
          <a:p>
            <a:endParaRPr lang="en-US"/>
          </a:p>
        </p:txBody>
      </p:sp>
      <p:sp>
        <p:nvSpPr>
          <p:cNvPr id="14" name="Text 12"/>
          <p:cNvSpPr/>
          <p:nvPr/>
        </p:nvSpPr>
        <p:spPr>
          <a:xfrm>
            <a:off x="868680" y="3771900"/>
            <a:ext cx="3042818" cy="365759"/>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Confirm your CAGE code is active in SAM.gov. Register for SPRS access through PIEE if you don't already have it.</a:t>
            </a:r>
            <a:endParaRPr lang="en-US" sz="950" dirty="0"/>
          </a:p>
        </p:txBody>
      </p:sp>
      <p:sp>
        <p:nvSpPr>
          <p:cNvPr id="15" name="Shape 13"/>
          <p:cNvSpPr/>
          <p:nvPr/>
        </p:nvSpPr>
        <p:spPr>
          <a:xfrm>
            <a:off x="685800" y="4517136"/>
            <a:ext cx="91440" cy="91440"/>
          </a:xfrm>
          <a:prstGeom prst="rect">
            <a:avLst/>
          </a:prstGeom>
          <a:solidFill>
            <a:srgbClr val="38BDF8"/>
          </a:solidFill>
          <a:ln w="12700">
            <a:solidFill>
              <a:srgbClr val="38BDF8"/>
            </a:solidFill>
            <a:prstDash val="solid"/>
          </a:ln>
        </p:spPr>
        <p:txBody>
          <a:bodyPr/>
          <a:lstStyle/>
          <a:p>
            <a:endParaRPr lang="en-US"/>
          </a:p>
        </p:txBody>
      </p:sp>
      <p:sp>
        <p:nvSpPr>
          <p:cNvPr id="16" name="Text 14"/>
          <p:cNvSpPr/>
          <p:nvPr/>
        </p:nvSpPr>
        <p:spPr>
          <a:xfrm>
            <a:off x="868680" y="4507733"/>
            <a:ext cx="3042818" cy="448056"/>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Identify the senior official who will sign the annual SPRS affirmation. They need to understand the False Claims Act exposure.</a:t>
            </a:r>
            <a:endParaRPr lang="en-US" sz="950" dirty="0"/>
          </a:p>
        </p:txBody>
      </p:sp>
      <p:sp>
        <p:nvSpPr>
          <p:cNvPr id="17" name="Shape 15"/>
          <p:cNvSpPr/>
          <p:nvPr/>
        </p:nvSpPr>
        <p:spPr>
          <a:xfrm>
            <a:off x="685800" y="5230368"/>
            <a:ext cx="91440" cy="91440"/>
          </a:xfrm>
          <a:prstGeom prst="rect">
            <a:avLst/>
          </a:prstGeom>
          <a:solidFill>
            <a:srgbClr val="38BDF8"/>
          </a:solidFill>
          <a:ln w="12700">
            <a:solidFill>
              <a:srgbClr val="38BDF8"/>
            </a:solidFill>
            <a:prstDash val="solid"/>
          </a:ln>
        </p:spPr>
        <p:txBody>
          <a:bodyPr/>
          <a:lstStyle/>
          <a:p>
            <a:endParaRPr lang="en-US"/>
          </a:p>
        </p:txBody>
      </p:sp>
      <p:sp>
        <p:nvSpPr>
          <p:cNvPr id="18" name="Text 16"/>
          <p:cNvSpPr/>
          <p:nvPr/>
        </p:nvSpPr>
        <p:spPr>
          <a:xfrm>
            <a:off x="868680" y="5190773"/>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Search the marketplace and your network for two or three qualified consultants (RPs or credentialed security professionals) in your region.</a:t>
            </a:r>
          </a:p>
        </p:txBody>
      </p:sp>
      <p:sp>
        <p:nvSpPr>
          <p:cNvPr id="19" name="Shape 17"/>
          <p:cNvSpPr/>
          <p:nvPr/>
        </p:nvSpPr>
        <p:spPr>
          <a:xfrm>
            <a:off x="4277258" y="1554480"/>
            <a:ext cx="3637178" cy="4389120"/>
          </a:xfrm>
          <a:prstGeom prst="rect">
            <a:avLst/>
          </a:prstGeom>
          <a:solidFill>
            <a:srgbClr val="131A35"/>
          </a:solidFill>
          <a:ln w="9525">
            <a:solidFill>
              <a:srgbClr val="1E2D5A"/>
            </a:solidFill>
            <a:prstDash val="solid"/>
          </a:ln>
        </p:spPr>
        <p:txBody>
          <a:bodyPr/>
          <a:lstStyle/>
          <a:p>
            <a:endParaRPr lang="en-US"/>
          </a:p>
        </p:txBody>
      </p:sp>
      <p:sp>
        <p:nvSpPr>
          <p:cNvPr id="20" name="Shape 18"/>
          <p:cNvSpPr/>
          <p:nvPr/>
        </p:nvSpPr>
        <p:spPr>
          <a:xfrm>
            <a:off x="4277258" y="1554480"/>
            <a:ext cx="3637178" cy="365760"/>
          </a:xfrm>
          <a:prstGeom prst="rect">
            <a:avLst/>
          </a:prstGeom>
          <a:solidFill>
            <a:srgbClr val="F59E0B"/>
          </a:solidFill>
          <a:ln w="12700">
            <a:solidFill>
              <a:srgbClr val="F59E0B"/>
            </a:solidFill>
            <a:prstDash val="solid"/>
          </a:ln>
        </p:spPr>
        <p:txBody>
          <a:bodyPr/>
          <a:lstStyle/>
          <a:p>
            <a:endParaRPr lang="en-US"/>
          </a:p>
        </p:txBody>
      </p:sp>
      <p:sp>
        <p:nvSpPr>
          <p:cNvPr id="21" name="Text 19"/>
          <p:cNvSpPr/>
          <p:nvPr/>
        </p:nvSpPr>
        <p:spPr>
          <a:xfrm>
            <a:off x="4414418" y="1554480"/>
            <a:ext cx="3362858" cy="365760"/>
          </a:xfrm>
          <a:prstGeom prst="rect">
            <a:avLst/>
          </a:prstGeom>
          <a:noFill/>
          <a:ln/>
        </p:spPr>
        <p:txBody>
          <a:bodyPr wrap="square" lIns="0" tIns="0" rIns="0" bIns="0" rtlCol="0" anchor="ctr"/>
          <a:lstStyle/>
          <a:p>
            <a:pPr marL="0" indent="0">
              <a:buNone/>
            </a:pPr>
            <a:r>
              <a:rPr lang="en-US" sz="1100" b="1" kern="0" spc="300" dirty="0">
                <a:solidFill>
                  <a:srgbClr val="0C1020"/>
                </a:solidFill>
                <a:latin typeface="Calibri" pitchFamily="34" charset="0"/>
                <a:ea typeface="Calibri" pitchFamily="34" charset="-122"/>
                <a:cs typeface="Calibri" pitchFamily="34" charset="-120"/>
              </a:rPr>
              <a:t>THIS MONTH</a:t>
            </a:r>
            <a:endParaRPr lang="en-US" sz="1100" dirty="0"/>
          </a:p>
        </p:txBody>
      </p:sp>
      <p:sp>
        <p:nvSpPr>
          <p:cNvPr id="22" name="Text 20"/>
          <p:cNvSpPr/>
          <p:nvPr/>
        </p:nvSpPr>
        <p:spPr>
          <a:xfrm>
            <a:off x="4460138" y="2057400"/>
            <a:ext cx="3271418"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Get to a real number</a:t>
            </a:r>
            <a:endParaRPr lang="en-US" sz="1500" dirty="0"/>
          </a:p>
        </p:txBody>
      </p:sp>
      <p:sp>
        <p:nvSpPr>
          <p:cNvPr id="23" name="Text 21"/>
          <p:cNvSpPr/>
          <p:nvPr/>
        </p:nvSpPr>
        <p:spPr>
          <a:xfrm>
            <a:off x="4460138" y="2468880"/>
            <a:ext cx="3271418" cy="274320"/>
          </a:xfrm>
          <a:prstGeom prst="rect">
            <a:avLst/>
          </a:prstGeom>
          <a:noFill/>
          <a:ln/>
        </p:spPr>
        <p:txBody>
          <a:bodyPr wrap="square" lIns="0" tIns="0" rIns="0" bIns="0" rtlCol="0" anchor="ctr"/>
          <a:lstStyle/>
          <a:p>
            <a:pPr marL="0" indent="0">
              <a:buNone/>
            </a:pPr>
            <a:r>
              <a:rPr lang="en-US" sz="1050" b="1" i="1" dirty="0">
                <a:solidFill>
                  <a:srgbClr val="F59E0B"/>
                </a:solidFill>
                <a:latin typeface="Calibri" pitchFamily="34" charset="0"/>
                <a:ea typeface="Calibri" pitchFamily="34" charset="-122"/>
                <a:cs typeface="Calibri" pitchFamily="34" charset="-120"/>
              </a:rPr>
              <a:t>Cost: $0 → ~$10K</a:t>
            </a:r>
            <a:endParaRPr lang="en-US" sz="1050" dirty="0"/>
          </a:p>
        </p:txBody>
      </p:sp>
      <p:sp>
        <p:nvSpPr>
          <p:cNvPr id="24" name="Shape 22"/>
          <p:cNvSpPr/>
          <p:nvPr/>
        </p:nvSpPr>
        <p:spPr>
          <a:xfrm>
            <a:off x="4460138" y="2834640"/>
            <a:ext cx="3271418" cy="0"/>
          </a:xfrm>
          <a:prstGeom prst="line">
            <a:avLst/>
          </a:prstGeom>
          <a:noFill/>
          <a:ln w="9525">
            <a:solidFill>
              <a:srgbClr val="2233AA"/>
            </a:solidFill>
            <a:prstDash val="solid"/>
          </a:ln>
        </p:spPr>
        <p:txBody>
          <a:bodyPr/>
          <a:lstStyle/>
          <a:p>
            <a:endParaRPr lang="en-US"/>
          </a:p>
        </p:txBody>
      </p:sp>
      <p:sp>
        <p:nvSpPr>
          <p:cNvPr id="25" name="Shape 23"/>
          <p:cNvSpPr/>
          <p:nvPr/>
        </p:nvSpPr>
        <p:spPr>
          <a:xfrm>
            <a:off x="4505858" y="3090672"/>
            <a:ext cx="91440" cy="91440"/>
          </a:xfrm>
          <a:prstGeom prst="rect">
            <a:avLst/>
          </a:prstGeom>
          <a:solidFill>
            <a:srgbClr val="F59E0B"/>
          </a:solidFill>
          <a:ln w="12700">
            <a:solidFill>
              <a:srgbClr val="F59E0B"/>
            </a:solidFill>
            <a:prstDash val="solid"/>
          </a:ln>
        </p:spPr>
        <p:txBody>
          <a:bodyPr/>
          <a:lstStyle/>
          <a:p>
            <a:endParaRPr lang="en-US"/>
          </a:p>
        </p:txBody>
      </p:sp>
      <p:sp>
        <p:nvSpPr>
          <p:cNvPr id="26" name="Text 24"/>
          <p:cNvSpPr/>
          <p:nvPr/>
        </p:nvSpPr>
        <p:spPr>
          <a:xfrm>
            <a:off x="4688738" y="3086100"/>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Do a free initial self-assessment via Project Spectrum or your APEX Accelerator. Get a directional SPRS score.</a:t>
            </a:r>
            <a:endParaRPr lang="en-US" sz="950" dirty="0"/>
          </a:p>
        </p:txBody>
      </p:sp>
      <p:sp>
        <p:nvSpPr>
          <p:cNvPr id="27" name="Shape 25"/>
          <p:cNvSpPr/>
          <p:nvPr/>
        </p:nvSpPr>
        <p:spPr>
          <a:xfrm>
            <a:off x="4505858" y="3803904"/>
            <a:ext cx="91440" cy="91440"/>
          </a:xfrm>
          <a:prstGeom prst="rect">
            <a:avLst/>
          </a:prstGeom>
          <a:solidFill>
            <a:srgbClr val="F59E0B"/>
          </a:solidFill>
          <a:ln w="12700">
            <a:solidFill>
              <a:srgbClr val="F59E0B"/>
            </a:solidFill>
            <a:prstDash val="solid"/>
          </a:ln>
        </p:spPr>
        <p:txBody>
          <a:bodyPr/>
          <a:lstStyle/>
          <a:p>
            <a:endParaRPr lang="en-US"/>
          </a:p>
        </p:txBody>
      </p:sp>
      <p:sp>
        <p:nvSpPr>
          <p:cNvPr id="28" name="Text 26"/>
          <p:cNvSpPr/>
          <p:nvPr/>
        </p:nvSpPr>
        <p:spPr>
          <a:xfrm>
            <a:off x="4688738" y="3750594"/>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Map where CUI lives in your environment today: email, file shares, CAD, ERP, contractor laptops. This is your in-scope baseline.</a:t>
            </a:r>
            <a:endParaRPr lang="en-US" sz="950" dirty="0"/>
          </a:p>
        </p:txBody>
      </p:sp>
      <p:sp>
        <p:nvSpPr>
          <p:cNvPr id="29" name="Shape 27"/>
          <p:cNvSpPr/>
          <p:nvPr/>
        </p:nvSpPr>
        <p:spPr>
          <a:xfrm>
            <a:off x="4505858" y="4517136"/>
            <a:ext cx="91440" cy="91440"/>
          </a:xfrm>
          <a:prstGeom prst="rect">
            <a:avLst/>
          </a:prstGeom>
          <a:solidFill>
            <a:srgbClr val="F59E0B"/>
          </a:solidFill>
          <a:ln w="12700">
            <a:solidFill>
              <a:srgbClr val="F59E0B"/>
            </a:solidFill>
            <a:prstDash val="solid"/>
          </a:ln>
        </p:spPr>
        <p:txBody>
          <a:bodyPr/>
          <a:lstStyle/>
          <a:p>
            <a:endParaRPr lang="en-US"/>
          </a:p>
        </p:txBody>
      </p:sp>
      <p:sp>
        <p:nvSpPr>
          <p:cNvPr id="30" name="Text 28"/>
          <p:cNvSpPr/>
          <p:nvPr/>
        </p:nvSpPr>
        <p:spPr>
          <a:xfrm>
            <a:off x="4688738" y="4517136"/>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Read the DoD Level 2 Scoping Guide. Identify which assets could be moved out of scope through segmentation or an enclave.</a:t>
            </a:r>
            <a:endParaRPr lang="en-US" sz="950" dirty="0"/>
          </a:p>
        </p:txBody>
      </p:sp>
      <p:sp>
        <p:nvSpPr>
          <p:cNvPr id="31" name="Shape 29"/>
          <p:cNvSpPr/>
          <p:nvPr/>
        </p:nvSpPr>
        <p:spPr>
          <a:xfrm>
            <a:off x="4505858" y="5230368"/>
            <a:ext cx="91440" cy="91440"/>
          </a:xfrm>
          <a:prstGeom prst="rect">
            <a:avLst/>
          </a:prstGeom>
          <a:solidFill>
            <a:srgbClr val="F59E0B"/>
          </a:solidFill>
          <a:ln w="12700">
            <a:solidFill>
              <a:srgbClr val="F59E0B"/>
            </a:solidFill>
            <a:prstDash val="solid"/>
          </a:ln>
        </p:spPr>
        <p:txBody>
          <a:bodyPr/>
          <a:lstStyle/>
          <a:p>
            <a:endParaRPr lang="en-US"/>
          </a:p>
        </p:txBody>
      </p:sp>
      <p:sp>
        <p:nvSpPr>
          <p:cNvPr id="32" name="Text 30"/>
          <p:cNvSpPr/>
          <p:nvPr/>
        </p:nvSpPr>
        <p:spPr>
          <a:xfrm>
            <a:off x="4688738" y="5202936"/>
            <a:ext cx="3042818" cy="685800"/>
          </a:xfrm>
          <a:prstGeom prst="rect">
            <a:avLst/>
          </a:prstGeom>
          <a:noFill/>
          <a:ln/>
        </p:spPr>
        <p:txBody>
          <a:bodyPr wrap="square" lIns="0" tIns="0" rIns="0" bIns="0" rtlCol="0" anchor="t"/>
          <a:lstStyle/>
          <a:p>
            <a:r>
              <a:rPr lang="en-US" sz="950" dirty="0">
                <a:solidFill>
                  <a:srgbClr val="E2E8F0"/>
                </a:solidFill>
                <a:latin typeface="Calibri" pitchFamily="34" charset="0"/>
                <a:ea typeface="Calibri" pitchFamily="34" charset="-122"/>
                <a:cs typeface="Calibri" pitchFamily="34" charset="-120"/>
              </a:rPr>
              <a:t>Engage one qualified consultant for a paid gap assessment ($5–12K typical). This becomes your real SPRS score and your scoping decision input.</a:t>
            </a:r>
            <a:endParaRPr lang="en-US" sz="950" dirty="0"/>
          </a:p>
        </p:txBody>
      </p:sp>
      <p:sp>
        <p:nvSpPr>
          <p:cNvPr id="33" name="Shape 31"/>
          <p:cNvSpPr/>
          <p:nvPr/>
        </p:nvSpPr>
        <p:spPr>
          <a:xfrm>
            <a:off x="8097317" y="1554480"/>
            <a:ext cx="3637178" cy="4389120"/>
          </a:xfrm>
          <a:prstGeom prst="rect">
            <a:avLst/>
          </a:prstGeom>
          <a:solidFill>
            <a:srgbClr val="131A35"/>
          </a:solidFill>
          <a:ln w="9525">
            <a:solidFill>
              <a:srgbClr val="1E2D5A"/>
            </a:solidFill>
            <a:prstDash val="solid"/>
          </a:ln>
        </p:spPr>
        <p:txBody>
          <a:bodyPr/>
          <a:lstStyle/>
          <a:p>
            <a:endParaRPr lang="en-US"/>
          </a:p>
        </p:txBody>
      </p:sp>
      <p:sp>
        <p:nvSpPr>
          <p:cNvPr id="34" name="Shape 32"/>
          <p:cNvSpPr/>
          <p:nvPr/>
        </p:nvSpPr>
        <p:spPr>
          <a:xfrm>
            <a:off x="8097317" y="1554480"/>
            <a:ext cx="3637178" cy="365760"/>
          </a:xfrm>
          <a:prstGeom prst="rect">
            <a:avLst/>
          </a:prstGeom>
          <a:solidFill>
            <a:srgbClr val="10B981"/>
          </a:solidFill>
          <a:ln w="12700">
            <a:solidFill>
              <a:srgbClr val="10B981"/>
            </a:solidFill>
            <a:prstDash val="solid"/>
          </a:ln>
        </p:spPr>
        <p:txBody>
          <a:bodyPr/>
          <a:lstStyle/>
          <a:p>
            <a:endParaRPr lang="en-US"/>
          </a:p>
        </p:txBody>
      </p:sp>
      <p:sp>
        <p:nvSpPr>
          <p:cNvPr id="35" name="Text 33"/>
          <p:cNvSpPr/>
          <p:nvPr/>
        </p:nvSpPr>
        <p:spPr>
          <a:xfrm>
            <a:off x="8234477" y="1554480"/>
            <a:ext cx="3362858" cy="365760"/>
          </a:xfrm>
          <a:prstGeom prst="rect">
            <a:avLst/>
          </a:prstGeom>
          <a:noFill/>
          <a:ln/>
        </p:spPr>
        <p:txBody>
          <a:bodyPr wrap="square" lIns="0" tIns="0" rIns="0" bIns="0" rtlCol="0" anchor="ctr"/>
          <a:lstStyle/>
          <a:p>
            <a:pPr marL="0" indent="0">
              <a:buNone/>
            </a:pPr>
            <a:r>
              <a:rPr lang="en-US" sz="1100" b="1" kern="0" spc="300" dirty="0">
                <a:solidFill>
                  <a:srgbClr val="0C1020"/>
                </a:solidFill>
                <a:latin typeface="Calibri" pitchFamily="34" charset="0"/>
                <a:ea typeface="Calibri" pitchFamily="34" charset="-122"/>
                <a:cs typeface="Calibri" pitchFamily="34" charset="-120"/>
              </a:rPr>
              <a:t>THIS QUARTER</a:t>
            </a:r>
            <a:endParaRPr lang="en-US" sz="1100" dirty="0"/>
          </a:p>
        </p:txBody>
      </p:sp>
      <p:sp>
        <p:nvSpPr>
          <p:cNvPr id="36" name="Text 34"/>
          <p:cNvSpPr/>
          <p:nvPr/>
        </p:nvSpPr>
        <p:spPr>
          <a:xfrm>
            <a:off x="8280197" y="2057400"/>
            <a:ext cx="3271418"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Commit to a path</a:t>
            </a:r>
            <a:endParaRPr lang="en-US" sz="1500" dirty="0"/>
          </a:p>
        </p:txBody>
      </p:sp>
      <p:sp>
        <p:nvSpPr>
          <p:cNvPr id="37" name="Text 35"/>
          <p:cNvSpPr/>
          <p:nvPr/>
        </p:nvSpPr>
        <p:spPr>
          <a:xfrm>
            <a:off x="8280197" y="2468880"/>
            <a:ext cx="3271418" cy="274320"/>
          </a:xfrm>
          <a:prstGeom prst="rect">
            <a:avLst/>
          </a:prstGeom>
          <a:noFill/>
          <a:ln/>
        </p:spPr>
        <p:txBody>
          <a:bodyPr wrap="square" lIns="0" tIns="0" rIns="0" bIns="0" rtlCol="0" anchor="ctr"/>
          <a:lstStyle/>
          <a:p>
            <a:pPr marL="0" indent="0">
              <a:buNone/>
            </a:pPr>
            <a:r>
              <a:rPr lang="en-US" sz="1050" b="1" i="1" dirty="0">
                <a:solidFill>
                  <a:srgbClr val="10B981"/>
                </a:solidFill>
                <a:latin typeface="Calibri" pitchFamily="34" charset="0"/>
                <a:ea typeface="Calibri" pitchFamily="34" charset="-122"/>
                <a:cs typeface="Calibri" pitchFamily="34" charset="-120"/>
              </a:rPr>
              <a:t>Cost: planning, not commitment</a:t>
            </a:r>
            <a:endParaRPr lang="en-US" sz="1050" dirty="0"/>
          </a:p>
        </p:txBody>
      </p:sp>
      <p:sp>
        <p:nvSpPr>
          <p:cNvPr id="38" name="Shape 36"/>
          <p:cNvSpPr/>
          <p:nvPr/>
        </p:nvSpPr>
        <p:spPr>
          <a:xfrm>
            <a:off x="8280197" y="2834640"/>
            <a:ext cx="3271418" cy="0"/>
          </a:xfrm>
          <a:prstGeom prst="line">
            <a:avLst/>
          </a:prstGeom>
          <a:noFill/>
          <a:ln w="9525">
            <a:solidFill>
              <a:srgbClr val="2233AA"/>
            </a:solidFill>
            <a:prstDash val="solid"/>
          </a:ln>
        </p:spPr>
        <p:txBody>
          <a:bodyPr/>
          <a:lstStyle/>
          <a:p>
            <a:endParaRPr lang="en-US"/>
          </a:p>
        </p:txBody>
      </p:sp>
      <p:sp>
        <p:nvSpPr>
          <p:cNvPr id="39" name="Shape 37"/>
          <p:cNvSpPr/>
          <p:nvPr/>
        </p:nvSpPr>
        <p:spPr>
          <a:xfrm>
            <a:off x="8325917" y="3090672"/>
            <a:ext cx="91440" cy="91440"/>
          </a:xfrm>
          <a:prstGeom prst="rect">
            <a:avLst/>
          </a:prstGeom>
          <a:solidFill>
            <a:srgbClr val="10B981"/>
          </a:solidFill>
          <a:ln w="12700">
            <a:solidFill>
              <a:srgbClr val="10B981"/>
            </a:solidFill>
            <a:prstDash val="solid"/>
          </a:ln>
        </p:spPr>
        <p:txBody>
          <a:bodyPr/>
          <a:lstStyle/>
          <a:p>
            <a:endParaRPr lang="en-US"/>
          </a:p>
        </p:txBody>
      </p:sp>
      <p:sp>
        <p:nvSpPr>
          <p:cNvPr id="40" name="Text 38"/>
          <p:cNvSpPr/>
          <p:nvPr/>
        </p:nvSpPr>
        <p:spPr>
          <a:xfrm>
            <a:off x="8508797" y="3086100"/>
            <a:ext cx="3042818" cy="466344"/>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Based on the gap assessment, decide your enclave architecture: managed CUI enclave, GCC High, or build-your-own. Don't buy yet.</a:t>
            </a:r>
            <a:endParaRPr lang="en-US" sz="950" dirty="0"/>
          </a:p>
        </p:txBody>
      </p:sp>
      <p:sp>
        <p:nvSpPr>
          <p:cNvPr id="41" name="Shape 39"/>
          <p:cNvSpPr/>
          <p:nvPr/>
        </p:nvSpPr>
        <p:spPr>
          <a:xfrm>
            <a:off x="8325917" y="3803904"/>
            <a:ext cx="91440" cy="91440"/>
          </a:xfrm>
          <a:prstGeom prst="rect">
            <a:avLst/>
          </a:prstGeom>
          <a:solidFill>
            <a:srgbClr val="10B981"/>
          </a:solidFill>
          <a:ln w="12700">
            <a:solidFill>
              <a:srgbClr val="10B981"/>
            </a:solidFill>
            <a:prstDash val="solid"/>
          </a:ln>
        </p:spPr>
        <p:txBody>
          <a:bodyPr/>
          <a:lstStyle/>
          <a:p>
            <a:endParaRPr lang="en-US"/>
          </a:p>
        </p:txBody>
      </p:sp>
      <p:sp>
        <p:nvSpPr>
          <p:cNvPr id="42" name="Text 40"/>
          <p:cNvSpPr/>
          <p:nvPr/>
        </p:nvSpPr>
        <p:spPr>
          <a:xfrm>
            <a:off x="8508797" y="3771900"/>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Draft your remediation budget using the cost table from this deck. Compare quotes from at least two qualified consultants before signing</a:t>
            </a:r>
            <a:endParaRPr lang="en-US" sz="950" dirty="0"/>
          </a:p>
        </p:txBody>
      </p:sp>
      <p:sp>
        <p:nvSpPr>
          <p:cNvPr id="43" name="Shape 41"/>
          <p:cNvSpPr/>
          <p:nvPr/>
        </p:nvSpPr>
        <p:spPr>
          <a:xfrm>
            <a:off x="8325917" y="4517136"/>
            <a:ext cx="91440" cy="91440"/>
          </a:xfrm>
          <a:prstGeom prst="rect">
            <a:avLst/>
          </a:prstGeom>
          <a:solidFill>
            <a:srgbClr val="10B981"/>
          </a:solidFill>
          <a:ln w="12700">
            <a:solidFill>
              <a:srgbClr val="10B981"/>
            </a:solidFill>
            <a:prstDash val="solid"/>
          </a:ln>
        </p:spPr>
        <p:txBody>
          <a:bodyPr/>
          <a:lstStyle/>
          <a:p>
            <a:endParaRPr lang="en-US"/>
          </a:p>
        </p:txBody>
      </p:sp>
      <p:sp>
        <p:nvSpPr>
          <p:cNvPr id="44" name="Text 42"/>
          <p:cNvSpPr/>
          <p:nvPr/>
        </p:nvSpPr>
        <p:spPr>
          <a:xfrm>
            <a:off x="8554517" y="4510839"/>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If you're a sub, tell your primes you're actively working toward Level 2 readiness. They will notice; many are tracking sub posture now.</a:t>
            </a:r>
            <a:endParaRPr lang="en-US" sz="950" dirty="0"/>
          </a:p>
        </p:txBody>
      </p:sp>
      <p:sp>
        <p:nvSpPr>
          <p:cNvPr id="45" name="Shape 43"/>
          <p:cNvSpPr/>
          <p:nvPr/>
        </p:nvSpPr>
        <p:spPr>
          <a:xfrm>
            <a:off x="8325917" y="5230368"/>
            <a:ext cx="91440" cy="91440"/>
          </a:xfrm>
          <a:prstGeom prst="rect">
            <a:avLst/>
          </a:prstGeom>
          <a:solidFill>
            <a:srgbClr val="10B981"/>
          </a:solidFill>
          <a:ln w="12700">
            <a:solidFill>
              <a:srgbClr val="10B981"/>
            </a:solidFill>
            <a:prstDash val="solid"/>
          </a:ln>
        </p:spPr>
        <p:txBody>
          <a:bodyPr/>
          <a:lstStyle/>
          <a:p>
            <a:endParaRPr lang="en-US"/>
          </a:p>
        </p:txBody>
      </p:sp>
      <p:sp>
        <p:nvSpPr>
          <p:cNvPr id="46" name="Text 44"/>
          <p:cNvSpPr/>
          <p:nvPr/>
        </p:nvSpPr>
        <p:spPr>
          <a:xfrm>
            <a:off x="8508797" y="5196639"/>
            <a:ext cx="3042818" cy="685800"/>
          </a:xfrm>
          <a:prstGeom prst="rect">
            <a:avLst/>
          </a:prstGeom>
          <a:noFill/>
          <a:ln/>
        </p:spPr>
        <p:txBody>
          <a:bodyPr wrap="square" lIns="0" tIns="0" rIns="0" bIns="0" rtlCol="0" anchor="t"/>
          <a:lstStyle/>
          <a:p>
            <a:pPr marL="0" indent="0">
              <a:buNone/>
            </a:pPr>
            <a:r>
              <a:rPr lang="en-US" sz="950" dirty="0">
                <a:solidFill>
                  <a:srgbClr val="E2E8F0"/>
                </a:solidFill>
                <a:latin typeface="Calibri" pitchFamily="34" charset="0"/>
                <a:ea typeface="Calibri" pitchFamily="34" charset="-122"/>
                <a:cs typeface="Calibri" pitchFamily="34" charset="-120"/>
              </a:rPr>
              <a:t>Schedule a tentative C3PAO conversation 4–6 months out (they're booked). Use this deck's questions to vet them.</a:t>
            </a:r>
            <a:endParaRPr lang="en-US" sz="950" dirty="0"/>
          </a:p>
        </p:txBody>
      </p:sp>
      <p:sp>
        <p:nvSpPr>
          <p:cNvPr id="47" name="Shape 45"/>
          <p:cNvSpPr/>
          <p:nvPr/>
        </p:nvSpPr>
        <p:spPr>
          <a:xfrm>
            <a:off x="457200" y="6035040"/>
            <a:ext cx="11277295" cy="365760"/>
          </a:xfrm>
          <a:prstGeom prst="rect">
            <a:avLst/>
          </a:prstGeom>
          <a:solidFill>
            <a:srgbClr val="1E2D5A"/>
          </a:solidFill>
          <a:ln w="9525">
            <a:solidFill>
              <a:srgbClr val="1E2D5A"/>
            </a:solidFill>
            <a:prstDash val="solid"/>
          </a:ln>
        </p:spPr>
        <p:txBody>
          <a:bodyPr/>
          <a:lstStyle/>
          <a:p>
            <a:endParaRPr lang="en-US"/>
          </a:p>
        </p:txBody>
      </p:sp>
      <p:sp>
        <p:nvSpPr>
          <p:cNvPr id="48" name="Shape 46"/>
          <p:cNvSpPr/>
          <p:nvPr/>
        </p:nvSpPr>
        <p:spPr>
          <a:xfrm>
            <a:off x="457200" y="6035040"/>
            <a:ext cx="73152" cy="365760"/>
          </a:xfrm>
          <a:prstGeom prst="rect">
            <a:avLst/>
          </a:prstGeom>
          <a:solidFill>
            <a:srgbClr val="8844DD"/>
          </a:solidFill>
          <a:ln w="12700">
            <a:solidFill>
              <a:srgbClr val="8844DD"/>
            </a:solidFill>
            <a:prstDash val="solid"/>
          </a:ln>
        </p:spPr>
        <p:txBody>
          <a:bodyPr/>
          <a:lstStyle/>
          <a:p>
            <a:endParaRPr lang="en-US"/>
          </a:p>
        </p:txBody>
      </p:sp>
      <p:sp>
        <p:nvSpPr>
          <p:cNvPr id="49" name="Text 47"/>
          <p:cNvSpPr/>
          <p:nvPr/>
        </p:nvSpPr>
        <p:spPr>
          <a:xfrm>
            <a:off x="640080" y="6080760"/>
            <a:ext cx="10911535"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The deck ends here, but your work starts tomorrow. </a:t>
            </a:r>
            <a:r>
              <a:rPr lang="en-US" sz="1100" dirty="0">
                <a:solidFill>
                  <a:srgbClr val="E2E8F0"/>
                </a:solidFill>
                <a:latin typeface="Calibri" pitchFamily="34" charset="0"/>
                <a:ea typeface="Calibri" pitchFamily="34" charset="-122"/>
                <a:cs typeface="Calibri" pitchFamily="34" charset="-120"/>
              </a:rPr>
              <a:t>Every step on the left of this slide costs nothing. Skip them and you'll spend an extra $30K–$80K finding out the same information.</a:t>
            </a:r>
            <a:endParaRPr lang="en-US" sz="1100" dirty="0"/>
          </a:p>
        </p:txBody>
      </p:sp>
      <p:sp>
        <p:nvSpPr>
          <p:cNvPr id="50" name="Shape 48"/>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51" name="Text 4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52" name="Text 50"/>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22 / 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1020"/>
        </a:solidFill>
        <a:effectLst/>
      </p:bgPr>
    </p:bg>
    <p:spTree>
      <p:nvGrpSpPr>
        <p:cNvPr id="1" name=""/>
        <p:cNvGrpSpPr/>
        <p:nvPr/>
      </p:nvGrpSpPr>
      <p:grpSpPr>
        <a:xfrm>
          <a:off x="0" y="0"/>
          <a:ext cx="0" cy="0"/>
          <a:chOff x="0" y="0"/>
          <a:chExt cx="0" cy="0"/>
        </a:xfrm>
      </p:grpSpPr>
      <p:sp>
        <p:nvSpPr>
          <p:cNvPr id="2" name="Text 0"/>
          <p:cNvSpPr/>
          <p:nvPr/>
        </p:nvSpPr>
        <p:spPr>
          <a:xfrm>
            <a:off x="457200" y="274320"/>
            <a:ext cx="11277295"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References &amp; Authoritative Sources</a:t>
            </a:r>
            <a:endParaRPr lang="en-US" sz="2800" dirty="0"/>
          </a:p>
        </p:txBody>
      </p:sp>
      <p:sp>
        <p:nvSpPr>
          <p:cNvPr id="3" name="Shape 1"/>
          <p:cNvSpPr/>
          <p:nvPr/>
        </p:nvSpPr>
        <p:spPr>
          <a:xfrm>
            <a:off x="457200" y="868680"/>
            <a:ext cx="502920" cy="54864"/>
          </a:xfrm>
          <a:prstGeom prst="rect">
            <a:avLst/>
          </a:prstGeom>
          <a:solidFill>
            <a:srgbClr val="8844DD"/>
          </a:solidFill>
          <a:ln w="12700">
            <a:solidFill>
              <a:srgbClr val="8844DD"/>
            </a:solidFill>
            <a:prstDash val="solid"/>
          </a:ln>
        </p:spPr>
        <p:txBody>
          <a:bodyPr/>
          <a:lstStyle/>
          <a:p>
            <a:endParaRPr lang="en-US"/>
          </a:p>
        </p:txBody>
      </p:sp>
      <p:sp>
        <p:nvSpPr>
          <p:cNvPr id="4" name="Text 2"/>
          <p:cNvSpPr/>
          <p:nvPr/>
        </p:nvSpPr>
        <p:spPr>
          <a:xfrm>
            <a:off x="457200" y="1005840"/>
            <a:ext cx="11277295" cy="365760"/>
          </a:xfrm>
          <a:prstGeom prst="rect">
            <a:avLst/>
          </a:prstGeom>
          <a:noFill/>
          <a:ln/>
        </p:spPr>
        <p:txBody>
          <a:bodyPr wrap="square" lIns="0" tIns="0" rIns="0" bIns="0" rtlCol="0" anchor="ctr"/>
          <a:lstStyle/>
          <a:p>
            <a:pPr marL="0" indent="0">
              <a:buNone/>
            </a:pPr>
            <a:r>
              <a:rPr lang="en-US" sz="1300" i="1" dirty="0">
                <a:solidFill>
                  <a:srgbClr val="E2E8F0"/>
                </a:solidFill>
                <a:latin typeface="Calibri" pitchFamily="34" charset="0"/>
                <a:ea typeface="Calibri" pitchFamily="34" charset="-122"/>
                <a:cs typeface="Calibri" pitchFamily="34" charset="-120"/>
              </a:rPr>
              <a:t>Every claim in this deck traces to the documents below. When in doubt, go to the source.</a:t>
            </a:r>
            <a:endParaRPr lang="en-US" sz="1300" dirty="0"/>
          </a:p>
        </p:txBody>
      </p:sp>
      <p:sp>
        <p:nvSpPr>
          <p:cNvPr id="5" name="Shape 3"/>
          <p:cNvSpPr/>
          <p:nvPr/>
        </p:nvSpPr>
        <p:spPr>
          <a:xfrm>
            <a:off x="457200" y="1554480"/>
            <a:ext cx="5532120" cy="4434840"/>
          </a:xfrm>
          <a:prstGeom prst="rect">
            <a:avLst/>
          </a:prstGeom>
          <a:solidFill>
            <a:srgbClr val="131A35"/>
          </a:solidFill>
          <a:ln w="9525">
            <a:solidFill>
              <a:srgbClr val="1E2D5A"/>
            </a:solidFill>
            <a:prstDash val="solid"/>
          </a:ln>
        </p:spPr>
        <p:txBody>
          <a:bodyPr/>
          <a:lstStyle/>
          <a:p>
            <a:endParaRPr lang="en-US"/>
          </a:p>
        </p:txBody>
      </p:sp>
      <p:sp>
        <p:nvSpPr>
          <p:cNvPr id="6" name="Shape 4"/>
          <p:cNvSpPr/>
          <p:nvPr/>
        </p:nvSpPr>
        <p:spPr>
          <a:xfrm>
            <a:off x="640080" y="1737360"/>
            <a:ext cx="2318004" cy="256032"/>
          </a:xfrm>
          <a:prstGeom prst="rect">
            <a:avLst/>
          </a:prstGeom>
          <a:solidFill>
            <a:srgbClr val="1E2D5A"/>
          </a:solidFill>
          <a:ln w="9525">
            <a:solidFill>
              <a:srgbClr val="F59E0B"/>
            </a:solidFill>
            <a:prstDash val="solid"/>
          </a:ln>
        </p:spPr>
        <p:txBody>
          <a:bodyPr/>
          <a:lstStyle/>
          <a:p>
            <a:endParaRPr lang="en-US"/>
          </a:p>
        </p:txBody>
      </p:sp>
      <p:sp>
        <p:nvSpPr>
          <p:cNvPr id="7" name="Text 5"/>
          <p:cNvSpPr/>
          <p:nvPr/>
        </p:nvSpPr>
        <p:spPr>
          <a:xfrm>
            <a:off x="640080" y="1737360"/>
            <a:ext cx="2318004"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REGULATIONS &amp; STANDARDS</a:t>
            </a:r>
            <a:endParaRPr lang="en-US" sz="900" dirty="0"/>
          </a:p>
        </p:txBody>
      </p:sp>
      <p:sp>
        <p:nvSpPr>
          <p:cNvPr id="8" name="Shape 6"/>
          <p:cNvSpPr/>
          <p:nvPr/>
        </p:nvSpPr>
        <p:spPr>
          <a:xfrm>
            <a:off x="685800" y="2221992"/>
            <a:ext cx="73152" cy="73152"/>
          </a:xfrm>
          <a:prstGeom prst="rect">
            <a:avLst/>
          </a:prstGeom>
          <a:solidFill>
            <a:srgbClr val="8844DD"/>
          </a:solidFill>
          <a:ln w="12700">
            <a:solidFill>
              <a:srgbClr val="8844DD"/>
            </a:solidFill>
            <a:prstDash val="solid"/>
          </a:ln>
        </p:spPr>
        <p:txBody>
          <a:bodyPr/>
          <a:lstStyle/>
          <a:p>
            <a:endParaRPr lang="en-US"/>
          </a:p>
        </p:txBody>
      </p:sp>
      <p:sp>
        <p:nvSpPr>
          <p:cNvPr id="9" name="Text 7"/>
          <p:cNvSpPr/>
          <p:nvPr/>
        </p:nvSpPr>
        <p:spPr>
          <a:xfrm>
            <a:off x="868680" y="214884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32 CFR Part 170: CMMC Program</a:t>
            </a:r>
            <a:endParaRPr lang="en-US" sz="950" dirty="0"/>
          </a:p>
        </p:txBody>
      </p:sp>
      <p:sp>
        <p:nvSpPr>
          <p:cNvPr id="10" name="Text 8"/>
          <p:cNvSpPr/>
          <p:nvPr/>
        </p:nvSpPr>
        <p:spPr>
          <a:xfrm>
            <a:off x="868680" y="232257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ecfr.gov/current/title-32/part-170</a:t>
            </a:r>
            <a:endParaRPr lang="en-US" sz="850" dirty="0"/>
          </a:p>
        </p:txBody>
      </p:sp>
      <p:sp>
        <p:nvSpPr>
          <p:cNvPr id="11" name="Shape 9"/>
          <p:cNvSpPr/>
          <p:nvPr/>
        </p:nvSpPr>
        <p:spPr>
          <a:xfrm>
            <a:off x="685800" y="2560320"/>
            <a:ext cx="73152" cy="73152"/>
          </a:xfrm>
          <a:prstGeom prst="rect">
            <a:avLst/>
          </a:prstGeom>
          <a:solidFill>
            <a:srgbClr val="8844DD"/>
          </a:solidFill>
          <a:ln w="12700">
            <a:solidFill>
              <a:srgbClr val="8844DD"/>
            </a:solidFill>
            <a:prstDash val="solid"/>
          </a:ln>
        </p:spPr>
        <p:txBody>
          <a:bodyPr/>
          <a:lstStyle/>
          <a:p>
            <a:endParaRPr lang="en-US"/>
          </a:p>
        </p:txBody>
      </p:sp>
      <p:sp>
        <p:nvSpPr>
          <p:cNvPr id="12" name="Text 10"/>
          <p:cNvSpPr/>
          <p:nvPr/>
        </p:nvSpPr>
        <p:spPr>
          <a:xfrm>
            <a:off x="868680" y="2487168"/>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48 CFR Part 204: CMMC Acquisition Rule (DFARS)</a:t>
            </a:r>
            <a:endParaRPr lang="en-US" sz="950" dirty="0"/>
          </a:p>
        </p:txBody>
      </p:sp>
      <p:sp>
        <p:nvSpPr>
          <p:cNvPr id="13" name="Text 11"/>
          <p:cNvSpPr/>
          <p:nvPr/>
        </p:nvSpPr>
        <p:spPr>
          <a:xfrm>
            <a:off x="868680" y="2660904"/>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ecfr.gov/current/title-48</a:t>
            </a:r>
            <a:endParaRPr lang="en-US" sz="850" dirty="0"/>
          </a:p>
        </p:txBody>
      </p:sp>
      <p:sp>
        <p:nvSpPr>
          <p:cNvPr id="14" name="Shape 12"/>
          <p:cNvSpPr/>
          <p:nvPr/>
        </p:nvSpPr>
        <p:spPr>
          <a:xfrm>
            <a:off x="685800" y="2898648"/>
            <a:ext cx="73152" cy="73152"/>
          </a:xfrm>
          <a:prstGeom prst="rect">
            <a:avLst/>
          </a:prstGeom>
          <a:solidFill>
            <a:srgbClr val="8844DD"/>
          </a:solidFill>
          <a:ln w="12700">
            <a:solidFill>
              <a:srgbClr val="8844DD"/>
            </a:solidFill>
            <a:prstDash val="solid"/>
          </a:ln>
        </p:spPr>
        <p:txBody>
          <a:bodyPr/>
          <a:lstStyle/>
          <a:p>
            <a:endParaRPr lang="en-US"/>
          </a:p>
        </p:txBody>
      </p:sp>
      <p:sp>
        <p:nvSpPr>
          <p:cNvPr id="15" name="Text 13"/>
          <p:cNvSpPr/>
          <p:nvPr/>
        </p:nvSpPr>
        <p:spPr>
          <a:xfrm>
            <a:off x="868680" y="2825496"/>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DFARS 252.204-7012: Safeguarding CDI &amp; Reporting</a:t>
            </a:r>
            <a:endParaRPr lang="en-US" sz="950" dirty="0"/>
          </a:p>
        </p:txBody>
      </p:sp>
      <p:sp>
        <p:nvSpPr>
          <p:cNvPr id="16" name="Text 14"/>
          <p:cNvSpPr/>
          <p:nvPr/>
        </p:nvSpPr>
        <p:spPr>
          <a:xfrm>
            <a:off x="868680" y="2999232"/>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acquisition.gov/dfars/252.204-7012</a:t>
            </a:r>
            <a:endParaRPr lang="en-US" sz="850" dirty="0"/>
          </a:p>
        </p:txBody>
      </p:sp>
      <p:sp>
        <p:nvSpPr>
          <p:cNvPr id="17" name="Shape 15"/>
          <p:cNvSpPr/>
          <p:nvPr/>
        </p:nvSpPr>
        <p:spPr>
          <a:xfrm>
            <a:off x="685800" y="3236976"/>
            <a:ext cx="73152" cy="73152"/>
          </a:xfrm>
          <a:prstGeom prst="rect">
            <a:avLst/>
          </a:prstGeom>
          <a:solidFill>
            <a:srgbClr val="8844DD"/>
          </a:solidFill>
          <a:ln w="12700">
            <a:solidFill>
              <a:srgbClr val="8844DD"/>
            </a:solidFill>
            <a:prstDash val="solid"/>
          </a:ln>
        </p:spPr>
        <p:txBody>
          <a:bodyPr/>
          <a:lstStyle/>
          <a:p>
            <a:endParaRPr lang="en-US"/>
          </a:p>
        </p:txBody>
      </p:sp>
      <p:sp>
        <p:nvSpPr>
          <p:cNvPr id="18" name="Text 16"/>
          <p:cNvSpPr/>
          <p:nvPr/>
        </p:nvSpPr>
        <p:spPr>
          <a:xfrm>
            <a:off x="868680" y="3163824"/>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DFARS 252.204-7019 / 7020 / 7021</a:t>
            </a:r>
            <a:endParaRPr lang="en-US" sz="950" dirty="0"/>
          </a:p>
        </p:txBody>
      </p:sp>
      <p:sp>
        <p:nvSpPr>
          <p:cNvPr id="19" name="Text 17"/>
          <p:cNvSpPr/>
          <p:nvPr/>
        </p:nvSpPr>
        <p:spPr>
          <a:xfrm>
            <a:off x="868680" y="3337560"/>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acquisition.gov/dfars</a:t>
            </a:r>
            <a:endParaRPr lang="en-US" sz="850" dirty="0"/>
          </a:p>
        </p:txBody>
      </p:sp>
      <p:sp>
        <p:nvSpPr>
          <p:cNvPr id="20" name="Shape 18"/>
          <p:cNvSpPr/>
          <p:nvPr/>
        </p:nvSpPr>
        <p:spPr>
          <a:xfrm>
            <a:off x="685800" y="3575304"/>
            <a:ext cx="73152" cy="73152"/>
          </a:xfrm>
          <a:prstGeom prst="rect">
            <a:avLst/>
          </a:prstGeom>
          <a:solidFill>
            <a:srgbClr val="8844DD"/>
          </a:solidFill>
          <a:ln w="12700">
            <a:solidFill>
              <a:srgbClr val="8844DD"/>
            </a:solidFill>
            <a:prstDash val="solid"/>
          </a:ln>
        </p:spPr>
        <p:txBody>
          <a:bodyPr/>
          <a:lstStyle/>
          <a:p>
            <a:endParaRPr lang="en-US"/>
          </a:p>
        </p:txBody>
      </p:sp>
      <p:sp>
        <p:nvSpPr>
          <p:cNvPr id="21" name="Text 19"/>
          <p:cNvSpPr/>
          <p:nvPr/>
        </p:nvSpPr>
        <p:spPr>
          <a:xfrm>
            <a:off x="868680" y="3502152"/>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FAR 52.204-21: Basic Safeguarding (15 controls)</a:t>
            </a:r>
            <a:endParaRPr lang="en-US" sz="950" dirty="0"/>
          </a:p>
        </p:txBody>
      </p:sp>
      <p:sp>
        <p:nvSpPr>
          <p:cNvPr id="22" name="Text 20"/>
          <p:cNvSpPr/>
          <p:nvPr/>
        </p:nvSpPr>
        <p:spPr>
          <a:xfrm>
            <a:off x="868680" y="3675888"/>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acquisition.gov/far/52.204-21</a:t>
            </a:r>
            <a:endParaRPr lang="en-US" sz="850" dirty="0"/>
          </a:p>
        </p:txBody>
      </p:sp>
      <p:sp>
        <p:nvSpPr>
          <p:cNvPr id="23" name="Shape 21"/>
          <p:cNvSpPr/>
          <p:nvPr/>
        </p:nvSpPr>
        <p:spPr>
          <a:xfrm>
            <a:off x="685800" y="3913632"/>
            <a:ext cx="73152" cy="73152"/>
          </a:xfrm>
          <a:prstGeom prst="rect">
            <a:avLst/>
          </a:prstGeom>
          <a:solidFill>
            <a:srgbClr val="8844DD"/>
          </a:solidFill>
          <a:ln w="12700">
            <a:solidFill>
              <a:srgbClr val="8844DD"/>
            </a:solidFill>
            <a:prstDash val="solid"/>
          </a:ln>
        </p:spPr>
        <p:txBody>
          <a:bodyPr/>
          <a:lstStyle/>
          <a:p>
            <a:endParaRPr lang="en-US"/>
          </a:p>
        </p:txBody>
      </p:sp>
      <p:sp>
        <p:nvSpPr>
          <p:cNvPr id="24" name="Text 22"/>
          <p:cNvSpPr/>
          <p:nvPr/>
        </p:nvSpPr>
        <p:spPr>
          <a:xfrm>
            <a:off x="868680" y="384048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NIST SP 800-171 Rev. 2: Protecting CUI</a:t>
            </a:r>
            <a:endParaRPr lang="en-US" sz="950" dirty="0"/>
          </a:p>
        </p:txBody>
      </p:sp>
      <p:sp>
        <p:nvSpPr>
          <p:cNvPr id="25" name="Text 23"/>
          <p:cNvSpPr/>
          <p:nvPr/>
        </p:nvSpPr>
        <p:spPr>
          <a:xfrm>
            <a:off x="868680" y="401421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nvlpubs.nist.gov/.../NIST.SP.800-171r2.pdf</a:t>
            </a:r>
            <a:endParaRPr lang="en-US" sz="850" dirty="0"/>
          </a:p>
        </p:txBody>
      </p:sp>
      <p:sp>
        <p:nvSpPr>
          <p:cNvPr id="26" name="Shape 24"/>
          <p:cNvSpPr/>
          <p:nvPr/>
        </p:nvSpPr>
        <p:spPr>
          <a:xfrm>
            <a:off x="685800" y="4251960"/>
            <a:ext cx="73152" cy="73152"/>
          </a:xfrm>
          <a:prstGeom prst="rect">
            <a:avLst/>
          </a:prstGeom>
          <a:solidFill>
            <a:srgbClr val="8844DD"/>
          </a:solidFill>
          <a:ln w="12700">
            <a:solidFill>
              <a:srgbClr val="8844DD"/>
            </a:solidFill>
            <a:prstDash val="solid"/>
          </a:ln>
        </p:spPr>
        <p:txBody>
          <a:bodyPr/>
          <a:lstStyle/>
          <a:p>
            <a:endParaRPr lang="en-US"/>
          </a:p>
        </p:txBody>
      </p:sp>
      <p:sp>
        <p:nvSpPr>
          <p:cNvPr id="27" name="Text 25"/>
          <p:cNvSpPr/>
          <p:nvPr/>
        </p:nvSpPr>
        <p:spPr>
          <a:xfrm>
            <a:off x="868680" y="4178808"/>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NIST SP 800-171A: Assessment Procedures</a:t>
            </a:r>
            <a:endParaRPr lang="en-US" sz="950" dirty="0"/>
          </a:p>
        </p:txBody>
      </p:sp>
      <p:sp>
        <p:nvSpPr>
          <p:cNvPr id="28" name="Text 26"/>
          <p:cNvSpPr/>
          <p:nvPr/>
        </p:nvSpPr>
        <p:spPr>
          <a:xfrm>
            <a:off x="868680" y="4352544"/>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nvlpubs.nist.gov/.../NIST.SP.800-171A.pdf</a:t>
            </a:r>
            <a:endParaRPr lang="en-US" sz="850" dirty="0"/>
          </a:p>
        </p:txBody>
      </p:sp>
      <p:sp>
        <p:nvSpPr>
          <p:cNvPr id="29" name="Shape 27"/>
          <p:cNvSpPr/>
          <p:nvPr/>
        </p:nvSpPr>
        <p:spPr>
          <a:xfrm>
            <a:off x="685800" y="4590288"/>
            <a:ext cx="73152" cy="73152"/>
          </a:xfrm>
          <a:prstGeom prst="rect">
            <a:avLst/>
          </a:prstGeom>
          <a:solidFill>
            <a:srgbClr val="8844DD"/>
          </a:solidFill>
          <a:ln w="12700">
            <a:solidFill>
              <a:srgbClr val="8844DD"/>
            </a:solidFill>
            <a:prstDash val="solid"/>
          </a:ln>
        </p:spPr>
        <p:txBody>
          <a:bodyPr/>
          <a:lstStyle/>
          <a:p>
            <a:endParaRPr lang="en-US"/>
          </a:p>
        </p:txBody>
      </p:sp>
      <p:sp>
        <p:nvSpPr>
          <p:cNvPr id="30" name="Text 28"/>
          <p:cNvSpPr/>
          <p:nvPr/>
        </p:nvSpPr>
        <p:spPr>
          <a:xfrm>
            <a:off x="868680" y="4517136"/>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NIST SP 800-172: Enhanced Requirements (L3)</a:t>
            </a:r>
            <a:endParaRPr lang="en-US" sz="950" dirty="0"/>
          </a:p>
        </p:txBody>
      </p:sp>
      <p:sp>
        <p:nvSpPr>
          <p:cNvPr id="31" name="Text 29"/>
          <p:cNvSpPr/>
          <p:nvPr/>
        </p:nvSpPr>
        <p:spPr>
          <a:xfrm>
            <a:off x="868680" y="4690872"/>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nvlpubs.nist.gov/.../NIST.SP.800-172.pdf</a:t>
            </a:r>
            <a:endParaRPr lang="en-US" sz="850" dirty="0"/>
          </a:p>
        </p:txBody>
      </p:sp>
      <p:sp>
        <p:nvSpPr>
          <p:cNvPr id="32" name="Shape 30"/>
          <p:cNvSpPr/>
          <p:nvPr/>
        </p:nvSpPr>
        <p:spPr>
          <a:xfrm>
            <a:off x="685800" y="4928616"/>
            <a:ext cx="73152" cy="73152"/>
          </a:xfrm>
          <a:prstGeom prst="rect">
            <a:avLst/>
          </a:prstGeom>
          <a:solidFill>
            <a:srgbClr val="8844DD"/>
          </a:solidFill>
          <a:ln w="12700">
            <a:solidFill>
              <a:srgbClr val="8844DD"/>
            </a:solidFill>
            <a:prstDash val="solid"/>
          </a:ln>
        </p:spPr>
        <p:txBody>
          <a:bodyPr/>
          <a:lstStyle/>
          <a:p>
            <a:endParaRPr lang="en-US"/>
          </a:p>
        </p:txBody>
      </p:sp>
      <p:sp>
        <p:nvSpPr>
          <p:cNvPr id="33" name="Text 31"/>
          <p:cNvSpPr/>
          <p:nvPr/>
        </p:nvSpPr>
        <p:spPr>
          <a:xfrm>
            <a:off x="868680" y="4855464"/>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NIST SP 800-37 Rev. 2: Risk Management Framework</a:t>
            </a:r>
            <a:endParaRPr lang="en-US" sz="950" dirty="0"/>
          </a:p>
        </p:txBody>
      </p:sp>
      <p:sp>
        <p:nvSpPr>
          <p:cNvPr id="34" name="Text 32"/>
          <p:cNvSpPr/>
          <p:nvPr/>
        </p:nvSpPr>
        <p:spPr>
          <a:xfrm>
            <a:off x="868680" y="5029200"/>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nvlpubs.nist.gov/.../NIST.SP.800-37r2.pdf</a:t>
            </a:r>
            <a:endParaRPr lang="en-US" sz="850" dirty="0"/>
          </a:p>
        </p:txBody>
      </p:sp>
      <p:sp>
        <p:nvSpPr>
          <p:cNvPr id="35" name="Shape 33"/>
          <p:cNvSpPr/>
          <p:nvPr/>
        </p:nvSpPr>
        <p:spPr>
          <a:xfrm>
            <a:off x="685800" y="5266944"/>
            <a:ext cx="73152" cy="73152"/>
          </a:xfrm>
          <a:prstGeom prst="rect">
            <a:avLst/>
          </a:prstGeom>
          <a:solidFill>
            <a:srgbClr val="8844DD"/>
          </a:solidFill>
          <a:ln w="12700">
            <a:solidFill>
              <a:srgbClr val="8844DD"/>
            </a:solidFill>
            <a:prstDash val="solid"/>
          </a:ln>
        </p:spPr>
        <p:txBody>
          <a:bodyPr/>
          <a:lstStyle/>
          <a:p>
            <a:endParaRPr lang="en-US"/>
          </a:p>
        </p:txBody>
      </p:sp>
      <p:sp>
        <p:nvSpPr>
          <p:cNvPr id="36" name="Text 34"/>
          <p:cNvSpPr/>
          <p:nvPr/>
        </p:nvSpPr>
        <p:spPr>
          <a:xfrm>
            <a:off x="868680" y="5193792"/>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DoD CMMC Level 2 Scoping Guide</a:t>
            </a:r>
            <a:endParaRPr lang="en-US" sz="950" dirty="0"/>
          </a:p>
        </p:txBody>
      </p:sp>
      <p:sp>
        <p:nvSpPr>
          <p:cNvPr id="37" name="Text 35"/>
          <p:cNvSpPr/>
          <p:nvPr/>
        </p:nvSpPr>
        <p:spPr>
          <a:xfrm>
            <a:off x="868680" y="5367528"/>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dodcio.defense.gov/Portals/0/Documents/CMMC/ScopingGuideL2.pdf</a:t>
            </a:r>
            <a:endParaRPr lang="en-US" sz="850" dirty="0"/>
          </a:p>
        </p:txBody>
      </p:sp>
      <p:sp>
        <p:nvSpPr>
          <p:cNvPr id="38" name="Shape 36"/>
          <p:cNvSpPr/>
          <p:nvPr/>
        </p:nvSpPr>
        <p:spPr>
          <a:xfrm>
            <a:off x="685800" y="5605272"/>
            <a:ext cx="73152" cy="73152"/>
          </a:xfrm>
          <a:prstGeom prst="rect">
            <a:avLst/>
          </a:prstGeom>
          <a:solidFill>
            <a:srgbClr val="8844DD"/>
          </a:solidFill>
          <a:ln w="12700">
            <a:solidFill>
              <a:srgbClr val="8844DD"/>
            </a:solidFill>
            <a:prstDash val="solid"/>
          </a:ln>
        </p:spPr>
        <p:txBody>
          <a:bodyPr/>
          <a:lstStyle/>
          <a:p>
            <a:endParaRPr lang="en-US"/>
          </a:p>
        </p:txBody>
      </p:sp>
      <p:sp>
        <p:nvSpPr>
          <p:cNvPr id="39" name="Text 37"/>
          <p:cNvSpPr/>
          <p:nvPr/>
        </p:nvSpPr>
        <p:spPr>
          <a:xfrm>
            <a:off x="868680" y="553212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DoD Assessment Methodology (NIST 800-171 DoD AM)</a:t>
            </a:r>
            <a:endParaRPr lang="en-US" sz="950" dirty="0"/>
          </a:p>
        </p:txBody>
      </p:sp>
      <p:sp>
        <p:nvSpPr>
          <p:cNvPr id="40" name="Text 38"/>
          <p:cNvSpPr/>
          <p:nvPr/>
        </p:nvSpPr>
        <p:spPr>
          <a:xfrm>
            <a:off x="868680" y="570585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dodcio.defense.gov/CMMC</a:t>
            </a:r>
            <a:endParaRPr lang="en-US" sz="850" dirty="0"/>
          </a:p>
        </p:txBody>
      </p:sp>
      <p:sp>
        <p:nvSpPr>
          <p:cNvPr id="41" name="Shape 39"/>
          <p:cNvSpPr/>
          <p:nvPr/>
        </p:nvSpPr>
        <p:spPr>
          <a:xfrm>
            <a:off x="6217920" y="1554480"/>
            <a:ext cx="5532120" cy="4434840"/>
          </a:xfrm>
          <a:prstGeom prst="rect">
            <a:avLst/>
          </a:prstGeom>
          <a:solidFill>
            <a:srgbClr val="131A35"/>
          </a:solidFill>
          <a:ln w="9525">
            <a:solidFill>
              <a:srgbClr val="1E2D5A"/>
            </a:solidFill>
            <a:prstDash val="solid"/>
          </a:ln>
        </p:spPr>
        <p:txBody>
          <a:bodyPr/>
          <a:lstStyle/>
          <a:p>
            <a:endParaRPr lang="en-US"/>
          </a:p>
        </p:txBody>
      </p:sp>
      <p:sp>
        <p:nvSpPr>
          <p:cNvPr id="42" name="Shape 40"/>
          <p:cNvSpPr/>
          <p:nvPr/>
        </p:nvSpPr>
        <p:spPr>
          <a:xfrm>
            <a:off x="6400800" y="1737360"/>
            <a:ext cx="2665476" cy="256032"/>
          </a:xfrm>
          <a:prstGeom prst="rect">
            <a:avLst/>
          </a:prstGeom>
          <a:solidFill>
            <a:srgbClr val="1E2D5A"/>
          </a:solidFill>
          <a:ln w="9525">
            <a:solidFill>
              <a:srgbClr val="F59E0B"/>
            </a:solidFill>
            <a:prstDash val="solid"/>
          </a:ln>
        </p:spPr>
        <p:txBody>
          <a:bodyPr/>
          <a:lstStyle/>
          <a:p>
            <a:endParaRPr lang="en-US"/>
          </a:p>
        </p:txBody>
      </p:sp>
      <p:sp>
        <p:nvSpPr>
          <p:cNvPr id="43" name="Text 41"/>
          <p:cNvSpPr/>
          <p:nvPr/>
        </p:nvSpPr>
        <p:spPr>
          <a:xfrm>
            <a:off x="6400800" y="1737360"/>
            <a:ext cx="2665476" cy="256032"/>
          </a:xfrm>
          <a:prstGeom prst="rect">
            <a:avLst/>
          </a:prstGeom>
          <a:noFill/>
          <a:ln/>
        </p:spPr>
        <p:txBody>
          <a:bodyPr wrap="square" lIns="0" tIns="0" rIns="0" bIns="0" rtlCol="0" anchor="ctr"/>
          <a:lstStyle/>
          <a:p>
            <a:pPr marL="0" indent="0" algn="ctr">
              <a:buNone/>
            </a:pPr>
            <a:r>
              <a:rPr lang="en-US" sz="900" b="1" kern="0" spc="200" dirty="0">
                <a:solidFill>
                  <a:srgbClr val="F59E0B"/>
                </a:solidFill>
                <a:latin typeface="Calibri" pitchFamily="34" charset="0"/>
                <a:ea typeface="Calibri" pitchFamily="34" charset="-122"/>
                <a:cs typeface="Calibri" pitchFamily="34" charset="-120"/>
              </a:rPr>
              <a:t>OFFICIAL BODIES &amp; RESOURCES</a:t>
            </a:r>
            <a:endParaRPr lang="en-US" sz="900" dirty="0"/>
          </a:p>
        </p:txBody>
      </p:sp>
      <p:sp>
        <p:nvSpPr>
          <p:cNvPr id="44" name="Shape 42"/>
          <p:cNvSpPr/>
          <p:nvPr/>
        </p:nvSpPr>
        <p:spPr>
          <a:xfrm>
            <a:off x="6446520" y="2221992"/>
            <a:ext cx="73152" cy="73152"/>
          </a:xfrm>
          <a:prstGeom prst="rect">
            <a:avLst/>
          </a:prstGeom>
          <a:solidFill>
            <a:srgbClr val="60A3F1"/>
          </a:solidFill>
          <a:ln w="12700">
            <a:solidFill>
              <a:srgbClr val="60A3F1"/>
            </a:solidFill>
            <a:prstDash val="solid"/>
          </a:ln>
        </p:spPr>
        <p:txBody>
          <a:bodyPr/>
          <a:lstStyle/>
          <a:p>
            <a:endParaRPr lang="en-US"/>
          </a:p>
        </p:txBody>
      </p:sp>
      <p:sp>
        <p:nvSpPr>
          <p:cNvPr id="45" name="Text 43"/>
          <p:cNvSpPr/>
          <p:nvPr/>
        </p:nvSpPr>
        <p:spPr>
          <a:xfrm>
            <a:off x="6629400" y="214884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DoD CIO: CMMC Program Office</a:t>
            </a:r>
            <a:endParaRPr lang="en-US" sz="950" dirty="0"/>
          </a:p>
        </p:txBody>
      </p:sp>
      <p:sp>
        <p:nvSpPr>
          <p:cNvPr id="46" name="Text 44"/>
          <p:cNvSpPr/>
          <p:nvPr/>
        </p:nvSpPr>
        <p:spPr>
          <a:xfrm>
            <a:off x="6629400" y="232257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dodcio.defense.gov/CMMC</a:t>
            </a:r>
            <a:endParaRPr lang="en-US" sz="850" dirty="0"/>
          </a:p>
        </p:txBody>
      </p:sp>
      <p:sp>
        <p:nvSpPr>
          <p:cNvPr id="47" name="Shape 45"/>
          <p:cNvSpPr/>
          <p:nvPr/>
        </p:nvSpPr>
        <p:spPr>
          <a:xfrm>
            <a:off x="6446520" y="2560320"/>
            <a:ext cx="73152" cy="73152"/>
          </a:xfrm>
          <a:prstGeom prst="rect">
            <a:avLst/>
          </a:prstGeom>
          <a:solidFill>
            <a:srgbClr val="60A3F1"/>
          </a:solidFill>
          <a:ln w="12700">
            <a:solidFill>
              <a:srgbClr val="60A3F1"/>
            </a:solidFill>
            <a:prstDash val="solid"/>
          </a:ln>
        </p:spPr>
        <p:txBody>
          <a:bodyPr/>
          <a:lstStyle/>
          <a:p>
            <a:endParaRPr lang="en-US"/>
          </a:p>
        </p:txBody>
      </p:sp>
      <p:sp>
        <p:nvSpPr>
          <p:cNvPr id="48" name="Text 46"/>
          <p:cNvSpPr/>
          <p:nvPr/>
        </p:nvSpPr>
        <p:spPr>
          <a:xfrm>
            <a:off x="6629400" y="2487168"/>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Cyber-AB: CMMC Accreditation Body</a:t>
            </a:r>
            <a:endParaRPr lang="en-US" sz="950" dirty="0"/>
          </a:p>
        </p:txBody>
      </p:sp>
      <p:sp>
        <p:nvSpPr>
          <p:cNvPr id="49" name="Text 47"/>
          <p:cNvSpPr/>
          <p:nvPr/>
        </p:nvSpPr>
        <p:spPr>
          <a:xfrm>
            <a:off x="6629400" y="2660904"/>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cyberab.org</a:t>
            </a:r>
            <a:endParaRPr lang="en-US" sz="850" dirty="0"/>
          </a:p>
        </p:txBody>
      </p:sp>
      <p:sp>
        <p:nvSpPr>
          <p:cNvPr id="50" name="Shape 48"/>
          <p:cNvSpPr/>
          <p:nvPr/>
        </p:nvSpPr>
        <p:spPr>
          <a:xfrm>
            <a:off x="6446520" y="2898648"/>
            <a:ext cx="73152" cy="73152"/>
          </a:xfrm>
          <a:prstGeom prst="rect">
            <a:avLst/>
          </a:prstGeom>
          <a:solidFill>
            <a:srgbClr val="60A3F1"/>
          </a:solidFill>
          <a:ln w="12700">
            <a:solidFill>
              <a:srgbClr val="60A3F1"/>
            </a:solidFill>
            <a:prstDash val="solid"/>
          </a:ln>
        </p:spPr>
        <p:txBody>
          <a:bodyPr/>
          <a:lstStyle/>
          <a:p>
            <a:endParaRPr lang="en-US"/>
          </a:p>
        </p:txBody>
      </p:sp>
      <p:sp>
        <p:nvSpPr>
          <p:cNvPr id="51" name="Text 49"/>
          <p:cNvSpPr/>
          <p:nvPr/>
        </p:nvSpPr>
        <p:spPr>
          <a:xfrm>
            <a:off x="6629400" y="2825496"/>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DoD DIBCAC: Defense Industrial Base Cyber Assessment Center</a:t>
            </a:r>
            <a:endParaRPr lang="en-US" sz="950" dirty="0"/>
          </a:p>
        </p:txBody>
      </p:sp>
      <p:sp>
        <p:nvSpPr>
          <p:cNvPr id="52" name="Text 50"/>
          <p:cNvSpPr/>
          <p:nvPr/>
        </p:nvSpPr>
        <p:spPr>
          <a:xfrm>
            <a:off x="6629400" y="2999232"/>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dcma.mil/DIBCAC</a:t>
            </a:r>
            <a:endParaRPr lang="en-US" sz="850" dirty="0"/>
          </a:p>
        </p:txBody>
      </p:sp>
      <p:sp>
        <p:nvSpPr>
          <p:cNvPr id="53" name="Shape 51"/>
          <p:cNvSpPr/>
          <p:nvPr/>
        </p:nvSpPr>
        <p:spPr>
          <a:xfrm>
            <a:off x="6446520" y="3236976"/>
            <a:ext cx="73152" cy="73152"/>
          </a:xfrm>
          <a:prstGeom prst="rect">
            <a:avLst/>
          </a:prstGeom>
          <a:solidFill>
            <a:srgbClr val="60A3F1"/>
          </a:solidFill>
          <a:ln w="12700">
            <a:solidFill>
              <a:srgbClr val="60A3F1"/>
            </a:solidFill>
            <a:prstDash val="solid"/>
          </a:ln>
        </p:spPr>
        <p:txBody>
          <a:bodyPr/>
          <a:lstStyle/>
          <a:p>
            <a:endParaRPr lang="en-US"/>
          </a:p>
        </p:txBody>
      </p:sp>
      <p:sp>
        <p:nvSpPr>
          <p:cNvPr id="54" name="Text 52"/>
          <p:cNvSpPr/>
          <p:nvPr/>
        </p:nvSpPr>
        <p:spPr>
          <a:xfrm>
            <a:off x="6629400" y="3163824"/>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SPRS: Supplier Performance Risk System</a:t>
            </a:r>
            <a:endParaRPr lang="en-US" sz="950" dirty="0"/>
          </a:p>
        </p:txBody>
      </p:sp>
      <p:sp>
        <p:nvSpPr>
          <p:cNvPr id="55" name="Text 53"/>
          <p:cNvSpPr/>
          <p:nvPr/>
        </p:nvSpPr>
        <p:spPr>
          <a:xfrm>
            <a:off x="6629400" y="3337560"/>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sprs.csd.disa.mil</a:t>
            </a:r>
            <a:endParaRPr lang="en-US" sz="850" dirty="0"/>
          </a:p>
        </p:txBody>
      </p:sp>
      <p:sp>
        <p:nvSpPr>
          <p:cNvPr id="56" name="Shape 54"/>
          <p:cNvSpPr/>
          <p:nvPr/>
        </p:nvSpPr>
        <p:spPr>
          <a:xfrm>
            <a:off x="6446520" y="3575304"/>
            <a:ext cx="73152" cy="73152"/>
          </a:xfrm>
          <a:prstGeom prst="rect">
            <a:avLst/>
          </a:prstGeom>
          <a:solidFill>
            <a:srgbClr val="60A3F1"/>
          </a:solidFill>
          <a:ln w="12700">
            <a:solidFill>
              <a:srgbClr val="60A3F1"/>
            </a:solidFill>
            <a:prstDash val="solid"/>
          </a:ln>
        </p:spPr>
        <p:txBody>
          <a:bodyPr/>
          <a:lstStyle/>
          <a:p>
            <a:endParaRPr lang="en-US"/>
          </a:p>
        </p:txBody>
      </p:sp>
      <p:sp>
        <p:nvSpPr>
          <p:cNvPr id="57" name="Text 55"/>
          <p:cNvSpPr/>
          <p:nvPr/>
        </p:nvSpPr>
        <p:spPr>
          <a:xfrm>
            <a:off x="6629400" y="3502152"/>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PIEE: Procurement Integrated Enterprise Env.</a:t>
            </a:r>
            <a:endParaRPr lang="en-US" sz="950" dirty="0"/>
          </a:p>
        </p:txBody>
      </p:sp>
      <p:sp>
        <p:nvSpPr>
          <p:cNvPr id="58" name="Text 56"/>
          <p:cNvSpPr/>
          <p:nvPr/>
        </p:nvSpPr>
        <p:spPr>
          <a:xfrm>
            <a:off x="6629400" y="3675888"/>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piee.eb.mil</a:t>
            </a:r>
            <a:endParaRPr lang="en-US" sz="850" dirty="0"/>
          </a:p>
        </p:txBody>
      </p:sp>
      <p:sp>
        <p:nvSpPr>
          <p:cNvPr id="59" name="Shape 57"/>
          <p:cNvSpPr/>
          <p:nvPr/>
        </p:nvSpPr>
        <p:spPr>
          <a:xfrm>
            <a:off x="6446520" y="3913632"/>
            <a:ext cx="73152" cy="73152"/>
          </a:xfrm>
          <a:prstGeom prst="rect">
            <a:avLst/>
          </a:prstGeom>
          <a:solidFill>
            <a:srgbClr val="60A3F1"/>
          </a:solidFill>
          <a:ln w="12700">
            <a:solidFill>
              <a:srgbClr val="60A3F1"/>
            </a:solidFill>
            <a:prstDash val="solid"/>
          </a:ln>
        </p:spPr>
        <p:txBody>
          <a:bodyPr/>
          <a:lstStyle/>
          <a:p>
            <a:endParaRPr lang="en-US"/>
          </a:p>
        </p:txBody>
      </p:sp>
      <p:sp>
        <p:nvSpPr>
          <p:cNvPr id="60" name="Text 58"/>
          <p:cNvSpPr/>
          <p:nvPr/>
        </p:nvSpPr>
        <p:spPr>
          <a:xfrm>
            <a:off x="6629400" y="384048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DIBNet: Incident reporting (7012)</a:t>
            </a:r>
            <a:endParaRPr lang="en-US" sz="950" dirty="0"/>
          </a:p>
        </p:txBody>
      </p:sp>
      <p:sp>
        <p:nvSpPr>
          <p:cNvPr id="61" name="Text 59"/>
          <p:cNvSpPr/>
          <p:nvPr/>
        </p:nvSpPr>
        <p:spPr>
          <a:xfrm>
            <a:off x="6629400" y="401421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dibnet.dod.mil</a:t>
            </a:r>
            <a:endParaRPr lang="en-US" sz="850" dirty="0"/>
          </a:p>
        </p:txBody>
      </p:sp>
      <p:sp>
        <p:nvSpPr>
          <p:cNvPr id="62" name="Shape 60"/>
          <p:cNvSpPr/>
          <p:nvPr/>
        </p:nvSpPr>
        <p:spPr>
          <a:xfrm>
            <a:off x="6446520" y="4251960"/>
            <a:ext cx="73152" cy="73152"/>
          </a:xfrm>
          <a:prstGeom prst="rect">
            <a:avLst/>
          </a:prstGeom>
          <a:solidFill>
            <a:srgbClr val="60A3F1"/>
          </a:solidFill>
          <a:ln w="12700">
            <a:solidFill>
              <a:srgbClr val="60A3F1"/>
            </a:solidFill>
            <a:prstDash val="solid"/>
          </a:ln>
        </p:spPr>
        <p:txBody>
          <a:bodyPr/>
          <a:lstStyle/>
          <a:p>
            <a:endParaRPr lang="en-US"/>
          </a:p>
        </p:txBody>
      </p:sp>
      <p:sp>
        <p:nvSpPr>
          <p:cNvPr id="63" name="Text 61"/>
          <p:cNvSpPr/>
          <p:nvPr/>
        </p:nvSpPr>
        <p:spPr>
          <a:xfrm>
            <a:off x="6629400" y="4178808"/>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Project Spectrum: DoD SBA cyber resources</a:t>
            </a:r>
            <a:endParaRPr lang="en-US" sz="950" dirty="0"/>
          </a:p>
        </p:txBody>
      </p:sp>
      <p:sp>
        <p:nvSpPr>
          <p:cNvPr id="64" name="Text 62"/>
          <p:cNvSpPr/>
          <p:nvPr/>
        </p:nvSpPr>
        <p:spPr>
          <a:xfrm>
            <a:off x="6629400" y="4352544"/>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projectspectrum.io</a:t>
            </a:r>
            <a:endParaRPr lang="en-US" sz="850" dirty="0"/>
          </a:p>
        </p:txBody>
      </p:sp>
      <p:sp>
        <p:nvSpPr>
          <p:cNvPr id="65" name="Shape 63"/>
          <p:cNvSpPr/>
          <p:nvPr/>
        </p:nvSpPr>
        <p:spPr>
          <a:xfrm>
            <a:off x="6446520" y="4590288"/>
            <a:ext cx="73152" cy="73152"/>
          </a:xfrm>
          <a:prstGeom prst="rect">
            <a:avLst/>
          </a:prstGeom>
          <a:solidFill>
            <a:srgbClr val="60A3F1"/>
          </a:solidFill>
          <a:ln w="12700">
            <a:solidFill>
              <a:srgbClr val="60A3F1"/>
            </a:solidFill>
            <a:prstDash val="solid"/>
          </a:ln>
        </p:spPr>
        <p:txBody>
          <a:bodyPr/>
          <a:lstStyle/>
          <a:p>
            <a:endParaRPr lang="en-US"/>
          </a:p>
        </p:txBody>
      </p:sp>
      <p:sp>
        <p:nvSpPr>
          <p:cNvPr id="66" name="Text 64"/>
          <p:cNvSpPr/>
          <p:nvPr/>
        </p:nvSpPr>
        <p:spPr>
          <a:xfrm>
            <a:off x="6629400" y="4517136"/>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DoD CUI Program Registry</a:t>
            </a:r>
            <a:endParaRPr lang="en-US" sz="950" dirty="0"/>
          </a:p>
        </p:txBody>
      </p:sp>
      <p:sp>
        <p:nvSpPr>
          <p:cNvPr id="67" name="Text 65"/>
          <p:cNvSpPr/>
          <p:nvPr/>
        </p:nvSpPr>
        <p:spPr>
          <a:xfrm>
            <a:off x="6629400" y="4690872"/>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dodcui.mil</a:t>
            </a:r>
            <a:endParaRPr lang="en-US" sz="850" dirty="0"/>
          </a:p>
        </p:txBody>
      </p:sp>
      <p:sp>
        <p:nvSpPr>
          <p:cNvPr id="68" name="Shape 66"/>
          <p:cNvSpPr/>
          <p:nvPr/>
        </p:nvSpPr>
        <p:spPr>
          <a:xfrm>
            <a:off x="6446520" y="4928616"/>
            <a:ext cx="73152" cy="73152"/>
          </a:xfrm>
          <a:prstGeom prst="rect">
            <a:avLst/>
          </a:prstGeom>
          <a:solidFill>
            <a:srgbClr val="60A3F1"/>
          </a:solidFill>
          <a:ln w="12700">
            <a:solidFill>
              <a:srgbClr val="60A3F1"/>
            </a:solidFill>
            <a:prstDash val="solid"/>
          </a:ln>
        </p:spPr>
        <p:txBody>
          <a:bodyPr/>
          <a:lstStyle/>
          <a:p>
            <a:endParaRPr lang="en-US"/>
          </a:p>
        </p:txBody>
      </p:sp>
      <p:sp>
        <p:nvSpPr>
          <p:cNvPr id="69" name="Text 67"/>
          <p:cNvSpPr/>
          <p:nvPr/>
        </p:nvSpPr>
        <p:spPr>
          <a:xfrm>
            <a:off x="6629400" y="4855464"/>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NARA CUI Registry</a:t>
            </a:r>
            <a:endParaRPr lang="en-US" sz="950" dirty="0"/>
          </a:p>
        </p:txBody>
      </p:sp>
      <p:sp>
        <p:nvSpPr>
          <p:cNvPr id="70" name="Text 68"/>
          <p:cNvSpPr/>
          <p:nvPr/>
        </p:nvSpPr>
        <p:spPr>
          <a:xfrm>
            <a:off x="6629400" y="5029200"/>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archives.gov/cui</a:t>
            </a:r>
            <a:endParaRPr lang="en-US" sz="850" dirty="0"/>
          </a:p>
        </p:txBody>
      </p:sp>
      <p:sp>
        <p:nvSpPr>
          <p:cNvPr id="71" name="Shape 69"/>
          <p:cNvSpPr/>
          <p:nvPr/>
        </p:nvSpPr>
        <p:spPr>
          <a:xfrm>
            <a:off x="6446520" y="5266944"/>
            <a:ext cx="73152" cy="73152"/>
          </a:xfrm>
          <a:prstGeom prst="rect">
            <a:avLst/>
          </a:prstGeom>
          <a:solidFill>
            <a:srgbClr val="60A3F1"/>
          </a:solidFill>
          <a:ln w="12700">
            <a:solidFill>
              <a:srgbClr val="60A3F1"/>
            </a:solidFill>
            <a:prstDash val="solid"/>
          </a:ln>
        </p:spPr>
        <p:txBody>
          <a:bodyPr/>
          <a:lstStyle/>
          <a:p>
            <a:endParaRPr lang="en-US"/>
          </a:p>
        </p:txBody>
      </p:sp>
      <p:sp>
        <p:nvSpPr>
          <p:cNvPr id="72" name="Text 70"/>
          <p:cNvSpPr/>
          <p:nvPr/>
        </p:nvSpPr>
        <p:spPr>
          <a:xfrm>
            <a:off x="6629400" y="5193792"/>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FedRAMP Marketplace</a:t>
            </a:r>
            <a:endParaRPr lang="en-US" sz="950" dirty="0"/>
          </a:p>
        </p:txBody>
      </p:sp>
      <p:sp>
        <p:nvSpPr>
          <p:cNvPr id="73" name="Text 71"/>
          <p:cNvSpPr/>
          <p:nvPr/>
        </p:nvSpPr>
        <p:spPr>
          <a:xfrm>
            <a:off x="6629400" y="5367528"/>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marketplace.fedramp.gov</a:t>
            </a:r>
            <a:endParaRPr lang="en-US" sz="850" dirty="0"/>
          </a:p>
        </p:txBody>
      </p:sp>
      <p:sp>
        <p:nvSpPr>
          <p:cNvPr id="74" name="Shape 72"/>
          <p:cNvSpPr/>
          <p:nvPr/>
        </p:nvSpPr>
        <p:spPr>
          <a:xfrm>
            <a:off x="6446520" y="5605272"/>
            <a:ext cx="73152" cy="73152"/>
          </a:xfrm>
          <a:prstGeom prst="rect">
            <a:avLst/>
          </a:prstGeom>
          <a:solidFill>
            <a:srgbClr val="60A3F1"/>
          </a:solidFill>
          <a:ln w="12700">
            <a:solidFill>
              <a:srgbClr val="60A3F1"/>
            </a:solidFill>
            <a:prstDash val="solid"/>
          </a:ln>
        </p:spPr>
        <p:txBody>
          <a:bodyPr/>
          <a:lstStyle/>
          <a:p>
            <a:endParaRPr lang="en-US"/>
          </a:p>
        </p:txBody>
      </p:sp>
      <p:sp>
        <p:nvSpPr>
          <p:cNvPr id="75" name="Text 73"/>
          <p:cNvSpPr/>
          <p:nvPr/>
        </p:nvSpPr>
        <p:spPr>
          <a:xfrm>
            <a:off x="6629400" y="5532120"/>
            <a:ext cx="4937760" cy="18288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SAM.gov: System for Award Management (CAGE)</a:t>
            </a:r>
            <a:endParaRPr lang="en-US" sz="950" dirty="0"/>
          </a:p>
        </p:txBody>
      </p:sp>
      <p:sp>
        <p:nvSpPr>
          <p:cNvPr id="76" name="Text 74"/>
          <p:cNvSpPr/>
          <p:nvPr/>
        </p:nvSpPr>
        <p:spPr>
          <a:xfrm>
            <a:off x="6629400" y="5705856"/>
            <a:ext cx="4937760" cy="164592"/>
          </a:xfrm>
          <a:prstGeom prst="rect">
            <a:avLst/>
          </a:prstGeom>
          <a:noFill/>
          <a:ln/>
        </p:spPr>
        <p:txBody>
          <a:bodyPr wrap="square" lIns="0" tIns="0" rIns="0" bIns="0" rtlCol="0" anchor="ctr"/>
          <a:lstStyle/>
          <a:p>
            <a:pPr marL="0" indent="0">
              <a:buNone/>
            </a:pPr>
            <a:r>
              <a:rPr lang="en-US" sz="850" i="1" dirty="0">
                <a:solidFill>
                  <a:srgbClr val="60A3F1"/>
                </a:solidFill>
                <a:latin typeface="Calibri" pitchFamily="34" charset="0"/>
                <a:ea typeface="Calibri" pitchFamily="34" charset="-122"/>
                <a:cs typeface="Calibri" pitchFamily="34" charset="-120"/>
              </a:rPr>
              <a:t>sam.gov</a:t>
            </a:r>
            <a:endParaRPr lang="en-US" sz="850" dirty="0"/>
          </a:p>
        </p:txBody>
      </p:sp>
      <p:sp>
        <p:nvSpPr>
          <p:cNvPr id="77" name="Text 75"/>
          <p:cNvSpPr/>
          <p:nvPr/>
        </p:nvSpPr>
        <p:spPr>
          <a:xfrm>
            <a:off x="457200" y="5897880"/>
            <a:ext cx="11277295" cy="320040"/>
          </a:xfrm>
          <a:prstGeom prst="rect">
            <a:avLst/>
          </a:prstGeom>
          <a:noFill/>
          <a:ln/>
        </p:spPr>
        <p:txBody>
          <a:bodyPr wrap="square" lIns="0" tIns="0" rIns="0" bIns="0" rtlCol="0" anchor="ctr"/>
          <a:lstStyle/>
          <a:p>
            <a:pPr marL="0" indent="0" algn="ctr">
              <a:buNone/>
            </a:pPr>
            <a:r>
              <a:rPr lang="en-US" sz="900" i="1" dirty="0">
                <a:solidFill>
                  <a:srgbClr val="E2E8F0"/>
                </a:solidFill>
                <a:latin typeface="Calibri" pitchFamily="34" charset="0"/>
                <a:ea typeface="Calibri" pitchFamily="34" charset="-122"/>
                <a:cs typeface="Calibri" pitchFamily="34" charset="-120"/>
              </a:rPr>
              <a:t>Ecosystem snapshot (May 2026): ~103 authorized C3PAOs · ~759 credentialed CCAs · ~1,000 Level 2 certifications issued to date (≈1% of the DIB). ISACA transitioned fully to the CAICO role for CMMC training and exams in April 2026.</a:t>
            </a:r>
            <a:endParaRPr lang="en-US" sz="900" dirty="0"/>
          </a:p>
        </p:txBody>
      </p:sp>
      <p:sp>
        <p:nvSpPr>
          <p:cNvPr id="78" name="Text 76"/>
          <p:cNvSpPr/>
          <p:nvPr/>
        </p:nvSpPr>
        <p:spPr>
          <a:xfrm>
            <a:off x="457200" y="6199632"/>
            <a:ext cx="11277295" cy="201168"/>
          </a:xfrm>
          <a:prstGeom prst="rect">
            <a:avLst/>
          </a:prstGeom>
          <a:noFill/>
          <a:ln/>
        </p:spPr>
        <p:txBody>
          <a:bodyPr wrap="square" lIns="0" tIns="0" rIns="0" bIns="0" rtlCol="0" anchor="ctr"/>
          <a:lstStyle/>
          <a:p>
            <a:pPr marL="0" indent="0" algn="ctr">
              <a:buNone/>
            </a:pPr>
            <a:r>
              <a:rPr lang="en-US" sz="850" i="1" dirty="0">
                <a:solidFill>
                  <a:srgbClr val="94A3B8"/>
                </a:solidFill>
                <a:latin typeface="Calibri" pitchFamily="34" charset="0"/>
                <a:ea typeface="Calibri" pitchFamily="34" charset="-122"/>
                <a:cs typeface="Calibri" pitchFamily="34" charset="-120"/>
              </a:rPr>
              <a:t>Generic educational reference compiled May 2026. Not legal advice. Specific contract obligations depend on the clauses in your contract; review with qualified counsel and your CMMC RP/RPO or C3PAO of record. Cost ranges and provider names are illustrative; no endorsement is implied.</a:t>
            </a:r>
            <a:endParaRPr lang="en-US" sz="850" dirty="0"/>
          </a:p>
        </p:txBody>
      </p:sp>
      <p:sp>
        <p:nvSpPr>
          <p:cNvPr id="79" name="Shape 77"/>
          <p:cNvSpPr/>
          <p:nvPr/>
        </p:nvSpPr>
        <p:spPr>
          <a:xfrm>
            <a:off x="457200" y="6446520"/>
            <a:ext cx="11277295" cy="0"/>
          </a:xfrm>
          <a:prstGeom prst="line">
            <a:avLst/>
          </a:prstGeom>
          <a:noFill/>
          <a:ln w="9525">
            <a:solidFill>
              <a:srgbClr val="2233AA"/>
            </a:solidFill>
            <a:prstDash val="solid"/>
          </a:ln>
        </p:spPr>
        <p:txBody>
          <a:bodyPr/>
          <a:lstStyle/>
          <a:p>
            <a:endParaRPr lang="en-US"/>
          </a:p>
        </p:txBody>
      </p:sp>
      <p:sp>
        <p:nvSpPr>
          <p:cNvPr id="80" name="Text 78"/>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94A3B8"/>
                </a:solidFill>
                <a:latin typeface="Calibri" pitchFamily="34" charset="0"/>
                <a:ea typeface="Calibri" pitchFamily="34" charset="-122"/>
                <a:cs typeface="Calibri" pitchFamily="34" charset="-120"/>
              </a:rPr>
              <a:t>BluVi LLC  ·  CMMC for U.S. Defense Contractors  ·  An Educational Buyer's Guide</a:t>
            </a:r>
            <a:endParaRPr lang="en-US" sz="900" dirty="0"/>
          </a:p>
        </p:txBody>
      </p:sp>
      <p:sp>
        <p:nvSpPr>
          <p:cNvPr id="81" name="Text 79"/>
          <p:cNvSpPr/>
          <p:nvPr/>
        </p:nvSpPr>
        <p:spPr>
          <a:xfrm>
            <a:off x="10820095" y="6510528"/>
            <a:ext cx="914400" cy="274320"/>
          </a:xfrm>
          <a:prstGeom prst="rect">
            <a:avLst/>
          </a:prstGeom>
          <a:noFill/>
          <a:ln/>
        </p:spPr>
        <p:txBody>
          <a:bodyPr wrap="square"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23 / 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7477</Words>
  <Application>Microsoft Office PowerPoint</Application>
  <PresentationFormat>Widescreen</PresentationFormat>
  <Paragraphs>709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CMMC for U.S. Defense Contractors: Buyer's Guide</dc:title>
  <dc:subject>PptxGenJS Presentation</dc:subject>
  <dc:creator>BluVi LLC</dc:creator>
  <cp:lastModifiedBy>Sherri Babylon</cp:lastModifiedBy>
  <cp:revision>3</cp:revision>
  <dcterms:created xsi:type="dcterms:W3CDTF">2026-05-29T17:53:49Z</dcterms:created>
  <dcterms:modified xsi:type="dcterms:W3CDTF">2026-06-07T18:12:12Z</dcterms:modified>
</cp:coreProperties>
</file>